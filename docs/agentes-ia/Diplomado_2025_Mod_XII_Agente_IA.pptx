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3" r:id="rId2"/>
  </p:sldMasterIdLst>
  <p:notesMasterIdLst>
    <p:notesMasterId r:id="rId11"/>
  </p:notesMasterIdLst>
  <p:handoutMasterIdLst>
    <p:handoutMasterId r:id="rId12"/>
  </p:handoutMasterIdLst>
  <p:sldIdLst>
    <p:sldId id="18634" r:id="rId3"/>
    <p:sldId id="256" r:id="rId4"/>
    <p:sldId id="18638" r:id="rId5"/>
    <p:sldId id="258" r:id="rId6"/>
    <p:sldId id="267" r:id="rId7"/>
    <p:sldId id="268" r:id="rId8"/>
    <p:sldId id="266" r:id="rId9"/>
    <p:sldId id="18635" r:id="rId10"/>
  </p:sldIdLst>
  <p:sldSz cx="12192000" cy="6858000"/>
  <p:notesSz cx="7315200" cy="96012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8">
          <p15:clr>
            <a:srgbClr val="A4A3A4"/>
          </p15:clr>
        </p15:guide>
        <p15:guide id="3" pos="619" userDrawn="1">
          <p15:clr>
            <a:srgbClr val="A4A3A4"/>
          </p15:clr>
        </p15:guide>
        <p15:guide id="4" pos="72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D2EC"/>
    <a:srgbClr val="FFEC00"/>
    <a:srgbClr val="F5F1E8"/>
    <a:srgbClr val="FFFF66"/>
    <a:srgbClr val="D7E7F5"/>
    <a:srgbClr val="FFF7E1"/>
    <a:srgbClr val="50FF64"/>
    <a:srgbClr val="7030A0"/>
    <a:srgbClr val="50FF32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022" autoAdjust="0"/>
    <p:restoredTop sz="70673" autoAdjust="0"/>
  </p:normalViewPr>
  <p:slideViewPr>
    <p:cSldViewPr snapToGrid="0" snapToObjects="1">
      <p:cViewPr varScale="1">
        <p:scale>
          <a:sx n="88" d="100"/>
          <a:sy n="88" d="100"/>
        </p:scale>
        <p:origin x="555" y="270"/>
      </p:cViewPr>
      <p:guideLst>
        <p:guide orient="horz" pos="2160"/>
        <p:guide pos="3858"/>
        <p:guide pos="619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46" d="100"/>
          <a:sy n="46" d="100"/>
        </p:scale>
        <p:origin x="2619" y="7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8955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1727"/>
          </a:xfrm>
          <a:prstGeom prst="rect">
            <a:avLst/>
          </a:prstGeom>
        </p:spPr>
        <p:txBody>
          <a:bodyPr vert="horz" lIns="96652" tIns="48327" rIns="96652" bIns="48327" rtlCol="0"/>
          <a:lstStyle>
            <a:lvl1pPr algn="l">
              <a:defRPr sz="13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1727"/>
          </a:xfrm>
          <a:prstGeom prst="rect">
            <a:avLst/>
          </a:prstGeom>
        </p:spPr>
        <p:txBody>
          <a:bodyPr vert="horz" lIns="96652" tIns="48327" rIns="96652" bIns="48327" rtlCol="0"/>
          <a:lstStyle>
            <a:lvl1pPr algn="r">
              <a:defRPr sz="1300"/>
            </a:lvl1pPr>
          </a:lstStyle>
          <a:p>
            <a:fld id="{EDE75EBD-B9AC-724B-AD2A-A4A15581C23C}" type="datetimeFigureOut">
              <a:rPr lang="es-MX" smtClean="0"/>
              <a:t>08/11/2025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2" tIns="48327" rIns="96652" bIns="48327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1" y="4620578"/>
            <a:ext cx="5852160" cy="3780474"/>
          </a:xfrm>
          <a:prstGeom prst="rect">
            <a:avLst/>
          </a:prstGeom>
        </p:spPr>
        <p:txBody>
          <a:bodyPr vert="horz" lIns="96652" tIns="48327" rIns="96652" bIns="48327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1" y="9119475"/>
            <a:ext cx="3169920" cy="481726"/>
          </a:xfrm>
          <a:prstGeom prst="rect">
            <a:avLst/>
          </a:prstGeom>
        </p:spPr>
        <p:txBody>
          <a:bodyPr vert="horz" lIns="96652" tIns="48327" rIns="96652" bIns="48327" rtlCol="0" anchor="b"/>
          <a:lstStyle>
            <a:lvl1pPr algn="l">
              <a:defRPr sz="13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2" tIns="48327" rIns="96652" bIns="48327" rtlCol="0" anchor="b"/>
          <a:lstStyle>
            <a:lvl1pPr algn="r">
              <a:defRPr sz="1300"/>
            </a:lvl1pPr>
          </a:lstStyle>
          <a:p>
            <a:fld id="{98894399-53F9-9442-B0D8-8FD0263738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29530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t-IT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7308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13D29-91D0-A132-ED9A-B1172B6A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808D13-6234-CDA9-4B90-A6B7B405E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1C53E3A-5468-FA6A-A429-77B98E109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730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962F1-4B08-EC4C-A6BE-F097EC6E7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3C524-75CA-8249-819F-B0A7092B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418C14-FFCF-C44B-9F30-4700E04A6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163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12">
            <a:extLst>
              <a:ext uri="{FF2B5EF4-FFF2-40B4-BE49-F238E27FC236}">
                <a16:creationId xmlns:a16="http://schemas.microsoft.com/office/drawing/2014/main" id="{E1019451-1A6D-D846-8CFD-482E64F66F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34106"/>
            <a:ext cx="6095999" cy="746830"/>
          </a:xfrm>
          <a:prstGeom prst="rect">
            <a:avLst/>
          </a:prstGeom>
        </p:spPr>
      </p:pic>
      <p:pic>
        <p:nvPicPr>
          <p:cNvPr id="9" name="Picture 8" descr="Sin título-2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67" b="24410"/>
          <a:stretch/>
        </p:blipFill>
        <p:spPr>
          <a:xfrm>
            <a:off x="6223001" y="764498"/>
            <a:ext cx="5495924" cy="5471410"/>
          </a:xfrm>
          <a:prstGeom prst="rect">
            <a:avLst/>
          </a:prstGeom>
        </p:spPr>
      </p:pic>
      <p:sp>
        <p:nvSpPr>
          <p:cNvPr id="3" name="Marcador de texto 2"/>
          <p:cNvSpPr>
            <a:spLocks noGrp="1"/>
          </p:cNvSpPr>
          <p:nvPr>
            <p:ph type="body" sz="quarter" idx="13"/>
          </p:nvPr>
        </p:nvSpPr>
        <p:spPr>
          <a:xfrm>
            <a:off x="838200" y="1687958"/>
            <a:ext cx="5257801" cy="2743200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FontTx/>
              <a:buNone/>
              <a:defRPr sz="32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14400" indent="0" algn="ctr">
              <a:buFontTx/>
              <a:buNone/>
              <a:defRPr sz="28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71600" indent="0" algn="ctr">
              <a:buFontTx/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28800" indent="0" algn="ctr">
              <a:buFontTx/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7" name="Rectángulo 1"/>
          <p:cNvSpPr/>
          <p:nvPr userDrawn="1"/>
        </p:nvSpPr>
        <p:spPr>
          <a:xfrm>
            <a:off x="0" y="0"/>
            <a:ext cx="12192000" cy="6865945"/>
          </a:xfrm>
          <a:prstGeom prst="rect">
            <a:avLst/>
          </a:prstGeom>
          <a:solidFill>
            <a:srgbClr val="36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7404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EB3B922-7AB7-5745-BA65-F7802B887ADB}"/>
              </a:ext>
            </a:extLst>
          </p:cNvPr>
          <p:cNvSpPr txBox="1">
            <a:spLocks/>
          </p:cNvSpPr>
          <p:nvPr userDrawn="1"/>
        </p:nvSpPr>
        <p:spPr>
          <a:xfrm>
            <a:off x="838200" y="24884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rgbClr val="363636"/>
                </a:solidFill>
                <a:latin typeface="Verdana"/>
                <a:cs typeface="Verdana"/>
              </a:rPr>
              <a:t>Capítulo</a:t>
            </a:r>
            <a:r>
              <a:rPr lang="es-MX" b="1" baseline="0" dirty="0">
                <a:solidFill>
                  <a:srgbClr val="363636"/>
                </a:solidFill>
                <a:latin typeface="Verdana"/>
                <a:cs typeface="Verdana"/>
              </a:rPr>
              <a:t> </a:t>
            </a:r>
            <a:r>
              <a:rPr lang="es-MX" b="0" baseline="0" dirty="0">
                <a:solidFill>
                  <a:srgbClr val="363636"/>
                </a:solidFill>
                <a:latin typeface="Verdana"/>
                <a:cs typeface="Verdana"/>
              </a:rPr>
              <a:t>No. 1</a:t>
            </a:r>
            <a:endParaRPr lang="es-MX" b="1" dirty="0">
              <a:solidFill>
                <a:srgbClr val="363636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6441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5EB3B922-7AB7-5745-BA65-F7802B887ADB}"/>
              </a:ext>
            </a:extLst>
          </p:cNvPr>
          <p:cNvSpPr txBox="1">
            <a:spLocks/>
          </p:cNvSpPr>
          <p:nvPr userDrawn="1"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solidFill>
                  <a:srgbClr val="363636"/>
                </a:solidFill>
                <a:latin typeface="Verdana"/>
                <a:cs typeface="Verdana"/>
              </a:rPr>
              <a:t>Titulares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990600" y="1858963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XXXXX</a:t>
            </a:r>
          </a:p>
        </p:txBody>
      </p:sp>
    </p:spTree>
    <p:extLst>
      <p:ext uri="{BB962C8B-B14F-4D97-AF65-F5344CB8AC3E}">
        <p14:creationId xmlns:p14="http://schemas.microsoft.com/office/powerpoint/2010/main" val="298180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4"/>
          <p:cNvSpPr/>
          <p:nvPr userDrawn="1"/>
        </p:nvSpPr>
        <p:spPr>
          <a:xfrm>
            <a:off x="0" y="0"/>
            <a:ext cx="12192000" cy="6865945"/>
          </a:xfrm>
          <a:prstGeom prst="rect">
            <a:avLst/>
          </a:prstGeom>
          <a:solidFill>
            <a:srgbClr val="36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1" name="Picture 10" descr="UDEM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25" y="2041768"/>
            <a:ext cx="2905126" cy="2506418"/>
          </a:xfrm>
          <a:prstGeom prst="rect">
            <a:avLst/>
          </a:prstGeom>
        </p:spPr>
      </p:pic>
      <p:sp>
        <p:nvSpPr>
          <p:cNvPr id="12" name="CuadroTexto 7">
            <a:extLst>
              <a:ext uri="{FF2B5EF4-FFF2-40B4-BE49-F238E27FC236}">
                <a16:creationId xmlns:a16="http://schemas.microsoft.com/office/drawing/2014/main" id="{88B5A606-713B-9D4A-96B1-9D5B42AB5318}"/>
              </a:ext>
            </a:extLst>
          </p:cNvPr>
          <p:cNvSpPr txBox="1"/>
          <p:nvPr userDrawn="1"/>
        </p:nvSpPr>
        <p:spPr>
          <a:xfrm>
            <a:off x="5000289" y="5423718"/>
            <a:ext cx="2149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solidFill>
                  <a:srgbClr val="F5F1E8"/>
                </a:solidFill>
                <a:latin typeface="Verdana"/>
                <a:cs typeface="Verdana"/>
              </a:rPr>
              <a:t>udem.edu.mx</a:t>
            </a:r>
          </a:p>
        </p:txBody>
      </p:sp>
    </p:spTree>
    <p:extLst>
      <p:ext uri="{BB962C8B-B14F-4D97-AF65-F5344CB8AC3E}">
        <p14:creationId xmlns:p14="http://schemas.microsoft.com/office/powerpoint/2010/main" val="3988320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24A39-B76D-1941-B212-22BF79F08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837359-156A-5441-B1CD-509DC4A1C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2F36AD-DDC1-044B-A739-2F4BC50D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5589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37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145AA-F2FD-ED44-9443-2B5DEB25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5B942C-AD4C-FB4F-8556-0AC2CC97B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1030CA-32CD-0546-A5B4-1DF24DAB8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0C099B-D99E-5841-B866-F1664D8A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48C64B-093C-1144-AA66-97AE53A7B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3920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4AF13-E305-CA4D-B1D9-64611933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9D9D00-CF0E-0E4D-A88E-643AB22AA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ABC3F4-07D4-934E-9509-DF410DD60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B8C53A-93CC-B34A-9FE9-A89945897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0C01EB-6C5F-7F4F-9A3A-BE5813B5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600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ABDEA-A126-0643-837C-F268ABCC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8A7756-6623-FA45-98DE-3A21F2A15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5899DA-FBEB-5F44-944D-18C4FA45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3E0C3A-1175-2E46-9EFA-72FD2833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507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817306-A0FA-B349-B9D9-BCAFAED7B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4227AA-3AFB-9E40-928F-68B154E18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C67C78-0611-C645-836A-40E9AAC7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FEACF0-BF48-5444-8C72-1BA62F2E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89287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3B2BE8A-C619-48C4-A966-09BD439D075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63594" y="303603"/>
            <a:ext cx="1654606" cy="715374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71852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Roboto Light" charset="0"/>
            </a:endParaRPr>
          </a:p>
        </p:txBody>
      </p:sp>
      <p:sp>
        <p:nvSpPr>
          <p:cNvPr id="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214865" cy="685800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1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38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Diapositiva de título">
  <p:cSld name="12_Diapositiva de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5"/>
          <p:cNvSpPr txBox="1">
            <a:spLocks noGrp="1"/>
          </p:cNvSpPr>
          <p:nvPr>
            <p:ph type="ctrTitle"/>
          </p:nvPr>
        </p:nvSpPr>
        <p:spPr>
          <a:xfrm>
            <a:off x="4471331" y="959155"/>
            <a:ext cx="7040280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5"/>
          <p:cNvSpPr txBox="1">
            <a:spLocks noGrp="1"/>
          </p:cNvSpPr>
          <p:nvPr>
            <p:ph type="subTitle" idx="1"/>
          </p:nvPr>
        </p:nvSpPr>
        <p:spPr>
          <a:xfrm>
            <a:off x="4471331" y="1937924"/>
            <a:ext cx="7040280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95"/>
          <p:cNvSpPr>
            <a:spLocks noGrp="1"/>
          </p:cNvSpPr>
          <p:nvPr>
            <p:ph type="pic" idx="2"/>
          </p:nvPr>
        </p:nvSpPr>
        <p:spPr>
          <a:xfrm>
            <a:off x="2" y="0"/>
            <a:ext cx="406399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50196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 type="title">
  <p:cSld name="1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5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5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6448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os objetos">
  <p:cSld name="1_Dos objeto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6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6"/>
          <p:cNvSpPr txBox="1">
            <a:spLocks noGrp="1"/>
          </p:cNvSpPr>
          <p:nvPr>
            <p:ph type="body" idx="1"/>
          </p:nvPr>
        </p:nvSpPr>
        <p:spPr>
          <a:xfrm>
            <a:off x="609601" y="1926975"/>
            <a:ext cx="356643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0" name="Google Shape;20;p86"/>
          <p:cNvSpPr txBox="1">
            <a:spLocks noGrp="1"/>
          </p:cNvSpPr>
          <p:nvPr>
            <p:ph type="body" idx="2"/>
          </p:nvPr>
        </p:nvSpPr>
        <p:spPr>
          <a:xfrm>
            <a:off x="4319465" y="1926975"/>
            <a:ext cx="356643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1" name="Google Shape;21;p86"/>
          <p:cNvSpPr txBox="1">
            <a:spLocks noGrp="1"/>
          </p:cNvSpPr>
          <p:nvPr>
            <p:ph type="body" idx="3"/>
          </p:nvPr>
        </p:nvSpPr>
        <p:spPr>
          <a:xfrm>
            <a:off x="8038337" y="1926975"/>
            <a:ext cx="356643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959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objetos" type="obj">
  <p:cSld name="1_Título y objeto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7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7"/>
          <p:cNvSpPr txBox="1">
            <a:spLocks noGrp="1"/>
          </p:cNvSpPr>
          <p:nvPr>
            <p:ph type="body" idx="1"/>
          </p:nvPr>
        </p:nvSpPr>
        <p:spPr>
          <a:xfrm>
            <a:off x="609600" y="1937924"/>
            <a:ext cx="10972801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79187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a de título">
  <p:cSld name="2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8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8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7179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apositiva de título">
  <p:cSld name="3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9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9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6797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apositiva de título">
  <p:cSld name="4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0"/>
          <p:cNvSpPr txBox="1">
            <a:spLocks noGrp="1"/>
          </p:cNvSpPr>
          <p:nvPr>
            <p:ph type="ctrTitle"/>
          </p:nvPr>
        </p:nvSpPr>
        <p:spPr>
          <a:xfrm>
            <a:off x="6693935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0"/>
          <p:cNvSpPr txBox="1">
            <a:spLocks noGrp="1"/>
          </p:cNvSpPr>
          <p:nvPr>
            <p:ph type="subTitle" idx="1"/>
          </p:nvPr>
        </p:nvSpPr>
        <p:spPr>
          <a:xfrm>
            <a:off x="6693934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90"/>
          <p:cNvSpPr txBox="1"/>
          <p:nvPr/>
        </p:nvSpPr>
        <p:spPr>
          <a:xfrm>
            <a:off x="1" y="6642342"/>
            <a:ext cx="2814316" cy="200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© DERECHOS RESERVADOS UNIVERSIDAD DE MONTERREY</a:t>
            </a:r>
            <a:endParaRPr sz="1800"/>
          </a:p>
        </p:txBody>
      </p:sp>
      <p:sp>
        <p:nvSpPr>
          <p:cNvPr id="35" name="Google Shape;35;p90"/>
          <p:cNvSpPr>
            <a:spLocks noGrp="1"/>
          </p:cNvSpPr>
          <p:nvPr>
            <p:ph type="pic" idx="2"/>
          </p:nvPr>
        </p:nvSpPr>
        <p:spPr>
          <a:xfrm>
            <a:off x="0" y="0"/>
            <a:ext cx="61074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70715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Diapositiva de título">
  <p:cSld name="5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1"/>
          <p:cNvSpPr txBox="1">
            <a:spLocks noGrp="1"/>
          </p:cNvSpPr>
          <p:nvPr>
            <p:ph type="ctrTitle"/>
          </p:nvPr>
        </p:nvSpPr>
        <p:spPr>
          <a:xfrm>
            <a:off x="6693935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1"/>
          <p:cNvSpPr txBox="1">
            <a:spLocks noGrp="1"/>
          </p:cNvSpPr>
          <p:nvPr>
            <p:ph type="subTitle" idx="1"/>
          </p:nvPr>
        </p:nvSpPr>
        <p:spPr>
          <a:xfrm>
            <a:off x="6693934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91"/>
          <p:cNvSpPr>
            <a:spLocks noGrp="1"/>
          </p:cNvSpPr>
          <p:nvPr>
            <p:ph type="pic" idx="2"/>
          </p:nvPr>
        </p:nvSpPr>
        <p:spPr>
          <a:xfrm>
            <a:off x="0" y="0"/>
            <a:ext cx="6117595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40496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Diapositiva de título">
  <p:cSld name="14_Diapositiva de título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3"/>
          <p:cNvSpPr txBox="1">
            <a:spLocks noGrp="1"/>
          </p:cNvSpPr>
          <p:nvPr>
            <p:ph type="ctrTitle"/>
          </p:nvPr>
        </p:nvSpPr>
        <p:spPr>
          <a:xfrm>
            <a:off x="6385949" y="959155"/>
            <a:ext cx="5125662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3"/>
          <p:cNvSpPr txBox="1">
            <a:spLocks noGrp="1"/>
          </p:cNvSpPr>
          <p:nvPr>
            <p:ph type="subTitle" idx="1"/>
          </p:nvPr>
        </p:nvSpPr>
        <p:spPr>
          <a:xfrm>
            <a:off x="6385949" y="1937924"/>
            <a:ext cx="5125662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3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99799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Diapositiva de título">
  <p:cSld name="9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4"/>
          <p:cNvSpPr txBox="1">
            <a:spLocks noGrp="1"/>
          </p:cNvSpPr>
          <p:nvPr>
            <p:ph type="ctrTitle"/>
          </p:nvPr>
        </p:nvSpPr>
        <p:spPr>
          <a:xfrm>
            <a:off x="556024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4"/>
          <p:cNvSpPr txBox="1">
            <a:spLocks noGrp="1"/>
          </p:cNvSpPr>
          <p:nvPr>
            <p:ph type="subTitle" idx="1"/>
          </p:nvPr>
        </p:nvSpPr>
        <p:spPr>
          <a:xfrm>
            <a:off x="556022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4"/>
          <p:cNvSpPr>
            <a:spLocks noGrp="1"/>
          </p:cNvSpPr>
          <p:nvPr>
            <p:ph type="pic" idx="2"/>
          </p:nvPr>
        </p:nvSpPr>
        <p:spPr>
          <a:xfrm>
            <a:off x="6087109" y="0"/>
            <a:ext cx="610489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237978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6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6"/>
          <p:cNvSpPr txBox="1">
            <a:spLocks noGrp="1"/>
          </p:cNvSpPr>
          <p:nvPr>
            <p:ph type="body" idx="1"/>
          </p:nvPr>
        </p:nvSpPr>
        <p:spPr>
          <a:xfrm>
            <a:off x="609600" y="1926975"/>
            <a:ext cx="5384800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59" name="Google Shape;59;p96"/>
          <p:cNvSpPr txBox="1">
            <a:spLocks noGrp="1"/>
          </p:cNvSpPr>
          <p:nvPr>
            <p:ph type="body" idx="2"/>
          </p:nvPr>
        </p:nvSpPr>
        <p:spPr>
          <a:xfrm>
            <a:off x="6197600" y="1926975"/>
            <a:ext cx="5384800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75422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7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7"/>
          <p:cNvSpPr txBox="1">
            <a:spLocks noGrp="1"/>
          </p:cNvSpPr>
          <p:nvPr>
            <p:ph type="body" idx="1"/>
          </p:nvPr>
        </p:nvSpPr>
        <p:spPr>
          <a:xfrm>
            <a:off x="609600" y="1887842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3pPr>
            <a:lvl4pPr marL="1828800" lvl="3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4pPr>
            <a:lvl5pPr marL="2286000" lvl="4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5pPr>
            <a:lvl6pPr marL="2743200" lvl="5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6pPr>
            <a:lvl7pPr marL="3200400" lvl="6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7pPr>
            <a:lvl8pPr marL="3657600" lvl="7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8pPr>
            <a:lvl9pPr marL="4114800" lvl="8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63" name="Google Shape;63;p97"/>
          <p:cNvSpPr txBox="1">
            <a:spLocks noGrp="1"/>
          </p:cNvSpPr>
          <p:nvPr>
            <p:ph type="body" idx="2"/>
          </p:nvPr>
        </p:nvSpPr>
        <p:spPr>
          <a:xfrm>
            <a:off x="609600" y="2638641"/>
            <a:ext cx="5386917" cy="348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  <p:sp>
        <p:nvSpPr>
          <p:cNvPr id="64" name="Google Shape;64;p97"/>
          <p:cNvSpPr txBox="1">
            <a:spLocks noGrp="1"/>
          </p:cNvSpPr>
          <p:nvPr>
            <p:ph type="body" idx="3"/>
          </p:nvPr>
        </p:nvSpPr>
        <p:spPr>
          <a:xfrm>
            <a:off x="6193370" y="1887842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3pPr>
            <a:lvl4pPr marL="1828800" lvl="3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4pPr>
            <a:lvl5pPr marL="2286000" lvl="4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5pPr>
            <a:lvl6pPr marL="2743200" lvl="5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6pPr>
            <a:lvl7pPr marL="3200400" lvl="6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7pPr>
            <a:lvl8pPr marL="3657600" lvl="7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8pPr>
            <a:lvl9pPr marL="4114800" lvl="8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65" name="Google Shape;65;p97"/>
          <p:cNvSpPr txBox="1">
            <a:spLocks noGrp="1"/>
          </p:cNvSpPr>
          <p:nvPr>
            <p:ph type="body" idx="4"/>
          </p:nvPr>
        </p:nvSpPr>
        <p:spPr>
          <a:xfrm>
            <a:off x="6193370" y="2638641"/>
            <a:ext cx="5389033" cy="348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95166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os objetos">
  <p:cSld name="2_Dos objeto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8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8"/>
          <p:cNvSpPr txBox="1">
            <a:spLocks noGrp="1"/>
          </p:cNvSpPr>
          <p:nvPr>
            <p:ph type="body" idx="1"/>
          </p:nvPr>
        </p:nvSpPr>
        <p:spPr>
          <a:xfrm>
            <a:off x="609600" y="1926975"/>
            <a:ext cx="2583968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69" name="Google Shape;69;p98"/>
          <p:cNvSpPr txBox="1">
            <a:spLocks noGrp="1"/>
          </p:cNvSpPr>
          <p:nvPr>
            <p:ph type="body" idx="2"/>
          </p:nvPr>
        </p:nvSpPr>
        <p:spPr>
          <a:xfrm>
            <a:off x="3405879" y="1926975"/>
            <a:ext cx="2583968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70" name="Google Shape;70;p98"/>
          <p:cNvSpPr txBox="1">
            <a:spLocks noGrp="1"/>
          </p:cNvSpPr>
          <p:nvPr>
            <p:ph type="body" idx="3"/>
          </p:nvPr>
        </p:nvSpPr>
        <p:spPr>
          <a:xfrm>
            <a:off x="6212420" y="1926975"/>
            <a:ext cx="257370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71" name="Google Shape;71;p98"/>
          <p:cNvSpPr txBox="1">
            <a:spLocks noGrp="1"/>
          </p:cNvSpPr>
          <p:nvPr>
            <p:ph type="body" idx="4"/>
          </p:nvPr>
        </p:nvSpPr>
        <p:spPr>
          <a:xfrm>
            <a:off x="9014759" y="1926975"/>
            <a:ext cx="2573704" cy="4199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1pPr>
            <a:lvl2pPr marL="914400" lvl="1" indent="-34925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marL="1371600" lvl="2" indent="-349250" algn="l">
              <a:spcBef>
                <a:spcPts val="380"/>
              </a:spcBef>
              <a:spcAft>
                <a:spcPts val="0"/>
              </a:spcAft>
              <a:buSzPts val="1900"/>
              <a:buChar char="•"/>
              <a:defRPr sz="19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94181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Sólo el títul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9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16151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ólo el título">
  <p:cSld name="1_Sólo el títul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0"/>
          <p:cNvSpPr/>
          <p:nvPr/>
        </p:nvSpPr>
        <p:spPr>
          <a:xfrm>
            <a:off x="-1" y="644205"/>
            <a:ext cx="12192001" cy="5990276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0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41255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1"/>
          <p:cNvSpPr txBox="1">
            <a:spLocks noGrp="1"/>
          </p:cNvSpPr>
          <p:nvPr>
            <p:ph type="title"/>
          </p:nvPr>
        </p:nvSpPr>
        <p:spPr>
          <a:xfrm>
            <a:off x="609604" y="843052"/>
            <a:ext cx="4011084" cy="89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Arial"/>
              <a:buNone/>
              <a:defRPr sz="2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1"/>
          <p:cNvSpPr txBox="1">
            <a:spLocks noGrp="1"/>
          </p:cNvSpPr>
          <p:nvPr>
            <p:ph type="body" idx="1"/>
          </p:nvPr>
        </p:nvSpPr>
        <p:spPr>
          <a:xfrm>
            <a:off x="4766733" y="864948"/>
            <a:ext cx="6815667" cy="55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marL="3200400" lvl="6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marL="3657600" lvl="7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marL="4114800" lvl="8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>
            <a:endParaRPr/>
          </a:p>
        </p:txBody>
      </p:sp>
      <p:sp>
        <p:nvSpPr>
          <p:cNvPr id="80" name="Google Shape;80;p101"/>
          <p:cNvSpPr txBox="1">
            <a:spLocks noGrp="1"/>
          </p:cNvSpPr>
          <p:nvPr>
            <p:ph type="body" idx="2"/>
          </p:nvPr>
        </p:nvSpPr>
        <p:spPr>
          <a:xfrm>
            <a:off x="609604" y="1968178"/>
            <a:ext cx="4011084" cy="445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0"/>
              </a:spcBef>
              <a:spcAft>
                <a:spcPts val="0"/>
              </a:spcAft>
              <a:buSzPts val="1300"/>
              <a:buNone/>
              <a:defRPr sz="1300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88991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2"/>
          <p:cNvSpPr txBox="1">
            <a:spLocks noGrp="1"/>
          </p:cNvSpPr>
          <p:nvPr>
            <p:ph type="title"/>
          </p:nvPr>
        </p:nvSpPr>
        <p:spPr>
          <a:xfrm>
            <a:off x="2389718" y="5019582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700"/>
              <a:buFont typeface="Arial"/>
              <a:buNone/>
              <a:defRPr sz="2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2"/>
          <p:cNvSpPr>
            <a:spLocks noGrp="1"/>
          </p:cNvSpPr>
          <p:nvPr>
            <p:ph type="pic" idx="2"/>
          </p:nvPr>
        </p:nvSpPr>
        <p:spPr>
          <a:xfrm>
            <a:off x="2389718" y="83175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02"/>
          <p:cNvSpPr txBox="1">
            <a:spLocks noGrp="1"/>
          </p:cNvSpPr>
          <p:nvPr>
            <p:ph type="body" idx="1"/>
          </p:nvPr>
        </p:nvSpPr>
        <p:spPr>
          <a:xfrm>
            <a:off x="2389718" y="5586320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0"/>
              </a:spcBef>
              <a:spcAft>
                <a:spcPts val="0"/>
              </a:spcAft>
              <a:buSzPts val="1300"/>
              <a:buNone/>
              <a:defRPr sz="1300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06297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magen con título">
  <p:cSld name="1_Imagen con título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3"/>
          <p:cNvSpPr>
            <a:spLocks noGrp="1"/>
          </p:cNvSpPr>
          <p:nvPr>
            <p:ph type="pic" idx="2"/>
          </p:nvPr>
        </p:nvSpPr>
        <p:spPr>
          <a:xfrm>
            <a:off x="3" y="629920"/>
            <a:ext cx="12192000" cy="597408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22869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4"/>
          <p:cNvSpPr txBox="1"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4"/>
          <p:cNvSpPr txBox="1">
            <a:spLocks noGrp="1"/>
          </p:cNvSpPr>
          <p:nvPr>
            <p:ph type="subTitle" idx="1"/>
          </p:nvPr>
        </p:nvSpPr>
        <p:spPr>
          <a:xfrm>
            <a:off x="914401" y="38862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85388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Diapositiva de título">
  <p:cSld name="8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5"/>
          <p:cNvSpPr txBox="1">
            <a:spLocks noGrp="1"/>
          </p:cNvSpPr>
          <p:nvPr>
            <p:ph type="ctrTitle"/>
          </p:nvPr>
        </p:nvSpPr>
        <p:spPr>
          <a:xfrm>
            <a:off x="556016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5"/>
          <p:cNvSpPr txBox="1">
            <a:spLocks noGrp="1"/>
          </p:cNvSpPr>
          <p:nvPr>
            <p:ph type="subTitle" idx="1"/>
          </p:nvPr>
        </p:nvSpPr>
        <p:spPr>
          <a:xfrm>
            <a:off x="556014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05"/>
          <p:cNvSpPr>
            <a:spLocks noGrp="1"/>
          </p:cNvSpPr>
          <p:nvPr>
            <p:ph type="pic" idx="2"/>
          </p:nvPr>
        </p:nvSpPr>
        <p:spPr>
          <a:xfrm>
            <a:off x="6076947" y="0"/>
            <a:ext cx="6115054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934732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Diapositiva de título">
  <p:cSld name="7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6"/>
          <p:cNvSpPr txBox="1">
            <a:spLocks noGrp="1"/>
          </p:cNvSpPr>
          <p:nvPr>
            <p:ph type="ctrTitle"/>
          </p:nvPr>
        </p:nvSpPr>
        <p:spPr>
          <a:xfrm>
            <a:off x="576347" y="2130429"/>
            <a:ext cx="4817679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06"/>
          <p:cNvSpPr txBox="1">
            <a:spLocks noGrp="1"/>
          </p:cNvSpPr>
          <p:nvPr>
            <p:ph type="subTitle" idx="1"/>
          </p:nvPr>
        </p:nvSpPr>
        <p:spPr>
          <a:xfrm>
            <a:off x="576347" y="3886200"/>
            <a:ext cx="4817679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06"/>
          <p:cNvSpPr>
            <a:spLocks noGrp="1"/>
          </p:cNvSpPr>
          <p:nvPr>
            <p:ph type="pic" idx="2"/>
          </p:nvPr>
        </p:nvSpPr>
        <p:spPr>
          <a:xfrm>
            <a:off x="6076947" y="0"/>
            <a:ext cx="6115054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696478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7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07"/>
          <p:cNvSpPr txBox="1">
            <a:spLocks noGrp="1"/>
          </p:cNvSpPr>
          <p:nvPr>
            <p:ph type="body" idx="1"/>
          </p:nvPr>
        </p:nvSpPr>
        <p:spPr>
          <a:xfrm>
            <a:off x="609600" y="1937924"/>
            <a:ext cx="10972801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F9D10E"/>
              </a:buClr>
              <a:buSzPts val="2000"/>
              <a:buFont typeface="Noto Sans Symbols"/>
              <a:buChar char="🗹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66927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Encabezado de sección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8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300"/>
              <a:buFont typeface="Arial"/>
              <a:buNone/>
              <a:defRPr sz="53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08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marL="457200" lvl="0" indent="-228600" algn="l">
              <a:spcBef>
                <a:spcPts val="540"/>
              </a:spcBef>
              <a:spcAft>
                <a:spcPts val="0"/>
              </a:spcAft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2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27065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28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Diapositiva de título">
  <p:cSld name="11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0"/>
          <p:cNvSpPr txBox="1">
            <a:spLocks noGrp="1"/>
          </p:cNvSpPr>
          <p:nvPr>
            <p:ph type="ctrTitle"/>
          </p:nvPr>
        </p:nvSpPr>
        <p:spPr>
          <a:xfrm>
            <a:off x="6385949" y="959155"/>
            <a:ext cx="5125662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10"/>
          <p:cNvSpPr txBox="1">
            <a:spLocks noGrp="1"/>
          </p:cNvSpPr>
          <p:nvPr>
            <p:ph type="subTitle" idx="1"/>
          </p:nvPr>
        </p:nvSpPr>
        <p:spPr>
          <a:xfrm>
            <a:off x="6385949" y="1937924"/>
            <a:ext cx="5125662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10"/>
          <p:cNvSpPr>
            <a:spLocks noGrp="1"/>
          </p:cNvSpPr>
          <p:nvPr>
            <p:ph type="pic" idx="2"/>
          </p:nvPr>
        </p:nvSpPr>
        <p:spPr>
          <a:xfrm>
            <a:off x="1" y="0"/>
            <a:ext cx="6096001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585742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Diapositiva de título">
  <p:cSld name="13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1"/>
          <p:cNvSpPr txBox="1">
            <a:spLocks noGrp="1"/>
          </p:cNvSpPr>
          <p:nvPr>
            <p:ph type="ctrTitle"/>
          </p:nvPr>
        </p:nvSpPr>
        <p:spPr>
          <a:xfrm>
            <a:off x="4471331" y="959155"/>
            <a:ext cx="7040280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>
                <a:solidFill>
                  <a:srgbClr val="33333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11"/>
          <p:cNvSpPr txBox="1">
            <a:spLocks noGrp="1"/>
          </p:cNvSpPr>
          <p:nvPr>
            <p:ph type="subTitle" idx="1"/>
          </p:nvPr>
        </p:nvSpPr>
        <p:spPr>
          <a:xfrm>
            <a:off x="4471331" y="1937924"/>
            <a:ext cx="7040280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11"/>
          <p:cNvSpPr>
            <a:spLocks noGrp="1"/>
          </p:cNvSpPr>
          <p:nvPr>
            <p:ph type="pic" idx="2"/>
          </p:nvPr>
        </p:nvSpPr>
        <p:spPr>
          <a:xfrm>
            <a:off x="2" y="0"/>
            <a:ext cx="4063998" cy="6858000"/>
          </a:xfrm>
          <a:prstGeom prst="rect">
            <a:avLst/>
          </a:prstGeom>
          <a:solidFill>
            <a:srgbClr val="FFF52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8773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AE6051-32FF-9B4B-B8E1-B1B809D7E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767A2E-8FAB-BB4B-9A05-168157186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F5AF6E-72CF-6D4E-A31F-6F9A57F78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5971B2-3F52-F143-AE1E-D26F210EE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5D1F1-27F4-134E-B4D6-D52A6905F80A}" type="slidenum">
              <a:rPr lang="es-MX" smtClean="0"/>
              <a:t>‹Nº›</a:t>
            </a:fld>
            <a:endParaRPr lang="es-MX"/>
          </a:p>
        </p:txBody>
      </p:sp>
      <p:pic>
        <p:nvPicPr>
          <p:cNvPr id="7" name="Imagen 12">
            <a:extLst>
              <a:ext uri="{FF2B5EF4-FFF2-40B4-BE49-F238E27FC236}">
                <a16:creationId xmlns:a16="http://schemas.microsoft.com/office/drawing/2014/main" id="{E1019451-1A6D-D846-8CFD-482E64F66F0F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6141150"/>
            <a:ext cx="6095999" cy="74683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DAD3721-C012-4354-956D-A9ADF6967E36}"/>
              </a:ext>
            </a:extLst>
          </p:cNvPr>
          <p:cNvSpPr txBox="1"/>
          <p:nvPr userDrawn="1"/>
        </p:nvSpPr>
        <p:spPr>
          <a:xfrm>
            <a:off x="9834933" y="-34394"/>
            <a:ext cx="2574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 Dr. Juan Baldemar Garza V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Derechos reservados 2025</a:t>
            </a:r>
          </a:p>
        </p:txBody>
      </p:sp>
    </p:spTree>
    <p:extLst>
      <p:ext uri="{BB962C8B-B14F-4D97-AF65-F5344CB8AC3E}">
        <p14:creationId xmlns:p14="http://schemas.microsoft.com/office/powerpoint/2010/main" val="2812484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721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4"/>
          <p:cNvSpPr txBox="1">
            <a:spLocks noGrp="1"/>
          </p:cNvSpPr>
          <p:nvPr>
            <p:ph type="title"/>
          </p:nvPr>
        </p:nvSpPr>
        <p:spPr>
          <a:xfrm>
            <a:off x="609600" y="959155"/>
            <a:ext cx="10972801" cy="82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4"/>
          <p:cNvSpPr txBox="1">
            <a:spLocks noGrp="1"/>
          </p:cNvSpPr>
          <p:nvPr>
            <p:ph type="body" idx="1"/>
          </p:nvPr>
        </p:nvSpPr>
        <p:spPr>
          <a:xfrm>
            <a:off x="609600" y="1937924"/>
            <a:ext cx="10972801" cy="41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78288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FFF5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4"/>
          <p:cNvSpPr txBox="1"/>
          <p:nvPr/>
        </p:nvSpPr>
        <p:spPr>
          <a:xfrm>
            <a:off x="1" y="6642342"/>
            <a:ext cx="2814316" cy="200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© DERECHOS RESERVADOS UNIVERSIDAD DE MONTERREY</a:t>
            </a:r>
            <a:endParaRPr sz="1800"/>
          </a:p>
        </p:txBody>
      </p:sp>
      <p:sp>
        <p:nvSpPr>
          <p:cNvPr id="13" name="Google Shape;13;p84"/>
          <p:cNvSpPr txBox="1"/>
          <p:nvPr/>
        </p:nvSpPr>
        <p:spPr>
          <a:xfrm>
            <a:off x="11376743" y="6611566"/>
            <a:ext cx="815258" cy="26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sz="11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61822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2" r:id="rId8"/>
    <p:sldLayoutId id="2147483703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">
            <a:extLst>
              <a:ext uri="{FF2B5EF4-FFF2-40B4-BE49-F238E27FC236}">
                <a16:creationId xmlns:a16="http://schemas.microsoft.com/office/drawing/2014/main" id="{6F69719F-B238-4C94-B7CC-04B6CD85301D}"/>
              </a:ext>
            </a:extLst>
          </p:cNvPr>
          <p:cNvSpPr txBox="1">
            <a:spLocks/>
          </p:cNvSpPr>
          <p:nvPr/>
        </p:nvSpPr>
        <p:spPr>
          <a:xfrm>
            <a:off x="2090254" y="603250"/>
            <a:ext cx="5946058" cy="46918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MX" sz="4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MX" sz="4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Diplomado </a:t>
            </a:r>
          </a:p>
          <a:p>
            <a:pPr marL="0" indent="0" algn="ctr">
              <a:buNone/>
            </a:pPr>
            <a:r>
              <a:rPr lang="es-MX" sz="4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de Analítica y </a:t>
            </a:r>
          </a:p>
          <a:p>
            <a:pPr marL="0" indent="0" algn="ctr">
              <a:buNone/>
            </a:pPr>
            <a:r>
              <a:rPr lang="es-MX" sz="4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Ciencia de Datos</a:t>
            </a:r>
          </a:p>
          <a:p>
            <a:pPr marL="0" indent="0" algn="ctr">
              <a:buNone/>
            </a:pPr>
            <a:endParaRPr lang="es-MX" sz="44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MX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Dr. Juan Baldemar Garza Villegas</a:t>
            </a:r>
            <a:endParaRPr lang="es-MX" sz="2000" b="1" dirty="0">
              <a:solidFill>
                <a:srgbClr val="9E1F63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s-MX" sz="2000" b="1" dirty="0">
                <a:solidFill>
                  <a:srgbClr val="FFFF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juan.garza@udem.edu</a:t>
            </a:r>
            <a:br>
              <a:rPr lang="es-MX" sz="2000" b="1" dirty="0">
                <a:solidFill>
                  <a:srgbClr val="FFFF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</a:br>
            <a:endParaRPr lang="en-US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0;p26">
            <a:extLst>
              <a:ext uri="{FF2B5EF4-FFF2-40B4-BE49-F238E27FC236}">
                <a16:creationId xmlns:a16="http://schemas.microsoft.com/office/drawing/2014/main" id="{03E97F3D-E088-4133-A30D-5E00CC9CDF48}"/>
              </a:ext>
            </a:extLst>
          </p:cNvPr>
          <p:cNvSpPr txBox="1">
            <a:spLocks/>
          </p:cNvSpPr>
          <p:nvPr/>
        </p:nvSpPr>
        <p:spPr>
          <a:xfrm>
            <a:off x="609851" y="1487987"/>
            <a:ext cx="10375900" cy="3139537"/>
          </a:xfrm>
          <a:prstGeom prst="rect">
            <a:avLst/>
          </a:prstGeom>
        </p:spPr>
        <p:txBody>
          <a:bodyPr spcFirstLastPara="1" vert="horz" lIns="34285" tIns="17138" rIns="34285" bIns="17138" rtlCol="0">
            <a:normAutofit fontScale="92500" lnSpcReduction="10000"/>
          </a:bodyPr>
          <a:lstStyle>
            <a:lvl1pPr marL="457109" indent="-457109" algn="l" defTabSz="1828434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lang="en-US" sz="48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1pPr>
            <a:lvl2pPr marL="137132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40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2pPr>
            <a:lvl3pPr marL="2285543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6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3pPr>
            <a:lvl4pPr marL="3199760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kern="1200" dirty="0" smtClean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4pPr>
            <a:lvl5pPr marL="4113977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kern="1200" dirty="0">
                <a:solidFill>
                  <a:schemeClr val="tx1"/>
                </a:solidFill>
                <a:effectLst/>
                <a:latin typeface="Roboto Regular"/>
                <a:ea typeface="+mn-ea"/>
                <a:cs typeface="Roboto Regular"/>
              </a:defRPr>
            </a:lvl5pPr>
            <a:lvl6pPr marL="5028194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1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8588">
              <a:spcBef>
                <a:spcPts val="0"/>
              </a:spcBef>
              <a:buSzPts val="3200"/>
              <a:defRPr/>
            </a:pPr>
            <a:r>
              <a:rPr lang="es-MX" sz="3000" dirty="0" err="1">
                <a:solidFill>
                  <a:schemeClr val="bg2">
                    <a:lumMod val="10000"/>
                  </a:schemeClr>
                </a:solidFill>
              </a:rPr>
              <a:t>Practitioner</a:t>
            </a: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….</a:t>
            </a: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…. </a:t>
            </a:r>
            <a:r>
              <a:rPr lang="es-MX" sz="3000" i="1" dirty="0">
                <a:solidFill>
                  <a:schemeClr val="bg2">
                    <a:lumMod val="10000"/>
                  </a:schemeClr>
                </a:solidFill>
              </a:rPr>
              <a:t>Y académico</a:t>
            </a: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….</a:t>
            </a: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endParaRPr lang="es-MX" sz="3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 Interesado en la Mejora Continua, Ciencia de Datos, Tecnología, Estrategia  4.0 y…..</a:t>
            </a: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endParaRPr lang="es-MX" sz="3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r">
              <a:spcBef>
                <a:spcPts val="240"/>
              </a:spcBef>
              <a:buSzPts val="3200"/>
              <a:buNone/>
              <a:defRPr/>
            </a:pPr>
            <a:endParaRPr lang="es-MX" sz="3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spcBef>
                <a:spcPts val="240"/>
              </a:spcBef>
              <a:buSzPts val="3200"/>
              <a:buNone/>
              <a:defRPr/>
            </a:pPr>
            <a:r>
              <a:rPr lang="es-MX" sz="3000" dirty="0">
                <a:solidFill>
                  <a:schemeClr val="bg2">
                    <a:lumMod val="10000"/>
                  </a:schemeClr>
                </a:solidFill>
              </a:rPr>
              <a:t>… MEJORES EMPRESAS…</a:t>
            </a:r>
          </a:p>
        </p:txBody>
      </p:sp>
    </p:spTree>
    <p:extLst>
      <p:ext uri="{BB962C8B-B14F-4D97-AF65-F5344CB8AC3E}">
        <p14:creationId xmlns:p14="http://schemas.microsoft.com/office/powerpoint/2010/main" val="237431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422B0-BB6D-7492-B718-4F1EA9791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F6691F7-383A-AEC4-DE20-4288BE12DF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chemeClr val="bg1"/>
          </a:solidFill>
        </p:spPr>
        <p:txBody>
          <a:bodyPr/>
          <a:lstStyle/>
          <a:p>
            <a:endParaRPr lang="es-MX"/>
          </a:p>
        </p:txBody>
      </p:sp>
      <p:sp>
        <p:nvSpPr>
          <p:cNvPr id="44" name="Line 5">
            <a:extLst>
              <a:ext uri="{FF2B5EF4-FFF2-40B4-BE49-F238E27FC236}">
                <a16:creationId xmlns:a16="http://schemas.microsoft.com/office/drawing/2014/main" id="{29E1A0C5-273B-B952-B6FE-F85C0F7BED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577" y="-874184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99" tIns="60950" rIns="121899" bIns="6095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Roboto Light" charset="0"/>
            </a:endParaRPr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EBD07369-1641-5479-51AD-E122FE090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577" y="-874184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899" tIns="60950" rIns="121899" bIns="60950" numCol="1" anchor="t" anchorCtr="0" compatLnSpc="1">
            <a:prstTxWarp prst="textNoShape">
              <a:avLst/>
            </a:prstTxWarp>
          </a:bodyPr>
          <a:lstStyle/>
          <a:p>
            <a:endParaRPr lang="en-US" sz="900">
              <a:latin typeface="Roboto Light" charset="0"/>
            </a:endParaRPr>
          </a:p>
        </p:txBody>
      </p:sp>
      <p:sp>
        <p:nvSpPr>
          <p:cNvPr id="190" name="Freeform 189">
            <a:extLst>
              <a:ext uri="{FF2B5EF4-FFF2-40B4-BE49-F238E27FC236}">
                <a16:creationId xmlns:a16="http://schemas.microsoft.com/office/drawing/2014/main" id="{61E67829-0C1D-F958-F8A5-BB5716B8786B}"/>
              </a:ext>
            </a:extLst>
          </p:cNvPr>
          <p:cNvSpPr/>
          <p:nvPr/>
        </p:nvSpPr>
        <p:spPr>
          <a:xfrm>
            <a:off x="4578032" y="-1690"/>
            <a:ext cx="7635241" cy="6859690"/>
          </a:xfrm>
          <a:custGeom>
            <a:avLst/>
            <a:gdLst>
              <a:gd name="connsiteX0" fmla="*/ 2483124 w 5460510"/>
              <a:gd name="connsiteY0" fmla="*/ 0 h 5143500"/>
              <a:gd name="connsiteX1" fmla="*/ 3448297 w 5460510"/>
              <a:gd name="connsiteY1" fmla="*/ 0 h 5143500"/>
              <a:gd name="connsiteX2" fmla="*/ 4717679 w 5460510"/>
              <a:gd name="connsiteY2" fmla="*/ 0 h 5143500"/>
              <a:gd name="connsiteX3" fmla="*/ 4741319 w 5460510"/>
              <a:gd name="connsiteY3" fmla="*/ 0 h 5143500"/>
              <a:gd name="connsiteX4" fmla="*/ 5318193 w 5460510"/>
              <a:gd name="connsiteY4" fmla="*/ 0 h 5143500"/>
              <a:gd name="connsiteX5" fmla="*/ 5460510 w 5460510"/>
              <a:gd name="connsiteY5" fmla="*/ 0 h 5143500"/>
              <a:gd name="connsiteX6" fmla="*/ 5460510 w 5460510"/>
              <a:gd name="connsiteY6" fmla="*/ 5143500 h 5143500"/>
              <a:gd name="connsiteX7" fmla="*/ 5318193 w 5460510"/>
              <a:gd name="connsiteY7" fmla="*/ 5143500 h 5143500"/>
              <a:gd name="connsiteX8" fmla="*/ 4741319 w 5460510"/>
              <a:gd name="connsiteY8" fmla="*/ 5143500 h 5143500"/>
              <a:gd name="connsiteX9" fmla="*/ 4717679 w 5460510"/>
              <a:gd name="connsiteY9" fmla="*/ 5143500 h 5143500"/>
              <a:gd name="connsiteX10" fmla="*/ 3448297 w 5460510"/>
              <a:gd name="connsiteY10" fmla="*/ 5143500 h 5143500"/>
              <a:gd name="connsiteX11" fmla="*/ 0 w 5460510"/>
              <a:gd name="connsiteY11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60510" h="5143500">
                <a:moveTo>
                  <a:pt x="2483124" y="0"/>
                </a:moveTo>
                <a:lnTo>
                  <a:pt x="3448297" y="0"/>
                </a:lnTo>
                <a:lnTo>
                  <a:pt x="4717679" y="0"/>
                </a:lnTo>
                <a:lnTo>
                  <a:pt x="4741319" y="0"/>
                </a:lnTo>
                <a:lnTo>
                  <a:pt x="5318193" y="0"/>
                </a:lnTo>
                <a:lnTo>
                  <a:pt x="5460510" y="0"/>
                </a:lnTo>
                <a:lnTo>
                  <a:pt x="5460510" y="5143500"/>
                </a:lnTo>
                <a:lnTo>
                  <a:pt x="5318193" y="5143500"/>
                </a:lnTo>
                <a:lnTo>
                  <a:pt x="4741319" y="5143500"/>
                </a:lnTo>
                <a:lnTo>
                  <a:pt x="4717679" y="5143500"/>
                </a:lnTo>
                <a:lnTo>
                  <a:pt x="3448297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EC00"/>
          </a:solidFill>
          <a:ln>
            <a:noFill/>
          </a:ln>
        </p:spPr>
        <p:txBody>
          <a:bodyPr/>
          <a:lstStyle/>
          <a:p>
            <a:pPr defTabSz="914217"/>
            <a:endParaRPr lang="en-US">
              <a:solidFill>
                <a:srgbClr val="91969B"/>
              </a:solidFill>
              <a:latin typeface="Calibri Light"/>
            </a:endParaRPr>
          </a:p>
        </p:txBody>
      </p:sp>
      <p:sp>
        <p:nvSpPr>
          <p:cNvPr id="10" name="CuadroTexto 1">
            <a:extLst>
              <a:ext uri="{FF2B5EF4-FFF2-40B4-BE49-F238E27FC236}">
                <a16:creationId xmlns:a16="http://schemas.microsoft.com/office/drawing/2014/main" id="{6F7FC07C-D82A-C55D-584B-983AF1F095D7}"/>
              </a:ext>
            </a:extLst>
          </p:cNvPr>
          <p:cNvSpPr txBox="1"/>
          <p:nvPr/>
        </p:nvSpPr>
        <p:spPr>
          <a:xfrm>
            <a:off x="1845269" y="1293730"/>
            <a:ext cx="2228495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900" dirty="0">
                <a:solidFill>
                  <a:schemeClr val="bg1">
                    <a:lumMod val="50000"/>
                  </a:schemeClr>
                </a:solidFill>
                <a:latin typeface="Arial Black"/>
                <a:cs typeface="Arial Black"/>
              </a:rPr>
              <a:t>1</a:t>
            </a:r>
          </a:p>
        </p:txBody>
      </p:sp>
      <p:sp>
        <p:nvSpPr>
          <p:cNvPr id="11" name="CuadroTexto 5">
            <a:extLst>
              <a:ext uri="{FF2B5EF4-FFF2-40B4-BE49-F238E27FC236}">
                <a16:creationId xmlns:a16="http://schemas.microsoft.com/office/drawing/2014/main" id="{5FBE13A9-2584-78D1-41A1-9CF1C9A04A8E}"/>
              </a:ext>
            </a:extLst>
          </p:cNvPr>
          <p:cNvSpPr txBox="1"/>
          <p:nvPr/>
        </p:nvSpPr>
        <p:spPr>
          <a:xfrm>
            <a:off x="7200900" y="2696561"/>
            <a:ext cx="464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b="1" dirty="0">
                <a:solidFill>
                  <a:schemeClr val="bg2">
                    <a:lumMod val="10000"/>
                  </a:schemeClr>
                </a:solidFill>
                <a:cs typeface="Calibri"/>
              </a:rPr>
              <a:t>Agente IA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DD6650-93A2-A8EA-BCCF-2D3EC72563DC}"/>
              </a:ext>
            </a:extLst>
          </p:cNvPr>
          <p:cNvSpPr txBox="1"/>
          <p:nvPr/>
        </p:nvSpPr>
        <p:spPr>
          <a:xfrm>
            <a:off x="9834933" y="-34394"/>
            <a:ext cx="2574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 Dr. Juan Baldemar Garza V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Derechos reservados 2025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895F22-B17C-EE3B-5712-6345F8306D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899" t="14127" r="20952" b="5714"/>
          <a:stretch>
            <a:fillRect/>
          </a:stretch>
        </p:blipFill>
        <p:spPr>
          <a:xfrm>
            <a:off x="9524999" y="1787979"/>
            <a:ext cx="2341716" cy="328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802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un </a:t>
            </a:r>
            <a:r>
              <a:rPr dirty="0" err="1"/>
              <a:t>Agente</a:t>
            </a:r>
            <a:r>
              <a:rPr dirty="0"/>
              <a:t> de 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218" y="1951075"/>
            <a:ext cx="9937897" cy="1143000"/>
          </a:xfrm>
        </p:spPr>
        <p:txBody>
          <a:bodyPr>
            <a:noAutofit/>
          </a:bodyPr>
          <a:lstStyle/>
          <a:p>
            <a:pPr algn="just"/>
            <a:r>
              <a:rPr lang="es-MX" sz="1600" dirty="0"/>
              <a:t>Un </a:t>
            </a:r>
            <a:r>
              <a:rPr lang="es-MX" sz="1600" b="1" dirty="0"/>
              <a:t>agente de IA </a:t>
            </a:r>
            <a:r>
              <a:rPr lang="es-MX" sz="1600" dirty="0"/>
              <a:t>es un sistema computacional diseñado para percibir su entorno, procesar información, y tomar decisiones o acciones de manera autónoma con el objetivo de alcanzar un objetivo específico. Estos agentes utilizan algoritmos de inteligencia artificial para razonar, aprender y adaptarse a nuevas situaciones.</a:t>
            </a:r>
            <a:endParaRPr lang="es-ES" sz="1600" dirty="0"/>
          </a:p>
          <a:p>
            <a:pPr algn="just"/>
            <a:endParaRPr lang="es-ES" sz="1600" dirty="0"/>
          </a:p>
          <a:p>
            <a:pPr algn="just"/>
            <a:r>
              <a:rPr sz="1600" dirty="0"/>
              <a:t>Su </a:t>
            </a:r>
            <a:r>
              <a:rPr sz="1600" dirty="0" err="1"/>
              <a:t>autonomía</a:t>
            </a:r>
            <a:r>
              <a:rPr sz="1600" dirty="0"/>
              <a:t> le </a:t>
            </a:r>
            <a:r>
              <a:rPr sz="1600" dirty="0" err="1"/>
              <a:t>permite</a:t>
            </a:r>
            <a:r>
              <a:rPr sz="1600" dirty="0"/>
              <a:t> </a:t>
            </a:r>
            <a:r>
              <a:rPr sz="1600" dirty="0" err="1"/>
              <a:t>operar</a:t>
            </a:r>
            <a:r>
              <a:rPr sz="1600" dirty="0"/>
              <a:t> y </a:t>
            </a:r>
            <a:r>
              <a:rPr sz="1600" dirty="0" err="1"/>
              <a:t>decidir</a:t>
            </a:r>
            <a:r>
              <a:rPr sz="1600" dirty="0"/>
              <a:t> sin </a:t>
            </a:r>
            <a:r>
              <a:rPr sz="1600" dirty="0" err="1"/>
              <a:t>intervención</a:t>
            </a:r>
            <a:r>
              <a:rPr sz="1600" dirty="0"/>
              <a:t> </a:t>
            </a:r>
            <a:r>
              <a:rPr sz="1600" dirty="0" err="1"/>
              <a:t>constante</a:t>
            </a:r>
            <a:r>
              <a:rPr sz="1600" dirty="0"/>
              <a:t>, </a:t>
            </a:r>
            <a:r>
              <a:rPr sz="1600" dirty="0" err="1"/>
              <a:t>dentro</a:t>
            </a:r>
            <a:r>
              <a:rPr sz="1600" dirty="0"/>
              <a:t> de </a:t>
            </a:r>
            <a:r>
              <a:rPr sz="1600" dirty="0" err="1"/>
              <a:t>límites</a:t>
            </a:r>
            <a:r>
              <a:rPr sz="1600" dirty="0"/>
              <a:t> </a:t>
            </a:r>
            <a:r>
              <a:rPr sz="1600" dirty="0" err="1"/>
              <a:t>definidos</a:t>
            </a:r>
            <a:r>
              <a:rPr sz="1600" dirty="0"/>
              <a:t> de </a:t>
            </a:r>
            <a:r>
              <a:rPr sz="1600" dirty="0" err="1"/>
              <a:t>autoridad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3165F91-CC38-51F5-06C2-19A6E32282CF}"/>
              </a:ext>
            </a:extLst>
          </p:cNvPr>
          <p:cNvSpPr txBox="1"/>
          <p:nvPr/>
        </p:nvSpPr>
        <p:spPr>
          <a:xfrm>
            <a:off x="930349" y="1508014"/>
            <a:ext cx="1071761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/>
              <a:t>La evolución de los agentes de inteligencia artificial (IA) ha sido un proceso continuo desde sistemas simples basados en reglas hasta modelos avanzados con capacidades de aprendizaje y toma de decisiones complejas. A continuación, se describen los principales hitos en esta evolución:</a:t>
            </a:r>
          </a:p>
          <a:p>
            <a:pPr algn="just"/>
            <a:endParaRPr lang="es-ES" sz="1600" dirty="0"/>
          </a:p>
          <a:p>
            <a:pPr algn="just"/>
            <a:r>
              <a:rPr lang="es-ES" sz="1600" b="1" dirty="0"/>
              <a:t>Agentes basados en reglas</a:t>
            </a:r>
            <a:r>
              <a:rPr lang="es-ES" sz="1600" dirty="0"/>
              <a:t>:</a:t>
            </a:r>
          </a:p>
          <a:p>
            <a:pPr algn="just"/>
            <a:endParaRPr lang="es-ES" sz="1600" dirty="0"/>
          </a:p>
          <a:p>
            <a:pPr lvl="1" algn="just"/>
            <a:r>
              <a:rPr lang="es-ES" sz="1600" dirty="0"/>
              <a:t>Los primeros sistemas de IA eran determinísticos, con un comportamiento predecible basado en reglas rígidas.</a:t>
            </a:r>
          </a:p>
          <a:p>
            <a:pPr lvl="1" algn="just"/>
            <a:r>
              <a:rPr lang="es-ES" sz="1600" dirty="0"/>
              <a:t>Su incapacidad para aprender o adaptarse a nuevas situaciones los limitaba a tareas específicas y controladas.</a:t>
            </a:r>
          </a:p>
          <a:p>
            <a:pPr lvl="1" algn="just"/>
            <a:endParaRPr lang="es-ES" sz="1600" b="1" dirty="0"/>
          </a:p>
          <a:p>
            <a:pPr lvl="1" algn="just"/>
            <a:r>
              <a:rPr lang="es-ES" sz="1600" b="1" dirty="0"/>
              <a:t>Ejemplo</a:t>
            </a:r>
            <a:r>
              <a:rPr lang="es-ES" sz="1600" dirty="0"/>
              <a:t>: Programas de ajedrez iniciales y sistemas básicos de diagnóstico médico.</a:t>
            </a:r>
          </a:p>
          <a:p>
            <a:pPr lvl="1" algn="just"/>
            <a:endParaRPr lang="es-ES" sz="1600" dirty="0"/>
          </a:p>
          <a:p>
            <a:pPr algn="just"/>
            <a:r>
              <a:rPr lang="es-ES" sz="1600" b="1" dirty="0"/>
              <a:t>Agentes con capacidad de aprendizaje</a:t>
            </a:r>
            <a:r>
              <a:rPr lang="es-ES" sz="1600" dirty="0"/>
              <a:t>:</a:t>
            </a:r>
          </a:p>
          <a:p>
            <a:pPr algn="just"/>
            <a:endParaRPr lang="es-ES" sz="1600" dirty="0"/>
          </a:p>
          <a:p>
            <a:pPr lvl="1" algn="just"/>
            <a:r>
              <a:rPr lang="es-ES" sz="1600" dirty="0"/>
              <a:t>Con la aparición del aprendizaje automático en los años 1990, los agentes comenzaron a aprender a partir de datos.</a:t>
            </a:r>
          </a:p>
          <a:p>
            <a:pPr lvl="1" algn="just"/>
            <a:r>
              <a:rPr lang="es-ES" sz="1600" dirty="0"/>
              <a:t>Se introdujeron técnicas como redes neuronales, que permitieron a los sistemas mejorar su rendimiento con el tiempo.</a:t>
            </a:r>
          </a:p>
          <a:p>
            <a:pPr lvl="1" algn="just"/>
            <a:endParaRPr lang="es-ES" sz="1600" b="1" dirty="0"/>
          </a:p>
          <a:p>
            <a:pPr lvl="1" algn="just"/>
            <a:r>
              <a:rPr lang="es-ES" sz="1600" b="1" dirty="0"/>
              <a:t>Ejemplo</a:t>
            </a:r>
            <a:r>
              <a:rPr lang="es-ES" sz="1600" dirty="0"/>
              <a:t>: Modelos de predicción basados en datos históricos.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58618F-C3C2-B983-4FE9-2D298DCCF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349" y="418177"/>
            <a:ext cx="8229600" cy="1143000"/>
          </a:xfrm>
        </p:spPr>
        <p:txBody>
          <a:bodyPr/>
          <a:lstStyle/>
          <a:p>
            <a:r>
              <a:rPr dirty="0" err="1"/>
              <a:t>Evolución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Agentes</a:t>
            </a:r>
            <a:r>
              <a:rPr dirty="0"/>
              <a:t> de IA</a:t>
            </a:r>
          </a:p>
        </p:txBody>
      </p:sp>
    </p:spTree>
    <p:extLst>
      <p:ext uri="{BB962C8B-B14F-4D97-AF65-F5344CB8AC3E}">
        <p14:creationId xmlns:p14="http://schemas.microsoft.com/office/powerpoint/2010/main" val="392457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56AF3-BDA0-3FAA-3A63-B726B6339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189A9A2-8CC1-D49E-D447-EA9189E1A4E3}"/>
              </a:ext>
            </a:extLst>
          </p:cNvPr>
          <p:cNvSpPr txBox="1"/>
          <p:nvPr/>
        </p:nvSpPr>
        <p:spPr>
          <a:xfrm>
            <a:off x="872756" y="1104676"/>
            <a:ext cx="10446488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457200">
              <a:defRPr/>
            </a:pPr>
            <a:r>
              <a:rPr lang="es-ES" sz="1500" b="1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Agentes basados en modelos avanzados</a:t>
            </a:r>
            <a:r>
              <a:rPr lang="es-ES" sz="1500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:</a:t>
            </a:r>
          </a:p>
          <a:p>
            <a:pPr lvl="1" algn="just" defTabSz="457200">
              <a:defRPr/>
            </a:pPr>
            <a:r>
              <a:rPr lang="es-ES" sz="1500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Desde 2017, con el desarrollo de modelos avanzados como los grandes modelos de lenguaje (LLM), los agentes adquirieron habilidades para procesar lenguaje natural y realizar tareas más complejas.</a:t>
            </a:r>
          </a:p>
          <a:p>
            <a:pPr lvl="1" algn="just" defTabSz="457200">
              <a:defRPr/>
            </a:pPr>
            <a:r>
              <a:rPr lang="es-ES" sz="1500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Estas arquitecturas, basadas en transformadores, mejoraron la comprensión del contexto y la generación de respuestas más precisas.</a:t>
            </a:r>
          </a:p>
          <a:p>
            <a:pPr lvl="1" algn="just" defTabSz="457200">
              <a:defRPr/>
            </a:pPr>
            <a:r>
              <a:rPr lang="es-ES" sz="1500" b="1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Ejemplo</a:t>
            </a:r>
            <a:r>
              <a:rPr lang="es-ES" sz="1500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: Asistentes virtuales como los </a:t>
            </a:r>
            <a:r>
              <a:rPr lang="es-ES" sz="1500" dirty="0" err="1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chatbots</a:t>
            </a:r>
            <a:r>
              <a:rPr lang="es-ES" sz="1500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 modernos.</a:t>
            </a:r>
          </a:p>
          <a:p>
            <a:pPr lvl="1" algn="just" defTabSz="457200">
              <a:defRPr/>
            </a:pPr>
            <a:endParaRPr lang="es-ES" sz="1500" dirty="0">
              <a:solidFill>
                <a:prstClr val="black"/>
              </a:solidFill>
              <a:latin typeface="Calibri"/>
            </a:endParaRPr>
          </a:p>
          <a:p>
            <a:pPr algn="just" defTabSz="457200">
              <a:defRPr/>
            </a:pPr>
            <a:r>
              <a:rPr lang="es-ES" sz="1500" b="1" dirty="0">
                <a:solidFill>
                  <a:prstClr val="black"/>
                </a:solidFill>
                <a:latin typeface="Calibri"/>
              </a:rPr>
              <a:t>Agentes autónomos y adaptativos</a:t>
            </a:r>
            <a:r>
              <a:rPr lang="es-ES" sz="1500" dirty="0">
                <a:solidFill>
                  <a:prstClr val="black"/>
                </a:solidFill>
                <a:latin typeface="Calibri"/>
              </a:rPr>
              <a:t>:</a:t>
            </a:r>
          </a:p>
          <a:p>
            <a:pPr lvl="1" algn="just" defTabSz="457200">
              <a:defRPr/>
            </a:pPr>
            <a:r>
              <a:rPr lang="es-ES" sz="1500" dirty="0">
                <a:solidFill>
                  <a:prstClr val="black"/>
                </a:solidFill>
                <a:latin typeface="Calibri"/>
              </a:rPr>
              <a:t>La integración de técnicas como el aprendizaje por refuerzo y el aprendizaje por transferencia permite a los agentes adaptarse a entornos dinámicos.</a:t>
            </a:r>
          </a:p>
          <a:p>
            <a:pPr lvl="1" algn="just" defTabSz="457200">
              <a:defRPr/>
            </a:pPr>
            <a:r>
              <a:rPr lang="es-ES" sz="1500" dirty="0">
                <a:solidFill>
                  <a:prstClr val="black"/>
                </a:solidFill>
                <a:latin typeface="Calibri"/>
              </a:rPr>
              <a:t>Los agentes actuales combinan múltiples capacidades, como planificación, memoria y uso de herramientas, para resolver problemas complejos.</a:t>
            </a:r>
          </a:p>
          <a:p>
            <a:pPr lvl="1" algn="just" defTabSz="457200">
              <a:defRPr/>
            </a:pPr>
            <a:r>
              <a:rPr lang="es-ES" sz="1500" b="1" dirty="0">
                <a:solidFill>
                  <a:prstClr val="black"/>
                </a:solidFill>
                <a:latin typeface="Calibri"/>
              </a:rPr>
              <a:t>Ejemplo</a:t>
            </a:r>
            <a:r>
              <a:rPr lang="es-ES" sz="1500" dirty="0">
                <a:solidFill>
                  <a:prstClr val="black"/>
                </a:solidFill>
                <a:latin typeface="Calibri"/>
              </a:rPr>
              <a:t>: Vehículos autónomos y sistemas de gestión de tráfico.</a:t>
            </a:r>
          </a:p>
          <a:p>
            <a:pPr lvl="1" algn="just" defTabSz="457200">
              <a:defRPr/>
            </a:pPr>
            <a:endParaRPr lang="es-ES" sz="1500" dirty="0">
              <a:solidFill>
                <a:prstClr val="black"/>
              </a:solidFill>
              <a:latin typeface="Calibri"/>
            </a:endParaRPr>
          </a:p>
          <a:p>
            <a:pPr algn="just" defTabSz="457200">
              <a:defRPr/>
            </a:pPr>
            <a:r>
              <a:rPr lang="es-ES" sz="1500" b="1" dirty="0">
                <a:solidFill>
                  <a:prstClr val="black"/>
                </a:solidFill>
                <a:latin typeface="Calibri"/>
              </a:rPr>
              <a:t>Sistemas </a:t>
            </a:r>
            <a:r>
              <a:rPr lang="es-ES" sz="1500" b="1" dirty="0" err="1">
                <a:solidFill>
                  <a:prstClr val="black"/>
                </a:solidFill>
                <a:latin typeface="Calibri"/>
              </a:rPr>
              <a:t>multiagente</a:t>
            </a:r>
            <a:r>
              <a:rPr lang="es-ES" sz="1500" dirty="0">
                <a:solidFill>
                  <a:prstClr val="black"/>
                </a:solidFill>
                <a:latin typeface="Calibri"/>
              </a:rPr>
              <a:t>:</a:t>
            </a:r>
          </a:p>
          <a:p>
            <a:pPr lvl="1" algn="just" defTabSz="457200">
              <a:defRPr/>
            </a:pPr>
            <a:r>
              <a:rPr lang="es-ES" sz="1500" dirty="0">
                <a:solidFill>
                  <a:prstClr val="black"/>
                </a:solidFill>
                <a:latin typeface="Calibri"/>
              </a:rPr>
              <a:t>En el futuro, los sistemas </a:t>
            </a:r>
            <a:r>
              <a:rPr lang="es-ES" sz="1500" dirty="0" err="1">
                <a:solidFill>
                  <a:prstClr val="black"/>
                </a:solidFill>
                <a:latin typeface="Calibri"/>
              </a:rPr>
              <a:t>multiagente</a:t>
            </a:r>
            <a:r>
              <a:rPr lang="es-ES" sz="1500" dirty="0">
                <a:solidFill>
                  <a:prstClr val="black"/>
                </a:solidFill>
                <a:latin typeface="Calibri"/>
              </a:rPr>
              <a:t> (MAS) permitirán que múltiples agentes colaboren, compitan o negocien para abordar tareas colectivas.</a:t>
            </a:r>
          </a:p>
          <a:p>
            <a:pPr lvl="1" algn="just" defTabSz="457200">
              <a:defRPr/>
            </a:pPr>
            <a:r>
              <a:rPr lang="es-ES" sz="1500" dirty="0">
                <a:solidFill>
                  <a:prstClr val="black"/>
                </a:solidFill>
                <a:latin typeface="Calibri"/>
              </a:rPr>
              <a:t>Estos sistemas serán clave para gestionar entornos complejos, como ciudades inteligentes o cadenas de suministro globales.</a:t>
            </a:r>
          </a:p>
          <a:p>
            <a:pPr lvl="1" algn="just" defTabSz="457200">
              <a:defRPr/>
            </a:pPr>
            <a:endParaRPr lang="es-ES" sz="1500" dirty="0">
              <a:solidFill>
                <a:prstClr val="black"/>
              </a:solidFill>
              <a:latin typeface="Calibri"/>
            </a:endParaRPr>
          </a:p>
          <a:p>
            <a:pPr algn="just" defTabSz="457200">
              <a:defRPr/>
            </a:pPr>
            <a:r>
              <a:rPr lang="es-ES" sz="1500" dirty="0">
                <a:solidFill>
                  <a:prstClr val="black"/>
                </a:solidFill>
                <a:latin typeface="Calibri"/>
              </a:rPr>
              <a:t>La evolución de los agentes de IA refleja un progreso hacia una mayor autonomía, flexibilidad y capacidad para abordar desafíos complejos en una amplia variedad de dominios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229F1-67DC-D523-F0D4-228388032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16" y="170121"/>
            <a:ext cx="8229600" cy="1143000"/>
          </a:xfrm>
        </p:spPr>
        <p:txBody>
          <a:bodyPr/>
          <a:lstStyle/>
          <a:p>
            <a:r>
              <a:rPr dirty="0" err="1"/>
              <a:t>Evolución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Agentes</a:t>
            </a:r>
            <a:r>
              <a:rPr dirty="0"/>
              <a:t> de IA</a:t>
            </a:r>
          </a:p>
        </p:txBody>
      </p:sp>
    </p:spTree>
    <p:extLst>
      <p:ext uri="{BB962C8B-B14F-4D97-AF65-F5344CB8AC3E}">
        <p14:creationId xmlns:p14="http://schemas.microsoft.com/office/powerpoint/2010/main" val="290447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43F274-405A-9850-C3ED-BCA8A4D623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93" t="11957" r="17963" b="17886"/>
          <a:stretch/>
        </p:blipFill>
        <p:spPr>
          <a:xfrm>
            <a:off x="2235833" y="1103021"/>
            <a:ext cx="7886152" cy="48268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6A2BD2-B0B2-6082-1A69-E4FDB0A20353}"/>
              </a:ext>
            </a:extLst>
          </p:cNvPr>
          <p:cNvSpPr txBox="1">
            <a:spLocks/>
          </p:cNvSpPr>
          <p:nvPr/>
        </p:nvSpPr>
        <p:spPr>
          <a:xfrm>
            <a:off x="-490870" y="43253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Evolución de los Agentes de IA</a:t>
            </a:r>
          </a:p>
        </p:txBody>
      </p:sp>
    </p:spTree>
    <p:extLst>
      <p:ext uri="{BB962C8B-B14F-4D97-AF65-F5344CB8AC3E}">
        <p14:creationId xmlns:p14="http://schemas.microsoft.com/office/powerpoint/2010/main" val="588105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3"/>
          <p:cNvSpPr txBox="1"/>
          <p:nvPr/>
        </p:nvSpPr>
        <p:spPr>
          <a:xfrm>
            <a:off x="7170622" y="2036385"/>
            <a:ext cx="4272787" cy="93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rgbClr val="000000"/>
              </a:buClr>
            </a:pPr>
            <a:r>
              <a:rPr lang="it-IT" sz="5500" b="1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 GRACIAS !</a:t>
            </a:r>
            <a:endParaRPr sz="5500" b="1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4097</TotalTime>
  <Words>515</Words>
  <Application>Microsoft Office PowerPoint</Application>
  <PresentationFormat>Panorámica</PresentationFormat>
  <Paragraphs>57</Paragraphs>
  <Slides>8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Noto Sans Symbols</vt:lpstr>
      <vt:lpstr>Roboto Light</vt:lpstr>
      <vt:lpstr>Verdana</vt:lpstr>
      <vt:lpstr>Tema de Office</vt:lpstr>
      <vt:lpstr>2_Tema de Office</vt:lpstr>
      <vt:lpstr>Presentación de PowerPoint</vt:lpstr>
      <vt:lpstr>Presentación de PowerPoint</vt:lpstr>
      <vt:lpstr>Presentación de PowerPoint</vt:lpstr>
      <vt:lpstr>¿Qué es un Agente de IA?</vt:lpstr>
      <vt:lpstr>Evolución de los Agentes de IA</vt:lpstr>
      <vt:lpstr>Evolución de los Agentes de IA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JBGV</dc:creator>
  <cp:lastModifiedBy>Juan Baldemar Garza Villegas</cp:lastModifiedBy>
  <cp:revision>363</cp:revision>
  <cp:lastPrinted>2020-10-05T21:27:12Z</cp:lastPrinted>
  <dcterms:created xsi:type="dcterms:W3CDTF">2020-01-22T17:21:41Z</dcterms:created>
  <dcterms:modified xsi:type="dcterms:W3CDTF">2025-11-08T19:49:52Z</dcterms:modified>
</cp:coreProperties>
</file>