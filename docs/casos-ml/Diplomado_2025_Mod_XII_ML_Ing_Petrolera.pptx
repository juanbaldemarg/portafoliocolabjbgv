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3" r:id="rId2"/>
  </p:sldMasterIdLst>
  <p:notesMasterIdLst>
    <p:notesMasterId r:id="rId8"/>
  </p:notesMasterIdLst>
  <p:handoutMasterIdLst>
    <p:handoutMasterId r:id="rId9"/>
  </p:handoutMasterIdLst>
  <p:sldIdLst>
    <p:sldId id="18634" r:id="rId3"/>
    <p:sldId id="256" r:id="rId4"/>
    <p:sldId id="18638" r:id="rId5"/>
    <p:sldId id="18639" r:id="rId6"/>
    <p:sldId id="18635" r:id="rId7"/>
  </p:sldIdLst>
  <p:sldSz cx="12192000" cy="6858000"/>
  <p:notesSz cx="7315200" cy="96012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2EC"/>
    <a:srgbClr val="FFEC00"/>
    <a:srgbClr val="F5F1E8"/>
    <a:srgbClr val="FFFF66"/>
    <a:srgbClr val="D7E7F5"/>
    <a:srgbClr val="FFF7E1"/>
    <a:srgbClr val="50FF64"/>
    <a:srgbClr val="7030A0"/>
    <a:srgbClr val="50FF3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2" autoAdjust="0"/>
    <p:restoredTop sz="70673" autoAdjust="0"/>
  </p:normalViewPr>
  <p:slideViewPr>
    <p:cSldViewPr snapToGrid="0" snapToObjects="1">
      <p:cViewPr varScale="1">
        <p:scale>
          <a:sx n="88" d="100"/>
          <a:sy n="88" d="100"/>
        </p:scale>
        <p:origin x="555" y="270"/>
      </p:cViewPr>
      <p:guideLst>
        <p:guide orient="horz" pos="2160"/>
        <p:guide pos="3858"/>
        <p:guide pos="619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46" d="100"/>
          <a:sy n="46" d="100"/>
        </p:scale>
        <p:origin x="2619" y="7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8955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r">
              <a:defRPr sz="1300"/>
            </a:lvl1pPr>
          </a:lstStyle>
          <a:p>
            <a:fld id="{EDE75EBD-B9AC-724B-AD2A-A4A15581C23C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2" tIns="48327" rIns="96652" bIns="48327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4"/>
          </a:xfrm>
          <a:prstGeom prst="rect">
            <a:avLst/>
          </a:prstGeom>
        </p:spPr>
        <p:txBody>
          <a:bodyPr vert="horz" lIns="96652" tIns="48327" rIns="96652" bIns="48327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r">
              <a:defRPr sz="1300"/>
            </a:lvl1pPr>
          </a:lstStyle>
          <a:p>
            <a:fld id="{98894399-53F9-9442-B0D8-8FD0263738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9530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t-I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30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3D29-91D0-A132-ED9A-B1172B6A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808D13-6234-CDA9-4B90-A6B7B405E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C53E3A-5468-FA6A-A429-77B98E10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73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962F1-4B08-EC4C-A6BE-F097EC6E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3C524-75CA-8249-819F-B0A7092B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418C14-FFCF-C44B-9F30-4700E04A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16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34106"/>
            <a:ext cx="6095999" cy="746830"/>
          </a:xfrm>
          <a:prstGeom prst="rect">
            <a:avLst/>
          </a:prstGeom>
        </p:spPr>
      </p:pic>
      <p:pic>
        <p:nvPicPr>
          <p:cNvPr id="9" name="Picture 8" descr="Sin título-2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7" b="24410"/>
          <a:stretch/>
        </p:blipFill>
        <p:spPr>
          <a:xfrm>
            <a:off x="6223001" y="764498"/>
            <a:ext cx="5495924" cy="5471410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838200" y="1687958"/>
            <a:ext cx="5257801" cy="27432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FontTx/>
              <a:buNone/>
              <a:defRPr sz="32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 algn="ctr">
              <a:buFontTx/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Rectángulo 1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40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838200" y="24884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Capítulo</a:t>
            </a:r>
            <a:r>
              <a:rPr lang="es-MX" b="1" baseline="0" dirty="0">
                <a:solidFill>
                  <a:srgbClr val="363636"/>
                </a:solidFill>
                <a:latin typeface="Verdana"/>
                <a:cs typeface="Verdana"/>
              </a:rPr>
              <a:t> </a:t>
            </a:r>
            <a:r>
              <a:rPr lang="es-MX" b="0" baseline="0" dirty="0">
                <a:solidFill>
                  <a:srgbClr val="363636"/>
                </a:solidFill>
                <a:latin typeface="Verdana"/>
                <a:cs typeface="Verdana"/>
              </a:rPr>
              <a:t>No. 1</a:t>
            </a:r>
            <a:endParaRPr lang="es-MX" b="1" dirty="0">
              <a:solidFill>
                <a:srgbClr val="363636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44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Titulares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990600" y="185896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XXXXX</a:t>
            </a:r>
          </a:p>
        </p:txBody>
      </p:sp>
    </p:spTree>
    <p:extLst>
      <p:ext uri="{BB962C8B-B14F-4D97-AF65-F5344CB8AC3E}">
        <p14:creationId xmlns:p14="http://schemas.microsoft.com/office/powerpoint/2010/main" val="298180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4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Picture 10" descr="UDE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2041768"/>
            <a:ext cx="2905126" cy="2506418"/>
          </a:xfrm>
          <a:prstGeom prst="rect">
            <a:avLst/>
          </a:prstGeom>
        </p:spPr>
      </p:pic>
      <p:sp>
        <p:nvSpPr>
          <p:cNvPr id="12" name="CuadroTexto 7">
            <a:extLst>
              <a:ext uri="{FF2B5EF4-FFF2-40B4-BE49-F238E27FC236}">
                <a16:creationId xmlns:a16="http://schemas.microsoft.com/office/drawing/2014/main" id="{88B5A606-713B-9D4A-96B1-9D5B42AB5318}"/>
              </a:ext>
            </a:extLst>
          </p:cNvPr>
          <p:cNvSpPr txBox="1"/>
          <p:nvPr userDrawn="1"/>
        </p:nvSpPr>
        <p:spPr>
          <a:xfrm>
            <a:off x="5000289" y="5423718"/>
            <a:ext cx="21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solidFill>
                  <a:srgbClr val="F5F1E8"/>
                </a:solidFill>
                <a:latin typeface="Verdana"/>
                <a:cs typeface="Verdana"/>
              </a:rPr>
              <a:t>udem.edu.mx</a:t>
            </a:r>
          </a:p>
        </p:txBody>
      </p:sp>
    </p:spTree>
    <p:extLst>
      <p:ext uri="{BB962C8B-B14F-4D97-AF65-F5344CB8AC3E}">
        <p14:creationId xmlns:p14="http://schemas.microsoft.com/office/powerpoint/2010/main" val="398832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4A39-B76D-1941-B212-22BF79F0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837359-156A-5441-B1CD-509DC4A1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F36AD-DDC1-044B-A739-2F4BC50D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5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37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145AA-F2FD-ED44-9443-2B5DEB25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B942C-AD4C-FB4F-8556-0AC2CC97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1030CA-32CD-0546-A5B4-1DF24DAB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C099B-D99E-5841-B866-F1664D8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48C64B-093C-1144-AA66-97AE53A7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2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4AF13-E305-CA4D-B1D9-646119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D9D00-CF0E-0E4D-A88E-643AB22AA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BC3F4-07D4-934E-9509-DF410DD60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8C53A-93CC-B34A-9FE9-A899458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C01EB-6C5F-7F4F-9A3A-BE5813B5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00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ABDEA-A126-0643-837C-F268ABCC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8A7756-6623-FA45-98DE-3A21F2A15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899DA-FBEB-5F44-944D-18C4FA45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E0C3A-1175-2E46-9EFA-72FD2833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0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17306-A0FA-B349-B9D9-BCAFAED7B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4227AA-3AFB-9E40-928F-68B154E18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67C78-0611-C645-836A-40E9AAC7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FEACF0-BF48-5444-8C72-1BA62F2E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28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3B2BE8A-C619-48C4-A966-09BD439D075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63594" y="303603"/>
            <a:ext cx="1654606" cy="71537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185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 Light" charset="0"/>
            </a:endParaRPr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865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8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Diapositiva de título">
  <p:cSld name="12_Diapositiva de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5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5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95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5019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620E1-B47D-27F5-988B-41E3418EA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7A782C-7B06-71FE-499F-37BB007F8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4C0030-61F5-89C6-46A7-2F10D429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668-0340-4679-88CD-22333716D85A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E70BAE-32C7-4BA8-7EE4-E4247975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AE0D33-DA1D-19EE-A6FF-7F71F6B7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E0A6-1B22-40D5-807D-52CD0D22E1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781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 type="title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5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5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448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body" idx="1"/>
          </p:nvPr>
        </p:nvSpPr>
        <p:spPr>
          <a:xfrm>
            <a:off x="609601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body" idx="2"/>
          </p:nvPr>
        </p:nvSpPr>
        <p:spPr>
          <a:xfrm>
            <a:off x="4319465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1" name="Google Shape;21;p86"/>
          <p:cNvSpPr txBox="1">
            <a:spLocks noGrp="1"/>
          </p:cNvSpPr>
          <p:nvPr>
            <p:ph type="body" idx="3"/>
          </p:nvPr>
        </p:nvSpPr>
        <p:spPr>
          <a:xfrm>
            <a:off x="8038337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92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91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8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8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7179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 título">
  <p:cSld name="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9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9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797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 título">
  <p:cSld name="4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0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0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0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35" name="Google Shape;35;p90"/>
          <p:cNvSpPr>
            <a:spLocks noGrp="1"/>
          </p:cNvSpPr>
          <p:nvPr>
            <p:ph type="pic" idx="2"/>
          </p:nvPr>
        </p:nvSpPr>
        <p:spPr>
          <a:xfrm>
            <a:off x="0" y="0"/>
            <a:ext cx="61074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715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apositiva de título">
  <p:cSld name="5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1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1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1"/>
          <p:cNvSpPr>
            <a:spLocks noGrp="1"/>
          </p:cNvSpPr>
          <p:nvPr>
            <p:ph type="pic" idx="2"/>
          </p:nvPr>
        </p:nvSpPr>
        <p:spPr>
          <a:xfrm>
            <a:off x="0" y="0"/>
            <a:ext cx="6117595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0496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Diapositiva de título">
  <p:cSld name="14_Diapositiva de títul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3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3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3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97995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Diapositiva de título">
  <p:cSld name="9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4"/>
          <p:cNvSpPr txBox="1">
            <a:spLocks noGrp="1"/>
          </p:cNvSpPr>
          <p:nvPr>
            <p:ph type="ctrTitle"/>
          </p:nvPr>
        </p:nvSpPr>
        <p:spPr>
          <a:xfrm>
            <a:off x="556024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subTitle" idx="1"/>
          </p:nvPr>
        </p:nvSpPr>
        <p:spPr>
          <a:xfrm>
            <a:off x="556022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4"/>
          <p:cNvSpPr>
            <a:spLocks noGrp="1"/>
          </p:cNvSpPr>
          <p:nvPr>
            <p:ph type="pic" idx="2"/>
          </p:nvPr>
        </p:nvSpPr>
        <p:spPr>
          <a:xfrm>
            <a:off x="6087109" y="0"/>
            <a:ext cx="610489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23797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6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9" name="Google Shape;59;p96"/>
          <p:cNvSpPr txBox="1">
            <a:spLocks noGrp="1"/>
          </p:cNvSpPr>
          <p:nvPr>
            <p:ph type="body" idx="2"/>
          </p:nvPr>
        </p:nvSpPr>
        <p:spPr>
          <a:xfrm>
            <a:off x="6197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542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7"/>
          <p:cNvSpPr txBox="1">
            <a:spLocks noGrp="1"/>
          </p:cNvSpPr>
          <p:nvPr>
            <p:ph type="body" idx="1"/>
          </p:nvPr>
        </p:nvSpPr>
        <p:spPr>
          <a:xfrm>
            <a:off x="609600" y="188784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3" name="Google Shape;63;p97"/>
          <p:cNvSpPr txBox="1">
            <a:spLocks noGrp="1"/>
          </p:cNvSpPr>
          <p:nvPr>
            <p:ph type="body" idx="2"/>
          </p:nvPr>
        </p:nvSpPr>
        <p:spPr>
          <a:xfrm>
            <a:off x="609600" y="2638641"/>
            <a:ext cx="5386917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64" name="Google Shape;64;p97"/>
          <p:cNvSpPr txBox="1">
            <a:spLocks noGrp="1"/>
          </p:cNvSpPr>
          <p:nvPr>
            <p:ph type="body" idx="3"/>
          </p:nvPr>
        </p:nvSpPr>
        <p:spPr>
          <a:xfrm>
            <a:off x="6193370" y="1887842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5" name="Google Shape;65;p97"/>
          <p:cNvSpPr txBox="1">
            <a:spLocks noGrp="1"/>
          </p:cNvSpPr>
          <p:nvPr>
            <p:ph type="body" idx="4"/>
          </p:nvPr>
        </p:nvSpPr>
        <p:spPr>
          <a:xfrm>
            <a:off x="6193370" y="2638641"/>
            <a:ext cx="5389033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16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os objetos">
  <p:cSld name="2_Dos objeto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8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8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69" name="Google Shape;69;p98"/>
          <p:cNvSpPr txBox="1">
            <a:spLocks noGrp="1"/>
          </p:cNvSpPr>
          <p:nvPr>
            <p:ph type="body" idx="2"/>
          </p:nvPr>
        </p:nvSpPr>
        <p:spPr>
          <a:xfrm>
            <a:off x="3405879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0" name="Google Shape;70;p98"/>
          <p:cNvSpPr txBox="1">
            <a:spLocks noGrp="1"/>
          </p:cNvSpPr>
          <p:nvPr>
            <p:ph type="body" idx="3"/>
          </p:nvPr>
        </p:nvSpPr>
        <p:spPr>
          <a:xfrm>
            <a:off x="6212420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1" name="Google Shape;71;p98"/>
          <p:cNvSpPr txBox="1">
            <a:spLocks noGrp="1"/>
          </p:cNvSpPr>
          <p:nvPr>
            <p:ph type="body" idx="4"/>
          </p:nvPr>
        </p:nvSpPr>
        <p:spPr>
          <a:xfrm>
            <a:off x="9014759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94181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Sólo el títul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9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15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ólo el título">
  <p:cSld name="1_Sólo el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0"/>
          <p:cNvSpPr/>
          <p:nvPr/>
        </p:nvSpPr>
        <p:spPr>
          <a:xfrm>
            <a:off x="-1" y="644205"/>
            <a:ext cx="12192001" cy="599027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0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1255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1"/>
          <p:cNvSpPr txBox="1">
            <a:spLocks noGrp="1"/>
          </p:cNvSpPr>
          <p:nvPr>
            <p:ph type="title"/>
          </p:nvPr>
        </p:nvSpPr>
        <p:spPr>
          <a:xfrm>
            <a:off x="609604" y="843052"/>
            <a:ext cx="4011084" cy="89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1"/>
          <p:cNvSpPr txBox="1">
            <a:spLocks noGrp="1"/>
          </p:cNvSpPr>
          <p:nvPr>
            <p:ph type="body" idx="1"/>
          </p:nvPr>
        </p:nvSpPr>
        <p:spPr>
          <a:xfrm>
            <a:off x="4766733" y="864948"/>
            <a:ext cx="6815667" cy="55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80" name="Google Shape;80;p101"/>
          <p:cNvSpPr txBox="1">
            <a:spLocks noGrp="1"/>
          </p:cNvSpPr>
          <p:nvPr>
            <p:ph type="body" idx="2"/>
          </p:nvPr>
        </p:nvSpPr>
        <p:spPr>
          <a:xfrm>
            <a:off x="609604" y="1968178"/>
            <a:ext cx="4011084" cy="44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8991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2"/>
          <p:cNvSpPr txBox="1">
            <a:spLocks noGrp="1"/>
          </p:cNvSpPr>
          <p:nvPr>
            <p:ph type="title"/>
          </p:nvPr>
        </p:nvSpPr>
        <p:spPr>
          <a:xfrm>
            <a:off x="2389718" y="501958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2"/>
          <p:cNvSpPr>
            <a:spLocks noGrp="1"/>
          </p:cNvSpPr>
          <p:nvPr>
            <p:ph type="pic" idx="2"/>
          </p:nvPr>
        </p:nvSpPr>
        <p:spPr>
          <a:xfrm>
            <a:off x="2389718" y="83175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2"/>
          <p:cNvSpPr txBox="1">
            <a:spLocks noGrp="1"/>
          </p:cNvSpPr>
          <p:nvPr>
            <p:ph type="body" idx="1"/>
          </p:nvPr>
        </p:nvSpPr>
        <p:spPr>
          <a:xfrm>
            <a:off x="2389718" y="5586320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6297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3"/>
          <p:cNvSpPr>
            <a:spLocks noGrp="1"/>
          </p:cNvSpPr>
          <p:nvPr>
            <p:ph type="pic" idx="2"/>
          </p:nvPr>
        </p:nvSpPr>
        <p:spPr>
          <a:xfrm>
            <a:off x="3" y="629920"/>
            <a:ext cx="12192000" cy="59740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2869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4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5388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Diapositiva de título">
  <p:cSld name="8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ctrTitle"/>
          </p:nvPr>
        </p:nvSpPr>
        <p:spPr>
          <a:xfrm>
            <a:off x="556016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subTitle" idx="1"/>
          </p:nvPr>
        </p:nvSpPr>
        <p:spPr>
          <a:xfrm>
            <a:off x="55601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5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934732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apositiva de título">
  <p:cSld name="7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6"/>
          <p:cNvSpPr txBox="1">
            <a:spLocks noGrp="1"/>
          </p:cNvSpPr>
          <p:nvPr>
            <p:ph type="ctrTitle"/>
          </p:nvPr>
        </p:nvSpPr>
        <p:spPr>
          <a:xfrm>
            <a:off x="576347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6"/>
          <p:cNvSpPr txBox="1">
            <a:spLocks noGrp="1"/>
          </p:cNvSpPr>
          <p:nvPr>
            <p:ph type="subTitle" idx="1"/>
          </p:nvPr>
        </p:nvSpPr>
        <p:spPr>
          <a:xfrm>
            <a:off x="576347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06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696478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0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F9D10E"/>
              </a:buClr>
              <a:buSzPts val="2000"/>
              <a:buFont typeface="Noto Sans Symbols"/>
              <a:buChar char="🗹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6927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8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300"/>
              <a:buFont typeface="Arial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7065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8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iapositiva de título">
  <p:cSld name="1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0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0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10"/>
          <p:cNvSpPr>
            <a:spLocks noGrp="1"/>
          </p:cNvSpPr>
          <p:nvPr>
            <p:ph type="pic" idx="2"/>
          </p:nvPr>
        </p:nvSpPr>
        <p:spPr>
          <a:xfrm>
            <a:off x="1" y="0"/>
            <a:ext cx="6096001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58574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Diapositiva de título">
  <p:cSld name="1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1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1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1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773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AE6051-32FF-9B4B-B8E1-B1B809D7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767A2E-8FAB-BB4B-9A05-16815718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5AF6E-72CF-6D4E-A31F-6F9A57F7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971B2-3F52-F143-AE1E-D26F210EE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6141150"/>
            <a:ext cx="6095999" cy="74683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DAD3721-C012-4354-956D-A9ADF6967E36}"/>
              </a:ext>
            </a:extLst>
          </p:cNvPr>
          <p:cNvSpPr txBox="1"/>
          <p:nvPr userDrawn="1"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281248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721" r:id="rId14"/>
    <p:sldLayoutId id="214748372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4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78288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FFF5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4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13" name="Google Shape;13;p84"/>
          <p:cNvSpPr txBox="1"/>
          <p:nvPr/>
        </p:nvSpPr>
        <p:spPr>
          <a:xfrm>
            <a:off x="11376743" y="6611566"/>
            <a:ext cx="815258" cy="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1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1822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2" r:id="rId8"/>
    <p:sldLayoutId id="2147483703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F69719F-B238-4C94-B7CC-04B6CD85301D}"/>
              </a:ext>
            </a:extLst>
          </p:cNvPr>
          <p:cNvSpPr txBox="1">
            <a:spLocks/>
          </p:cNvSpPr>
          <p:nvPr/>
        </p:nvSpPr>
        <p:spPr>
          <a:xfrm>
            <a:off x="2090254" y="603250"/>
            <a:ext cx="5946058" cy="46918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Diplomado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 Analítica y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Ciencia de Datos</a:t>
            </a:r>
          </a:p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Dr. Juan Baldemar Garza Villegas</a:t>
            </a:r>
            <a:endParaRPr lang="es-MX" sz="2000" b="1" dirty="0">
              <a:solidFill>
                <a:srgbClr val="9E1F6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juan.garza@udem.edu</a:t>
            </a:r>
            <a:b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0;p26">
            <a:extLst>
              <a:ext uri="{FF2B5EF4-FFF2-40B4-BE49-F238E27FC236}">
                <a16:creationId xmlns:a16="http://schemas.microsoft.com/office/drawing/2014/main" id="{03E97F3D-E088-4133-A30D-5E00CC9CDF48}"/>
              </a:ext>
            </a:extLst>
          </p:cNvPr>
          <p:cNvSpPr txBox="1">
            <a:spLocks/>
          </p:cNvSpPr>
          <p:nvPr/>
        </p:nvSpPr>
        <p:spPr>
          <a:xfrm>
            <a:off x="609851" y="1487987"/>
            <a:ext cx="10375900" cy="3139537"/>
          </a:xfrm>
          <a:prstGeom prst="rect">
            <a:avLst/>
          </a:prstGeom>
        </p:spPr>
        <p:txBody>
          <a:bodyPr spcFirstLastPara="1" vert="horz" lIns="34285" tIns="17138" rIns="34285" bIns="17138" rtlCol="0">
            <a:normAutofit fontScale="92500" lnSpcReduction="10000"/>
          </a:bodyPr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588">
              <a:spcBef>
                <a:spcPts val="0"/>
              </a:spcBef>
              <a:buSzPts val="3200"/>
              <a:defRPr/>
            </a:pPr>
            <a:r>
              <a:rPr lang="es-MX" sz="3000" dirty="0" err="1">
                <a:solidFill>
                  <a:schemeClr val="bg2">
                    <a:lumMod val="10000"/>
                  </a:schemeClr>
                </a:solidFill>
              </a:rPr>
              <a:t>Practitioner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 </a:t>
            </a:r>
            <a:r>
              <a:rPr lang="es-MX" sz="3000" i="1" dirty="0">
                <a:solidFill>
                  <a:schemeClr val="bg2">
                    <a:lumMod val="10000"/>
                  </a:schemeClr>
                </a:solidFill>
              </a:rPr>
              <a:t>Y académico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Interesado en la Mejora Continua, Ciencia de Datos, Tecnología, Estrategia  4.0 y…..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MEJORES EMPRESAS…</a:t>
            </a:r>
          </a:p>
        </p:txBody>
      </p:sp>
    </p:spTree>
    <p:extLst>
      <p:ext uri="{BB962C8B-B14F-4D97-AF65-F5344CB8AC3E}">
        <p14:creationId xmlns:p14="http://schemas.microsoft.com/office/powerpoint/2010/main" val="237431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22B0-BB6D-7492-B718-4F1EA979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F6691F7-383A-AEC4-DE20-4288BE12D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es-MX"/>
          </a:p>
        </p:txBody>
      </p:sp>
      <p:sp>
        <p:nvSpPr>
          <p:cNvPr id="44" name="Line 5">
            <a:extLst>
              <a:ext uri="{FF2B5EF4-FFF2-40B4-BE49-F238E27FC236}">
                <a16:creationId xmlns:a16="http://schemas.microsoft.com/office/drawing/2014/main" id="{29E1A0C5-273B-B952-B6FE-F85C0F7BE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EBD07369-1641-5479-51AD-E122FE090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61E67829-0C1D-F958-F8A5-BB5716B8786B}"/>
              </a:ext>
            </a:extLst>
          </p:cNvPr>
          <p:cNvSpPr/>
          <p:nvPr/>
        </p:nvSpPr>
        <p:spPr>
          <a:xfrm>
            <a:off x="4578032" y="-1690"/>
            <a:ext cx="7635241" cy="6859690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EC00"/>
          </a:solidFill>
          <a:ln>
            <a:noFill/>
          </a:ln>
        </p:spPr>
        <p:txBody>
          <a:bodyPr/>
          <a:lstStyle/>
          <a:p>
            <a:pPr defTabSz="914217"/>
            <a:endParaRPr lang="en-US">
              <a:solidFill>
                <a:srgbClr val="91969B"/>
              </a:solidFill>
              <a:latin typeface="Calibri Light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6F7FC07C-D82A-C55D-584B-983AF1F095D7}"/>
              </a:ext>
            </a:extLst>
          </p:cNvPr>
          <p:cNvSpPr txBox="1"/>
          <p:nvPr/>
        </p:nvSpPr>
        <p:spPr>
          <a:xfrm>
            <a:off x="1845269" y="1293730"/>
            <a:ext cx="222849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900" dirty="0">
                <a:solidFill>
                  <a:schemeClr val="bg1">
                    <a:lumMod val="50000"/>
                  </a:schemeClr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5FBE13A9-2584-78D1-41A1-9CF1C9A04A8E}"/>
              </a:ext>
            </a:extLst>
          </p:cNvPr>
          <p:cNvSpPr txBox="1"/>
          <p:nvPr/>
        </p:nvSpPr>
        <p:spPr>
          <a:xfrm>
            <a:off x="7200900" y="2696561"/>
            <a:ext cx="464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2">
                    <a:lumMod val="10000"/>
                  </a:schemeClr>
                </a:solidFill>
                <a:cs typeface="Calibri"/>
              </a:rPr>
              <a:t>ML Ing. Petrolera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DD6650-93A2-A8EA-BCCF-2D3EC72563DC}"/>
              </a:ext>
            </a:extLst>
          </p:cNvPr>
          <p:cNvSpPr txBox="1"/>
          <p:nvPr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338280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F8826D1-FF17-C58B-66A8-C0F8290744C3}"/>
              </a:ext>
            </a:extLst>
          </p:cNvPr>
          <p:cNvSpPr txBox="1"/>
          <p:nvPr/>
        </p:nvSpPr>
        <p:spPr>
          <a:xfrm>
            <a:off x="741871" y="1442389"/>
            <a:ext cx="70794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Agrupación de pozos con características similares.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Pronósticos de producción.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Detección de anomalías.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Tiempo de viaje de la onda de compresión.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Gasto de aceite en pruebas de flujo.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Tasa de penetración de perforación.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Recuperación final estimada de gas.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Presión de punto de burbuja.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Selección del método de recuperación mejorada de petróleo.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Radio de drene del yacimiento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1F9F7F-F569-D6B4-E675-BD0D5714065D}"/>
              </a:ext>
            </a:extLst>
          </p:cNvPr>
          <p:cNvSpPr/>
          <p:nvPr/>
        </p:nvSpPr>
        <p:spPr>
          <a:xfrm>
            <a:off x="168326" y="241388"/>
            <a:ext cx="11487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Aplicación de IA en Industria Petrolera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671FD6-6529-90E3-8177-7B2F6762B4FD}"/>
              </a:ext>
            </a:extLst>
          </p:cNvPr>
          <p:cNvSpPr txBox="1"/>
          <p:nvPr/>
        </p:nvSpPr>
        <p:spPr>
          <a:xfrm>
            <a:off x="352344" y="4039393"/>
            <a:ext cx="11487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Predice Tiempo de viaje de la onda de compresión, </a:t>
            </a:r>
          </a:p>
          <a:p>
            <a:r>
              <a:rPr lang="es-MX" sz="1400" dirty="0"/>
              <a:t>Teniendo como datos de entrada: profundidad, resistividad, rayos gamma, porosidad efectiva y densidad aparente.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6F7E3FD-898B-206B-502E-387D850EB129}"/>
              </a:ext>
            </a:extLst>
          </p:cNvPr>
          <p:cNvSpPr txBox="1"/>
          <p:nvPr/>
        </p:nvSpPr>
        <p:spPr>
          <a:xfrm>
            <a:off x="352344" y="4712947"/>
            <a:ext cx="113032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Predice el radio de drene de un yacimiento, </a:t>
            </a:r>
          </a:p>
          <a:p>
            <a:r>
              <a:rPr lang="es-MX" sz="1400" dirty="0"/>
              <a:t>teniendo como datos de </a:t>
            </a:r>
            <a:r>
              <a:rPr lang="es-MX" sz="1400" dirty="0" err="1"/>
              <a:t>entrada:espesor</a:t>
            </a:r>
            <a:r>
              <a:rPr lang="es-MX" sz="1400" dirty="0"/>
              <a:t> del acuífero, permeabilidad horizontal, movilidad, espesor de la zona de aceite, radio de </a:t>
            </a:r>
            <a:r>
              <a:rPr lang="es-MX" sz="1400" dirty="0" err="1"/>
              <a:t>penetracióny</a:t>
            </a:r>
            <a:r>
              <a:rPr lang="es-MX" sz="1400" dirty="0"/>
              <a:t> radio de drene.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0E8E76-7C03-6C03-9B1C-8539EEEECA3B}"/>
              </a:ext>
            </a:extLst>
          </p:cNvPr>
          <p:cNvSpPr txBox="1"/>
          <p:nvPr/>
        </p:nvSpPr>
        <p:spPr>
          <a:xfrm>
            <a:off x="352344" y="5547306"/>
            <a:ext cx="112185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Agrupa pozos en </a:t>
            </a:r>
            <a:r>
              <a:rPr lang="es-MX" sz="1400" dirty="0" err="1"/>
              <a:t>clusters</a:t>
            </a:r>
            <a:r>
              <a:rPr lang="es-MX" sz="1400" dirty="0"/>
              <a:t> con características geológicas similares, teniendo como datos de entrada: grados API, densidad relativa, resistividad, saturación de agua, porosidad*espesor, contenido orgánico total y profundidad vertical</a:t>
            </a:r>
          </a:p>
        </p:txBody>
      </p:sp>
    </p:spTree>
    <p:extLst>
      <p:ext uri="{BB962C8B-B14F-4D97-AF65-F5344CB8AC3E}">
        <p14:creationId xmlns:p14="http://schemas.microsoft.com/office/powerpoint/2010/main" val="324115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"/>
          <p:cNvSpPr txBox="1"/>
          <p:nvPr/>
        </p:nvSpPr>
        <p:spPr>
          <a:xfrm>
            <a:off x="7170622" y="2036385"/>
            <a:ext cx="4272787" cy="93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rgbClr val="000000"/>
              </a:buClr>
            </a:pPr>
            <a:r>
              <a:rPr lang="it-IT" sz="5500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 GRACIAS !</a:t>
            </a:r>
            <a:endParaRPr sz="5500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4102</TotalTime>
  <Words>241</Words>
  <Application>Microsoft Office PowerPoint</Application>
  <PresentationFormat>Panorámica</PresentationFormat>
  <Paragraphs>36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Noto Sans Symbols</vt:lpstr>
      <vt:lpstr>Roboto Light</vt:lpstr>
      <vt:lpstr>Verdana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JBGV</dc:creator>
  <cp:lastModifiedBy>Juan Baldemar Garza Villegas</cp:lastModifiedBy>
  <cp:revision>364</cp:revision>
  <cp:lastPrinted>2020-10-05T21:27:12Z</cp:lastPrinted>
  <dcterms:created xsi:type="dcterms:W3CDTF">2020-01-22T17:21:41Z</dcterms:created>
  <dcterms:modified xsi:type="dcterms:W3CDTF">2025-11-13T00:15:36Z</dcterms:modified>
</cp:coreProperties>
</file>