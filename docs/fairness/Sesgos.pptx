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3" r:id="rId2"/>
  </p:sldMasterIdLst>
  <p:notesMasterIdLst>
    <p:notesMasterId r:id="rId12"/>
  </p:notesMasterIdLst>
  <p:handoutMasterIdLst>
    <p:handoutMasterId r:id="rId13"/>
  </p:handoutMasterIdLst>
  <p:sldIdLst>
    <p:sldId id="18634" r:id="rId3"/>
    <p:sldId id="256" r:id="rId4"/>
    <p:sldId id="2513" r:id="rId5"/>
    <p:sldId id="18451" r:id="rId6"/>
    <p:sldId id="18453" r:id="rId7"/>
    <p:sldId id="18449" r:id="rId8"/>
    <p:sldId id="18455" r:id="rId9"/>
    <p:sldId id="18454" r:id="rId10"/>
    <p:sldId id="18635" r:id="rId11"/>
  </p:sldIdLst>
  <p:sldSz cx="12192000" cy="6858000"/>
  <p:notesSz cx="7315200" cy="96012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8">
          <p15:clr>
            <a:srgbClr val="A4A3A4"/>
          </p15:clr>
        </p15:guide>
        <p15:guide id="3" pos="619" userDrawn="1">
          <p15:clr>
            <a:srgbClr val="A4A3A4"/>
          </p15:clr>
        </p15:guide>
        <p15:guide id="4" pos="72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D2EC"/>
    <a:srgbClr val="FFEC00"/>
    <a:srgbClr val="F5F1E8"/>
    <a:srgbClr val="FFFF66"/>
    <a:srgbClr val="D7E7F5"/>
    <a:srgbClr val="FFF7E1"/>
    <a:srgbClr val="50FF64"/>
    <a:srgbClr val="7030A0"/>
    <a:srgbClr val="50FF32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22" autoAdjust="0"/>
    <p:restoredTop sz="70673" autoAdjust="0"/>
  </p:normalViewPr>
  <p:slideViewPr>
    <p:cSldViewPr snapToGrid="0" snapToObjects="1">
      <p:cViewPr varScale="1">
        <p:scale>
          <a:sx n="88" d="100"/>
          <a:sy n="88" d="100"/>
        </p:scale>
        <p:origin x="555" y="270"/>
      </p:cViewPr>
      <p:guideLst>
        <p:guide orient="horz" pos="2160"/>
        <p:guide pos="3858"/>
        <p:guide pos="619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46" d="100"/>
          <a:sy n="46" d="100"/>
        </p:scale>
        <p:origin x="2619" y="7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8955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1727"/>
          </a:xfrm>
          <a:prstGeom prst="rect">
            <a:avLst/>
          </a:prstGeom>
        </p:spPr>
        <p:txBody>
          <a:bodyPr vert="horz" lIns="96652" tIns="48327" rIns="96652" bIns="48327" rtlCol="0"/>
          <a:lstStyle>
            <a:lvl1pPr algn="l">
              <a:defRPr sz="13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6652" tIns="48327" rIns="96652" bIns="48327" rtlCol="0"/>
          <a:lstStyle>
            <a:lvl1pPr algn="r">
              <a:defRPr sz="1300"/>
            </a:lvl1pPr>
          </a:lstStyle>
          <a:p>
            <a:fld id="{EDE75EBD-B9AC-724B-AD2A-A4A15581C23C}" type="datetimeFigureOut">
              <a:rPr lang="es-MX" smtClean="0"/>
              <a:t>13/11/2025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2" tIns="48327" rIns="96652" bIns="48327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1" y="4620578"/>
            <a:ext cx="5852160" cy="3780474"/>
          </a:xfrm>
          <a:prstGeom prst="rect">
            <a:avLst/>
          </a:prstGeom>
        </p:spPr>
        <p:txBody>
          <a:bodyPr vert="horz" lIns="96652" tIns="48327" rIns="96652" bIns="48327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1" y="9119475"/>
            <a:ext cx="3169920" cy="481726"/>
          </a:xfrm>
          <a:prstGeom prst="rect">
            <a:avLst/>
          </a:prstGeom>
        </p:spPr>
        <p:txBody>
          <a:bodyPr vert="horz" lIns="96652" tIns="48327" rIns="96652" bIns="48327" rtlCol="0" anchor="b"/>
          <a:lstStyle>
            <a:lvl1pPr algn="l">
              <a:defRPr sz="13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2" tIns="48327" rIns="96652" bIns="48327" rtlCol="0" anchor="b"/>
          <a:lstStyle>
            <a:lvl1pPr algn="r">
              <a:defRPr sz="1300"/>
            </a:lvl1pPr>
          </a:lstStyle>
          <a:p>
            <a:fld id="{98894399-53F9-9442-B0D8-8FD0263738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29530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t-IT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7308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9540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962F1-4B08-EC4C-A6BE-F097EC6E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3C524-75CA-8249-819F-B0A7092B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418C14-FFCF-C44B-9F30-4700E04A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163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12">
            <a:extLst>
              <a:ext uri="{FF2B5EF4-FFF2-40B4-BE49-F238E27FC236}">
                <a16:creationId xmlns:a16="http://schemas.microsoft.com/office/drawing/2014/main" id="{E1019451-1A6D-D846-8CFD-482E64F66F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34106"/>
            <a:ext cx="6095999" cy="746830"/>
          </a:xfrm>
          <a:prstGeom prst="rect">
            <a:avLst/>
          </a:prstGeom>
        </p:spPr>
      </p:pic>
      <p:pic>
        <p:nvPicPr>
          <p:cNvPr id="9" name="Picture 8" descr="Sin título-2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7" b="24410"/>
          <a:stretch/>
        </p:blipFill>
        <p:spPr>
          <a:xfrm>
            <a:off x="6223001" y="764498"/>
            <a:ext cx="5495924" cy="5471410"/>
          </a:xfrm>
          <a:prstGeom prst="rect">
            <a:avLst/>
          </a:prstGeom>
        </p:spPr>
      </p:pic>
      <p:sp>
        <p:nvSpPr>
          <p:cNvPr id="3" name="Marcador de texto 2"/>
          <p:cNvSpPr>
            <a:spLocks noGrp="1"/>
          </p:cNvSpPr>
          <p:nvPr>
            <p:ph type="body" sz="quarter" idx="13"/>
          </p:nvPr>
        </p:nvSpPr>
        <p:spPr>
          <a:xfrm>
            <a:off x="838200" y="1687958"/>
            <a:ext cx="5257801" cy="274320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FontTx/>
              <a:buNone/>
              <a:defRPr sz="32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14400" indent="0" algn="ctr">
              <a:buFontTx/>
              <a:buNone/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71600" indent="0" algn="ctr">
              <a:buFontTx/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28800" indent="0" algn="ctr">
              <a:buFontTx/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7" name="Rectángulo 1"/>
          <p:cNvSpPr/>
          <p:nvPr userDrawn="1"/>
        </p:nvSpPr>
        <p:spPr>
          <a:xfrm>
            <a:off x="0" y="0"/>
            <a:ext cx="12192000" cy="6865945"/>
          </a:xfrm>
          <a:prstGeom prst="rect">
            <a:avLst/>
          </a:prstGeom>
          <a:solidFill>
            <a:srgbClr val="36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7404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EB3B922-7AB7-5745-BA65-F7802B887ADB}"/>
              </a:ext>
            </a:extLst>
          </p:cNvPr>
          <p:cNvSpPr txBox="1">
            <a:spLocks/>
          </p:cNvSpPr>
          <p:nvPr userDrawn="1"/>
        </p:nvSpPr>
        <p:spPr>
          <a:xfrm>
            <a:off x="838200" y="24884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rgbClr val="363636"/>
                </a:solidFill>
                <a:latin typeface="Verdana"/>
                <a:cs typeface="Verdana"/>
              </a:rPr>
              <a:t>Capítulo</a:t>
            </a:r>
            <a:r>
              <a:rPr lang="es-MX" b="1" baseline="0" dirty="0">
                <a:solidFill>
                  <a:srgbClr val="363636"/>
                </a:solidFill>
                <a:latin typeface="Verdana"/>
                <a:cs typeface="Verdana"/>
              </a:rPr>
              <a:t> </a:t>
            </a:r>
            <a:r>
              <a:rPr lang="es-MX" b="0" baseline="0" dirty="0">
                <a:solidFill>
                  <a:srgbClr val="363636"/>
                </a:solidFill>
                <a:latin typeface="Verdana"/>
                <a:cs typeface="Verdana"/>
              </a:rPr>
              <a:t>No. 1</a:t>
            </a:r>
            <a:endParaRPr lang="es-MX" b="1" dirty="0">
              <a:solidFill>
                <a:srgbClr val="363636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44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5EB3B922-7AB7-5745-BA65-F7802B887ADB}"/>
              </a:ext>
            </a:extLst>
          </p:cNvPr>
          <p:cNvSpPr txBox="1">
            <a:spLocks/>
          </p:cNvSpPr>
          <p:nvPr userDrawn="1"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rgbClr val="363636"/>
                </a:solidFill>
                <a:latin typeface="Verdana"/>
                <a:cs typeface="Verdana"/>
              </a:rPr>
              <a:t>Titulares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990600" y="1858963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XXXXX</a:t>
            </a:r>
          </a:p>
        </p:txBody>
      </p:sp>
    </p:spTree>
    <p:extLst>
      <p:ext uri="{BB962C8B-B14F-4D97-AF65-F5344CB8AC3E}">
        <p14:creationId xmlns:p14="http://schemas.microsoft.com/office/powerpoint/2010/main" val="298180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4"/>
          <p:cNvSpPr/>
          <p:nvPr userDrawn="1"/>
        </p:nvSpPr>
        <p:spPr>
          <a:xfrm>
            <a:off x="0" y="0"/>
            <a:ext cx="12192000" cy="6865945"/>
          </a:xfrm>
          <a:prstGeom prst="rect">
            <a:avLst/>
          </a:prstGeom>
          <a:solidFill>
            <a:srgbClr val="36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1" name="Picture 10" descr="UDE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25" y="2041768"/>
            <a:ext cx="2905126" cy="2506418"/>
          </a:xfrm>
          <a:prstGeom prst="rect">
            <a:avLst/>
          </a:prstGeom>
        </p:spPr>
      </p:pic>
      <p:sp>
        <p:nvSpPr>
          <p:cNvPr id="12" name="CuadroTexto 7">
            <a:extLst>
              <a:ext uri="{FF2B5EF4-FFF2-40B4-BE49-F238E27FC236}">
                <a16:creationId xmlns:a16="http://schemas.microsoft.com/office/drawing/2014/main" id="{88B5A606-713B-9D4A-96B1-9D5B42AB5318}"/>
              </a:ext>
            </a:extLst>
          </p:cNvPr>
          <p:cNvSpPr txBox="1"/>
          <p:nvPr userDrawn="1"/>
        </p:nvSpPr>
        <p:spPr>
          <a:xfrm>
            <a:off x="5000289" y="5423718"/>
            <a:ext cx="2149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solidFill>
                  <a:srgbClr val="F5F1E8"/>
                </a:solidFill>
                <a:latin typeface="Verdana"/>
                <a:cs typeface="Verdana"/>
              </a:rPr>
              <a:t>udem.edu.mx</a:t>
            </a:r>
          </a:p>
        </p:txBody>
      </p:sp>
    </p:spTree>
    <p:extLst>
      <p:ext uri="{BB962C8B-B14F-4D97-AF65-F5344CB8AC3E}">
        <p14:creationId xmlns:p14="http://schemas.microsoft.com/office/powerpoint/2010/main" val="398832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24A39-B76D-1941-B212-22BF79F0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837359-156A-5441-B1CD-509DC4A1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2F36AD-DDC1-044B-A739-2F4BC50D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558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37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145AA-F2FD-ED44-9443-2B5DEB25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5B942C-AD4C-FB4F-8556-0AC2CC97B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1030CA-32CD-0546-A5B4-1DF24DAB8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0C099B-D99E-5841-B866-F1664D8A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48C64B-093C-1144-AA66-97AE53A7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92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4AF13-E305-CA4D-B1D9-64611933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D9D00-CF0E-0E4D-A88E-643AB22AA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ABC3F4-07D4-934E-9509-DF410DD60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B8C53A-93CC-B34A-9FE9-A8994589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0C01EB-6C5F-7F4F-9A3A-BE5813B5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600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ABDEA-A126-0643-837C-F268ABCC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8A7756-6623-FA45-98DE-3A21F2A15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5899DA-FBEB-5F44-944D-18C4FA45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3E0C3A-1175-2E46-9EFA-72FD2833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507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817306-A0FA-B349-B9D9-BCAFAED7B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4227AA-3AFB-9E40-928F-68B154E18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C67C78-0611-C645-836A-40E9AAC7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FEACF0-BF48-5444-8C72-1BA62F2E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9287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3B2BE8A-C619-48C4-A966-09BD439D075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63594" y="303603"/>
            <a:ext cx="1654606" cy="71537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71852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Roboto Light" charset="0"/>
            </a:endParaRPr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214865" cy="6858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38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Diapositiva de título">
  <p:cSld name="12_Diapositiva de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5"/>
          <p:cNvSpPr txBox="1">
            <a:spLocks noGrp="1"/>
          </p:cNvSpPr>
          <p:nvPr>
            <p:ph type="ctrTitle"/>
          </p:nvPr>
        </p:nvSpPr>
        <p:spPr>
          <a:xfrm>
            <a:off x="4471331" y="959155"/>
            <a:ext cx="7040280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5"/>
          <p:cNvSpPr txBox="1">
            <a:spLocks noGrp="1"/>
          </p:cNvSpPr>
          <p:nvPr>
            <p:ph type="subTitle" idx="1"/>
          </p:nvPr>
        </p:nvSpPr>
        <p:spPr>
          <a:xfrm>
            <a:off x="4471331" y="1937924"/>
            <a:ext cx="7040280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95"/>
          <p:cNvSpPr>
            <a:spLocks noGrp="1"/>
          </p:cNvSpPr>
          <p:nvPr>
            <p:ph type="pic" idx="2"/>
          </p:nvPr>
        </p:nvSpPr>
        <p:spPr>
          <a:xfrm>
            <a:off x="2" y="0"/>
            <a:ext cx="406399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50196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 type="title">
  <p:cSld name="1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5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5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6448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>
  <p:cSld name="1_Dos objeto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6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6"/>
          <p:cNvSpPr txBox="1">
            <a:spLocks noGrp="1"/>
          </p:cNvSpPr>
          <p:nvPr>
            <p:ph type="body" idx="1"/>
          </p:nvPr>
        </p:nvSpPr>
        <p:spPr>
          <a:xfrm>
            <a:off x="609601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0" name="Google Shape;20;p86"/>
          <p:cNvSpPr txBox="1">
            <a:spLocks noGrp="1"/>
          </p:cNvSpPr>
          <p:nvPr>
            <p:ph type="body" idx="2"/>
          </p:nvPr>
        </p:nvSpPr>
        <p:spPr>
          <a:xfrm>
            <a:off x="4319465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1" name="Google Shape;21;p86"/>
          <p:cNvSpPr txBox="1">
            <a:spLocks noGrp="1"/>
          </p:cNvSpPr>
          <p:nvPr>
            <p:ph type="body" idx="3"/>
          </p:nvPr>
        </p:nvSpPr>
        <p:spPr>
          <a:xfrm>
            <a:off x="8038337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959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 type="obj">
  <p:cSld name="1_Título y objeto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7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7918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de título">
  <p:cSld name="2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8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8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7179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apositiva de título">
  <p:cSld name="3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9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9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6797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apositiva de título">
  <p:cSld name="4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0"/>
          <p:cNvSpPr txBox="1">
            <a:spLocks noGrp="1"/>
          </p:cNvSpPr>
          <p:nvPr>
            <p:ph type="ctrTitle"/>
          </p:nvPr>
        </p:nvSpPr>
        <p:spPr>
          <a:xfrm>
            <a:off x="6693935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0"/>
          <p:cNvSpPr txBox="1">
            <a:spLocks noGrp="1"/>
          </p:cNvSpPr>
          <p:nvPr>
            <p:ph type="subTitle" idx="1"/>
          </p:nvPr>
        </p:nvSpPr>
        <p:spPr>
          <a:xfrm>
            <a:off x="669393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0"/>
          <p:cNvSpPr txBox="1"/>
          <p:nvPr/>
        </p:nvSpPr>
        <p:spPr>
          <a:xfrm>
            <a:off x="1" y="6642342"/>
            <a:ext cx="2814316" cy="200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© DERECHOS RESERVADOS UNIVERSIDAD DE MONTERREY</a:t>
            </a:r>
            <a:endParaRPr sz="1800"/>
          </a:p>
        </p:txBody>
      </p:sp>
      <p:sp>
        <p:nvSpPr>
          <p:cNvPr id="35" name="Google Shape;35;p90"/>
          <p:cNvSpPr>
            <a:spLocks noGrp="1"/>
          </p:cNvSpPr>
          <p:nvPr>
            <p:ph type="pic" idx="2"/>
          </p:nvPr>
        </p:nvSpPr>
        <p:spPr>
          <a:xfrm>
            <a:off x="0" y="0"/>
            <a:ext cx="61074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70715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Diapositiva de título">
  <p:cSld name="5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1"/>
          <p:cNvSpPr txBox="1">
            <a:spLocks noGrp="1"/>
          </p:cNvSpPr>
          <p:nvPr>
            <p:ph type="ctrTitle"/>
          </p:nvPr>
        </p:nvSpPr>
        <p:spPr>
          <a:xfrm>
            <a:off x="6693935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1"/>
          <p:cNvSpPr txBox="1">
            <a:spLocks noGrp="1"/>
          </p:cNvSpPr>
          <p:nvPr>
            <p:ph type="subTitle" idx="1"/>
          </p:nvPr>
        </p:nvSpPr>
        <p:spPr>
          <a:xfrm>
            <a:off x="669393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91"/>
          <p:cNvSpPr>
            <a:spLocks noGrp="1"/>
          </p:cNvSpPr>
          <p:nvPr>
            <p:ph type="pic" idx="2"/>
          </p:nvPr>
        </p:nvSpPr>
        <p:spPr>
          <a:xfrm>
            <a:off x="0" y="0"/>
            <a:ext cx="6117595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40496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Diapositiva de título">
  <p:cSld name="14_Diapositiva de título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3"/>
          <p:cNvSpPr txBox="1">
            <a:spLocks noGrp="1"/>
          </p:cNvSpPr>
          <p:nvPr>
            <p:ph type="ctrTitle"/>
          </p:nvPr>
        </p:nvSpPr>
        <p:spPr>
          <a:xfrm>
            <a:off x="6385949" y="959155"/>
            <a:ext cx="5125662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3"/>
          <p:cNvSpPr txBox="1">
            <a:spLocks noGrp="1"/>
          </p:cNvSpPr>
          <p:nvPr>
            <p:ph type="subTitle" idx="1"/>
          </p:nvPr>
        </p:nvSpPr>
        <p:spPr>
          <a:xfrm>
            <a:off x="6385949" y="1937924"/>
            <a:ext cx="5125662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3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99799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Diapositiva de título">
  <p:cSld name="9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4"/>
          <p:cNvSpPr txBox="1">
            <a:spLocks noGrp="1"/>
          </p:cNvSpPr>
          <p:nvPr>
            <p:ph type="ctrTitle"/>
          </p:nvPr>
        </p:nvSpPr>
        <p:spPr>
          <a:xfrm>
            <a:off x="556024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4"/>
          <p:cNvSpPr txBox="1">
            <a:spLocks noGrp="1"/>
          </p:cNvSpPr>
          <p:nvPr>
            <p:ph type="subTitle" idx="1"/>
          </p:nvPr>
        </p:nvSpPr>
        <p:spPr>
          <a:xfrm>
            <a:off x="556022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4"/>
          <p:cNvSpPr>
            <a:spLocks noGrp="1"/>
          </p:cNvSpPr>
          <p:nvPr>
            <p:ph type="pic" idx="2"/>
          </p:nvPr>
        </p:nvSpPr>
        <p:spPr>
          <a:xfrm>
            <a:off x="6087109" y="0"/>
            <a:ext cx="610489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23797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6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6"/>
          <p:cNvSpPr txBox="1">
            <a:spLocks noGrp="1"/>
          </p:cNvSpPr>
          <p:nvPr>
            <p:ph type="body" idx="1"/>
          </p:nvPr>
        </p:nvSpPr>
        <p:spPr>
          <a:xfrm>
            <a:off x="609600" y="1926975"/>
            <a:ext cx="5384800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59" name="Google Shape;59;p96"/>
          <p:cNvSpPr txBox="1">
            <a:spLocks noGrp="1"/>
          </p:cNvSpPr>
          <p:nvPr>
            <p:ph type="body" idx="2"/>
          </p:nvPr>
        </p:nvSpPr>
        <p:spPr>
          <a:xfrm>
            <a:off x="6197600" y="1926975"/>
            <a:ext cx="5384800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75422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7"/>
          <p:cNvSpPr txBox="1">
            <a:spLocks noGrp="1"/>
          </p:cNvSpPr>
          <p:nvPr>
            <p:ph type="body" idx="1"/>
          </p:nvPr>
        </p:nvSpPr>
        <p:spPr>
          <a:xfrm>
            <a:off x="609600" y="1887842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63" name="Google Shape;63;p97"/>
          <p:cNvSpPr txBox="1">
            <a:spLocks noGrp="1"/>
          </p:cNvSpPr>
          <p:nvPr>
            <p:ph type="body" idx="2"/>
          </p:nvPr>
        </p:nvSpPr>
        <p:spPr>
          <a:xfrm>
            <a:off x="609600" y="2638641"/>
            <a:ext cx="5386917" cy="34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64" name="Google Shape;64;p97"/>
          <p:cNvSpPr txBox="1">
            <a:spLocks noGrp="1"/>
          </p:cNvSpPr>
          <p:nvPr>
            <p:ph type="body" idx="3"/>
          </p:nvPr>
        </p:nvSpPr>
        <p:spPr>
          <a:xfrm>
            <a:off x="6193370" y="1887842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65" name="Google Shape;65;p97"/>
          <p:cNvSpPr txBox="1">
            <a:spLocks noGrp="1"/>
          </p:cNvSpPr>
          <p:nvPr>
            <p:ph type="body" idx="4"/>
          </p:nvPr>
        </p:nvSpPr>
        <p:spPr>
          <a:xfrm>
            <a:off x="6193370" y="2638641"/>
            <a:ext cx="5389033" cy="34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95166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os objetos">
  <p:cSld name="2_Dos objeto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8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8"/>
          <p:cNvSpPr txBox="1">
            <a:spLocks noGrp="1"/>
          </p:cNvSpPr>
          <p:nvPr>
            <p:ph type="body" idx="1"/>
          </p:nvPr>
        </p:nvSpPr>
        <p:spPr>
          <a:xfrm>
            <a:off x="609600" y="1926975"/>
            <a:ext cx="2583968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69" name="Google Shape;69;p98"/>
          <p:cNvSpPr txBox="1">
            <a:spLocks noGrp="1"/>
          </p:cNvSpPr>
          <p:nvPr>
            <p:ph type="body" idx="2"/>
          </p:nvPr>
        </p:nvSpPr>
        <p:spPr>
          <a:xfrm>
            <a:off x="3405879" y="1926975"/>
            <a:ext cx="2583968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70" name="Google Shape;70;p98"/>
          <p:cNvSpPr txBox="1">
            <a:spLocks noGrp="1"/>
          </p:cNvSpPr>
          <p:nvPr>
            <p:ph type="body" idx="3"/>
          </p:nvPr>
        </p:nvSpPr>
        <p:spPr>
          <a:xfrm>
            <a:off x="6212420" y="1926975"/>
            <a:ext cx="257370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71" name="Google Shape;71;p98"/>
          <p:cNvSpPr txBox="1">
            <a:spLocks noGrp="1"/>
          </p:cNvSpPr>
          <p:nvPr>
            <p:ph type="body" idx="4"/>
          </p:nvPr>
        </p:nvSpPr>
        <p:spPr>
          <a:xfrm>
            <a:off x="9014759" y="1926975"/>
            <a:ext cx="257370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94181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Sólo el títul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9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16151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ólo el título">
  <p:cSld name="1_Sólo el títul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0"/>
          <p:cNvSpPr/>
          <p:nvPr/>
        </p:nvSpPr>
        <p:spPr>
          <a:xfrm>
            <a:off x="-1" y="644205"/>
            <a:ext cx="12192001" cy="5990276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0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41255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1"/>
          <p:cNvSpPr txBox="1">
            <a:spLocks noGrp="1"/>
          </p:cNvSpPr>
          <p:nvPr>
            <p:ph type="title"/>
          </p:nvPr>
        </p:nvSpPr>
        <p:spPr>
          <a:xfrm>
            <a:off x="609604" y="843052"/>
            <a:ext cx="4011084" cy="89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Arial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1"/>
          <p:cNvSpPr txBox="1">
            <a:spLocks noGrp="1"/>
          </p:cNvSpPr>
          <p:nvPr>
            <p:ph type="body" idx="1"/>
          </p:nvPr>
        </p:nvSpPr>
        <p:spPr>
          <a:xfrm>
            <a:off x="4766733" y="864948"/>
            <a:ext cx="6815667" cy="55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marL="3200400" lvl="6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marL="3657600" lvl="7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marL="4114800" lvl="8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>
            <a:endParaRPr/>
          </a:p>
        </p:txBody>
      </p:sp>
      <p:sp>
        <p:nvSpPr>
          <p:cNvPr id="80" name="Google Shape;80;p101"/>
          <p:cNvSpPr txBox="1">
            <a:spLocks noGrp="1"/>
          </p:cNvSpPr>
          <p:nvPr>
            <p:ph type="body" idx="2"/>
          </p:nvPr>
        </p:nvSpPr>
        <p:spPr>
          <a:xfrm>
            <a:off x="609604" y="1968178"/>
            <a:ext cx="4011084" cy="445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88991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2"/>
          <p:cNvSpPr txBox="1">
            <a:spLocks noGrp="1"/>
          </p:cNvSpPr>
          <p:nvPr>
            <p:ph type="title"/>
          </p:nvPr>
        </p:nvSpPr>
        <p:spPr>
          <a:xfrm>
            <a:off x="2389718" y="5019582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Arial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2"/>
          <p:cNvSpPr>
            <a:spLocks noGrp="1"/>
          </p:cNvSpPr>
          <p:nvPr>
            <p:ph type="pic" idx="2"/>
          </p:nvPr>
        </p:nvSpPr>
        <p:spPr>
          <a:xfrm>
            <a:off x="2389718" y="83175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02"/>
          <p:cNvSpPr txBox="1">
            <a:spLocks noGrp="1"/>
          </p:cNvSpPr>
          <p:nvPr>
            <p:ph type="body" idx="1"/>
          </p:nvPr>
        </p:nvSpPr>
        <p:spPr>
          <a:xfrm>
            <a:off x="2389718" y="5586320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0629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n con título">
  <p:cSld name="1_Imagen con título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3"/>
          <p:cNvSpPr>
            <a:spLocks noGrp="1"/>
          </p:cNvSpPr>
          <p:nvPr>
            <p:ph type="pic" idx="2"/>
          </p:nvPr>
        </p:nvSpPr>
        <p:spPr>
          <a:xfrm>
            <a:off x="3" y="629920"/>
            <a:ext cx="12192000" cy="597408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22869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4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4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8538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Diapositiva de título">
  <p:cSld name="8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5"/>
          <p:cNvSpPr txBox="1">
            <a:spLocks noGrp="1"/>
          </p:cNvSpPr>
          <p:nvPr>
            <p:ph type="ctrTitle"/>
          </p:nvPr>
        </p:nvSpPr>
        <p:spPr>
          <a:xfrm>
            <a:off x="556016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5"/>
          <p:cNvSpPr txBox="1">
            <a:spLocks noGrp="1"/>
          </p:cNvSpPr>
          <p:nvPr>
            <p:ph type="subTitle" idx="1"/>
          </p:nvPr>
        </p:nvSpPr>
        <p:spPr>
          <a:xfrm>
            <a:off x="55601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05"/>
          <p:cNvSpPr>
            <a:spLocks noGrp="1"/>
          </p:cNvSpPr>
          <p:nvPr>
            <p:ph type="pic" idx="2"/>
          </p:nvPr>
        </p:nvSpPr>
        <p:spPr>
          <a:xfrm>
            <a:off x="6076947" y="0"/>
            <a:ext cx="6115054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934732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Diapositiva de título">
  <p:cSld name="7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6"/>
          <p:cNvSpPr txBox="1">
            <a:spLocks noGrp="1"/>
          </p:cNvSpPr>
          <p:nvPr>
            <p:ph type="ctrTitle"/>
          </p:nvPr>
        </p:nvSpPr>
        <p:spPr>
          <a:xfrm>
            <a:off x="576347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06"/>
          <p:cNvSpPr txBox="1">
            <a:spLocks noGrp="1"/>
          </p:cNvSpPr>
          <p:nvPr>
            <p:ph type="subTitle" idx="1"/>
          </p:nvPr>
        </p:nvSpPr>
        <p:spPr>
          <a:xfrm>
            <a:off x="576347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06"/>
          <p:cNvSpPr>
            <a:spLocks noGrp="1"/>
          </p:cNvSpPr>
          <p:nvPr>
            <p:ph type="pic" idx="2"/>
          </p:nvPr>
        </p:nvSpPr>
        <p:spPr>
          <a:xfrm>
            <a:off x="6076947" y="0"/>
            <a:ext cx="611505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696478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07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F9D10E"/>
              </a:buClr>
              <a:buSzPts val="2000"/>
              <a:buFont typeface="Noto Sans Symbols"/>
              <a:buChar char="🗹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6692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Encabezado de secció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8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300"/>
              <a:buFont typeface="Arial"/>
              <a:buNone/>
              <a:defRPr sz="53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08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marL="457200" lvl="0" indent="-228600" algn="l">
              <a:spcBef>
                <a:spcPts val="540"/>
              </a:spcBef>
              <a:spcAft>
                <a:spcPts val="0"/>
              </a:spcAft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2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27065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28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Diapositiva de título">
  <p:cSld name="11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0"/>
          <p:cNvSpPr txBox="1">
            <a:spLocks noGrp="1"/>
          </p:cNvSpPr>
          <p:nvPr>
            <p:ph type="ctrTitle"/>
          </p:nvPr>
        </p:nvSpPr>
        <p:spPr>
          <a:xfrm>
            <a:off x="6385949" y="959155"/>
            <a:ext cx="5125662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0"/>
          <p:cNvSpPr txBox="1">
            <a:spLocks noGrp="1"/>
          </p:cNvSpPr>
          <p:nvPr>
            <p:ph type="subTitle" idx="1"/>
          </p:nvPr>
        </p:nvSpPr>
        <p:spPr>
          <a:xfrm>
            <a:off x="6385949" y="1937924"/>
            <a:ext cx="5125662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10"/>
          <p:cNvSpPr>
            <a:spLocks noGrp="1"/>
          </p:cNvSpPr>
          <p:nvPr>
            <p:ph type="pic" idx="2"/>
          </p:nvPr>
        </p:nvSpPr>
        <p:spPr>
          <a:xfrm>
            <a:off x="1" y="0"/>
            <a:ext cx="6096001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585742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Diapositiva de título">
  <p:cSld name="13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1"/>
          <p:cNvSpPr txBox="1">
            <a:spLocks noGrp="1"/>
          </p:cNvSpPr>
          <p:nvPr>
            <p:ph type="ctrTitle"/>
          </p:nvPr>
        </p:nvSpPr>
        <p:spPr>
          <a:xfrm>
            <a:off x="4471331" y="959155"/>
            <a:ext cx="7040280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11"/>
          <p:cNvSpPr txBox="1">
            <a:spLocks noGrp="1"/>
          </p:cNvSpPr>
          <p:nvPr>
            <p:ph type="subTitle" idx="1"/>
          </p:nvPr>
        </p:nvSpPr>
        <p:spPr>
          <a:xfrm>
            <a:off x="4471331" y="1937924"/>
            <a:ext cx="7040280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11"/>
          <p:cNvSpPr>
            <a:spLocks noGrp="1"/>
          </p:cNvSpPr>
          <p:nvPr>
            <p:ph type="pic" idx="2"/>
          </p:nvPr>
        </p:nvSpPr>
        <p:spPr>
          <a:xfrm>
            <a:off x="2" y="0"/>
            <a:ext cx="4063998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8773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AE6051-32FF-9B4B-B8E1-B1B809D7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767A2E-8FAB-BB4B-9A05-168157186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F5AF6E-72CF-6D4E-A31F-6F9A57F78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5971B2-3F52-F143-AE1E-D26F210EE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Imagen 12">
            <a:extLst>
              <a:ext uri="{FF2B5EF4-FFF2-40B4-BE49-F238E27FC236}">
                <a16:creationId xmlns:a16="http://schemas.microsoft.com/office/drawing/2014/main" id="{E1019451-1A6D-D846-8CFD-482E64F66F0F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6141150"/>
            <a:ext cx="6095999" cy="74683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DAD3721-C012-4354-956D-A9ADF6967E36}"/>
              </a:ext>
            </a:extLst>
          </p:cNvPr>
          <p:cNvSpPr txBox="1"/>
          <p:nvPr userDrawn="1"/>
        </p:nvSpPr>
        <p:spPr>
          <a:xfrm>
            <a:off x="9834933" y="-34394"/>
            <a:ext cx="257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Dr. Juan Baldemar Garza V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Derechos reservados 2025</a:t>
            </a:r>
          </a:p>
        </p:txBody>
      </p:sp>
    </p:spTree>
    <p:extLst>
      <p:ext uri="{BB962C8B-B14F-4D97-AF65-F5344CB8AC3E}">
        <p14:creationId xmlns:p14="http://schemas.microsoft.com/office/powerpoint/2010/main" val="281248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721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4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4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78288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FFF5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4"/>
          <p:cNvSpPr txBox="1"/>
          <p:nvPr/>
        </p:nvSpPr>
        <p:spPr>
          <a:xfrm>
            <a:off x="1" y="6642342"/>
            <a:ext cx="2814316" cy="200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© DERECHOS RESERVADOS UNIVERSIDAD DE MONTERREY</a:t>
            </a:r>
            <a:endParaRPr sz="1800"/>
          </a:p>
        </p:txBody>
      </p:sp>
      <p:sp>
        <p:nvSpPr>
          <p:cNvPr id="13" name="Google Shape;13;p84"/>
          <p:cNvSpPr txBox="1"/>
          <p:nvPr/>
        </p:nvSpPr>
        <p:spPr>
          <a:xfrm>
            <a:off x="11376743" y="6611566"/>
            <a:ext cx="815258" cy="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1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61822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2" r:id="rId8"/>
    <p:sldLayoutId id="2147483703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diate.green/battling-bias-with-emotional-intelligence-volume-2-f59c5a5fd6ce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6F69719F-B238-4C94-B7CC-04B6CD85301D}"/>
              </a:ext>
            </a:extLst>
          </p:cNvPr>
          <p:cNvSpPr txBox="1">
            <a:spLocks/>
          </p:cNvSpPr>
          <p:nvPr/>
        </p:nvSpPr>
        <p:spPr>
          <a:xfrm>
            <a:off x="2090254" y="603250"/>
            <a:ext cx="5946058" cy="46918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MX" sz="4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Diplomado </a:t>
            </a: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de Analítica y </a:t>
            </a: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Ciencia de Datos</a:t>
            </a:r>
          </a:p>
          <a:p>
            <a:pPr marL="0" indent="0" algn="ctr">
              <a:buNone/>
            </a:pPr>
            <a:endParaRPr lang="es-MX" sz="4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Dr. Juan Baldemar Garza Villegas</a:t>
            </a:r>
            <a:endParaRPr lang="es-MX" sz="2000" b="1" dirty="0">
              <a:solidFill>
                <a:srgbClr val="9E1F63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sz="2000" b="1" dirty="0">
                <a:solidFill>
                  <a:srgbClr val="FFFF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juan.garza@udem.edu</a:t>
            </a:r>
            <a:br>
              <a:rPr lang="es-MX" sz="2000" b="1" dirty="0">
                <a:solidFill>
                  <a:srgbClr val="FFFF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</a:b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0;p26">
            <a:extLst>
              <a:ext uri="{FF2B5EF4-FFF2-40B4-BE49-F238E27FC236}">
                <a16:creationId xmlns:a16="http://schemas.microsoft.com/office/drawing/2014/main" id="{03E97F3D-E088-4133-A30D-5E00CC9CDF48}"/>
              </a:ext>
            </a:extLst>
          </p:cNvPr>
          <p:cNvSpPr txBox="1">
            <a:spLocks/>
          </p:cNvSpPr>
          <p:nvPr/>
        </p:nvSpPr>
        <p:spPr>
          <a:xfrm>
            <a:off x="609851" y="1487987"/>
            <a:ext cx="10375900" cy="3139537"/>
          </a:xfrm>
          <a:prstGeom prst="rect">
            <a:avLst/>
          </a:prstGeom>
        </p:spPr>
        <p:txBody>
          <a:bodyPr spcFirstLastPara="1" vert="horz" lIns="34285" tIns="17138" rIns="34285" bIns="17138" rtlCol="0">
            <a:normAutofit fontScale="92500" lnSpcReduction="10000"/>
          </a:bodyPr>
          <a:lstStyle>
            <a:lvl1pPr marL="457109" indent="-457109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lang="en-US" sz="48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1pPr>
            <a:lvl2pPr marL="137132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40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2pPr>
            <a:lvl3pPr marL="2285543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6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3pPr>
            <a:lvl4pPr marL="3199760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4pPr>
            <a:lvl5pPr marL="4113977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588">
              <a:spcBef>
                <a:spcPts val="0"/>
              </a:spcBef>
              <a:buSzPts val="3200"/>
              <a:defRPr/>
            </a:pPr>
            <a:r>
              <a:rPr lang="es-MX" sz="3000" dirty="0" err="1">
                <a:solidFill>
                  <a:schemeClr val="bg2">
                    <a:lumMod val="10000"/>
                  </a:schemeClr>
                </a:solidFill>
              </a:rPr>
              <a:t>Practitioner</a:t>
            </a: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 </a:t>
            </a:r>
            <a:r>
              <a:rPr lang="es-MX" sz="3000" i="1" dirty="0">
                <a:solidFill>
                  <a:schemeClr val="bg2">
                    <a:lumMod val="10000"/>
                  </a:schemeClr>
                </a:solidFill>
              </a:rPr>
              <a:t>Y académico</a:t>
            </a: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 Interesado en la Mejora Continua, Ciencia de Datos, Tecnología, Estrategia  4.0 y…..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 MEJORES EMPRESAS…</a:t>
            </a:r>
          </a:p>
        </p:txBody>
      </p:sp>
    </p:spTree>
    <p:extLst>
      <p:ext uri="{BB962C8B-B14F-4D97-AF65-F5344CB8AC3E}">
        <p14:creationId xmlns:p14="http://schemas.microsoft.com/office/powerpoint/2010/main" val="237431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>
          <a:solidFill>
            <a:schemeClr val="bg1"/>
          </a:solidFill>
        </p:spPr>
        <p:txBody>
          <a:bodyPr/>
          <a:lstStyle/>
          <a:p>
            <a:endParaRPr lang="es-MX"/>
          </a:p>
        </p:txBody>
      </p:sp>
      <p:sp>
        <p:nvSpPr>
          <p:cNvPr id="44" name="Line 5"/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99" tIns="60950" rIns="121899" bIns="6095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Roboto Light" charset="0"/>
            </a:endParaRPr>
          </a:p>
        </p:txBody>
      </p:sp>
      <p:sp>
        <p:nvSpPr>
          <p:cNvPr id="45" name="Line 6"/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99" tIns="60950" rIns="121899" bIns="6095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Roboto Light" charset="0"/>
            </a:endParaRPr>
          </a:p>
        </p:txBody>
      </p:sp>
      <p:sp>
        <p:nvSpPr>
          <p:cNvPr id="190" name="Freeform 189"/>
          <p:cNvSpPr/>
          <p:nvPr/>
        </p:nvSpPr>
        <p:spPr>
          <a:xfrm>
            <a:off x="4578032" y="0"/>
            <a:ext cx="7635241" cy="6859690"/>
          </a:xfrm>
          <a:custGeom>
            <a:avLst/>
            <a:gdLst>
              <a:gd name="connsiteX0" fmla="*/ 2483124 w 5460510"/>
              <a:gd name="connsiteY0" fmla="*/ 0 h 5143500"/>
              <a:gd name="connsiteX1" fmla="*/ 3448297 w 5460510"/>
              <a:gd name="connsiteY1" fmla="*/ 0 h 5143500"/>
              <a:gd name="connsiteX2" fmla="*/ 4717679 w 5460510"/>
              <a:gd name="connsiteY2" fmla="*/ 0 h 5143500"/>
              <a:gd name="connsiteX3" fmla="*/ 4741319 w 5460510"/>
              <a:gd name="connsiteY3" fmla="*/ 0 h 5143500"/>
              <a:gd name="connsiteX4" fmla="*/ 5318193 w 5460510"/>
              <a:gd name="connsiteY4" fmla="*/ 0 h 5143500"/>
              <a:gd name="connsiteX5" fmla="*/ 5460510 w 5460510"/>
              <a:gd name="connsiteY5" fmla="*/ 0 h 5143500"/>
              <a:gd name="connsiteX6" fmla="*/ 5460510 w 5460510"/>
              <a:gd name="connsiteY6" fmla="*/ 5143500 h 5143500"/>
              <a:gd name="connsiteX7" fmla="*/ 5318193 w 5460510"/>
              <a:gd name="connsiteY7" fmla="*/ 5143500 h 5143500"/>
              <a:gd name="connsiteX8" fmla="*/ 4741319 w 5460510"/>
              <a:gd name="connsiteY8" fmla="*/ 5143500 h 5143500"/>
              <a:gd name="connsiteX9" fmla="*/ 4717679 w 5460510"/>
              <a:gd name="connsiteY9" fmla="*/ 5143500 h 5143500"/>
              <a:gd name="connsiteX10" fmla="*/ 3448297 w 5460510"/>
              <a:gd name="connsiteY10" fmla="*/ 5143500 h 5143500"/>
              <a:gd name="connsiteX11" fmla="*/ 0 w 5460510"/>
              <a:gd name="connsiteY11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60510" h="5143500">
                <a:moveTo>
                  <a:pt x="2483124" y="0"/>
                </a:moveTo>
                <a:lnTo>
                  <a:pt x="3448297" y="0"/>
                </a:lnTo>
                <a:lnTo>
                  <a:pt x="4717679" y="0"/>
                </a:lnTo>
                <a:lnTo>
                  <a:pt x="4741319" y="0"/>
                </a:lnTo>
                <a:lnTo>
                  <a:pt x="5318193" y="0"/>
                </a:lnTo>
                <a:lnTo>
                  <a:pt x="5460510" y="0"/>
                </a:lnTo>
                <a:lnTo>
                  <a:pt x="5460510" y="5143500"/>
                </a:lnTo>
                <a:lnTo>
                  <a:pt x="5318193" y="5143500"/>
                </a:lnTo>
                <a:lnTo>
                  <a:pt x="4741319" y="5143500"/>
                </a:lnTo>
                <a:lnTo>
                  <a:pt x="4717679" y="5143500"/>
                </a:lnTo>
                <a:lnTo>
                  <a:pt x="3448297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EC00"/>
          </a:solidFill>
          <a:ln>
            <a:noFill/>
          </a:ln>
        </p:spPr>
        <p:txBody>
          <a:bodyPr/>
          <a:lstStyle/>
          <a:p>
            <a:pPr defTabSz="914217"/>
            <a:endParaRPr lang="en-US">
              <a:solidFill>
                <a:srgbClr val="91969B"/>
              </a:solidFill>
              <a:latin typeface="Calibri Light"/>
            </a:endParaRPr>
          </a:p>
        </p:txBody>
      </p:sp>
      <p:sp>
        <p:nvSpPr>
          <p:cNvPr id="10" name="CuadroTexto 1">
            <a:extLst>
              <a:ext uri="{FF2B5EF4-FFF2-40B4-BE49-F238E27FC236}">
                <a16:creationId xmlns:a16="http://schemas.microsoft.com/office/drawing/2014/main" id="{9C286FFE-DEE2-45F0-9225-407801393A99}"/>
              </a:ext>
            </a:extLst>
          </p:cNvPr>
          <p:cNvSpPr txBox="1"/>
          <p:nvPr/>
        </p:nvSpPr>
        <p:spPr>
          <a:xfrm>
            <a:off x="1845269" y="1293730"/>
            <a:ext cx="2228495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900" dirty="0">
                <a:solidFill>
                  <a:schemeClr val="bg1">
                    <a:lumMod val="50000"/>
                  </a:schemeClr>
                </a:solidFill>
                <a:latin typeface="Arial Black"/>
                <a:cs typeface="Arial Black"/>
              </a:rPr>
              <a:t>1</a:t>
            </a:r>
          </a:p>
        </p:txBody>
      </p:sp>
      <p:sp>
        <p:nvSpPr>
          <p:cNvPr id="11" name="CuadroTexto 5">
            <a:extLst>
              <a:ext uri="{FF2B5EF4-FFF2-40B4-BE49-F238E27FC236}">
                <a16:creationId xmlns:a16="http://schemas.microsoft.com/office/drawing/2014/main" id="{1294068D-C618-44FA-BDFE-53E6A662F3F1}"/>
              </a:ext>
            </a:extLst>
          </p:cNvPr>
          <p:cNvSpPr txBox="1"/>
          <p:nvPr/>
        </p:nvSpPr>
        <p:spPr>
          <a:xfrm>
            <a:off x="7891264" y="2476811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b="1" dirty="0">
                <a:solidFill>
                  <a:schemeClr val="bg2">
                    <a:lumMod val="10000"/>
                  </a:schemeClr>
                </a:solidFill>
                <a:cs typeface="Calibri"/>
              </a:rPr>
              <a:t>Sesgos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7EED85-455F-481D-8051-C11648F15B6E}"/>
              </a:ext>
            </a:extLst>
          </p:cNvPr>
          <p:cNvSpPr txBox="1"/>
          <p:nvPr/>
        </p:nvSpPr>
        <p:spPr>
          <a:xfrm>
            <a:off x="9834933" y="-34394"/>
            <a:ext cx="257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Dr. Juan Baldemar Garza V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Derechos reservados 2025</a:t>
            </a:r>
          </a:p>
        </p:txBody>
      </p:sp>
    </p:spTree>
    <p:extLst>
      <p:ext uri="{BB962C8B-B14F-4D97-AF65-F5344CB8AC3E}">
        <p14:creationId xmlns:p14="http://schemas.microsoft.com/office/powerpoint/2010/main" val="135582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>
          <a:xfrm>
            <a:off x="158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EF653-942C-AF4C-B28C-941F297DE7A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C8F5074C-B8B6-417A-8562-AC2999534F1B}"/>
              </a:ext>
            </a:extLst>
          </p:cNvPr>
          <p:cNvSpPr>
            <a:spLocks/>
          </p:cNvSpPr>
          <p:nvPr/>
        </p:nvSpPr>
        <p:spPr bwMode="auto">
          <a:xfrm>
            <a:off x="3263311" y="2670873"/>
            <a:ext cx="544326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Bebas Neue" charset="0"/>
              </a:rPr>
              <a:t>CONCEPTOS CLAVE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5F7441E0-B284-40B4-B201-9A49681E83EE}"/>
              </a:ext>
            </a:extLst>
          </p:cNvPr>
          <p:cNvGrpSpPr/>
          <p:nvPr/>
        </p:nvGrpSpPr>
        <p:grpSpPr>
          <a:xfrm>
            <a:off x="5784972" y="3287110"/>
            <a:ext cx="399946" cy="95250"/>
            <a:chOff x="1942594" y="2781300"/>
            <a:chExt cx="799891" cy="190500"/>
          </a:xfrm>
          <a:solidFill>
            <a:schemeClr val="bg1">
              <a:lumMod val="85000"/>
            </a:schemeClr>
          </a:solidFill>
        </p:grpSpPr>
        <p:sp>
          <p:nvSpPr>
            <p:cNvPr id="6" name="Oval 20">
              <a:extLst>
                <a:ext uri="{FF2B5EF4-FFF2-40B4-BE49-F238E27FC236}">
                  <a16:creationId xmlns:a16="http://schemas.microsoft.com/office/drawing/2014/main" id="{C386EC7E-4CFD-4545-A6A8-CD6F6EE11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594" y="2781300"/>
              <a:ext cx="190450" cy="190500"/>
            </a:xfrm>
            <a:prstGeom prst="ellipse">
              <a:avLst/>
            </a:prstGeom>
            <a:grpFill/>
            <a:ln w="25400">
              <a:solidFill>
                <a:schemeClr val="tx1">
                  <a:alpha val="0"/>
                </a:schemeClr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21">
              <a:extLst>
                <a:ext uri="{FF2B5EF4-FFF2-40B4-BE49-F238E27FC236}">
                  <a16:creationId xmlns:a16="http://schemas.microsoft.com/office/drawing/2014/main" id="{7D66B26E-412C-4096-A054-C98C84ABB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315" y="2781300"/>
              <a:ext cx="190450" cy="190500"/>
            </a:xfrm>
            <a:prstGeom prst="ellipse">
              <a:avLst/>
            </a:prstGeom>
            <a:grpFill/>
            <a:ln w="25400">
              <a:solidFill>
                <a:schemeClr val="tx1">
                  <a:alpha val="0"/>
                </a:schemeClr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22">
              <a:extLst>
                <a:ext uri="{FF2B5EF4-FFF2-40B4-BE49-F238E27FC236}">
                  <a16:creationId xmlns:a16="http://schemas.microsoft.com/office/drawing/2014/main" id="{1C1C6139-76A4-44C3-A7B5-F6BC435D2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035" y="2781300"/>
              <a:ext cx="190450" cy="190500"/>
            </a:xfrm>
            <a:prstGeom prst="ellipse">
              <a:avLst/>
            </a:prstGeom>
            <a:grpFill/>
            <a:ln w="25400">
              <a:solidFill>
                <a:schemeClr val="tx1">
                  <a:alpha val="0"/>
                </a:schemeClr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D5AD72AB-87B2-4ADA-9AD9-A05B921264C2}"/>
              </a:ext>
            </a:extLst>
          </p:cNvPr>
          <p:cNvSpPr>
            <a:spLocks/>
          </p:cNvSpPr>
          <p:nvPr/>
        </p:nvSpPr>
        <p:spPr bwMode="auto">
          <a:xfrm>
            <a:off x="5648319" y="2467210"/>
            <a:ext cx="67326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E3F42"/>
                </a:solidFill>
                <a:effectLst/>
                <a:uLnTx/>
                <a:uFillTx/>
                <a:latin typeface="Century Gothic" panose="020B0502020202020204" pitchFamily="34" charset="0"/>
                <a:ea typeface="ＭＳ Ｐゴシック" charset="0"/>
                <a:cs typeface="Roboto Regular"/>
                <a:sym typeface="Montserrat-Regular" charset="0"/>
              </a:rPr>
              <a:t>SESGOS</a:t>
            </a:r>
          </a:p>
        </p:txBody>
      </p:sp>
    </p:spTree>
    <p:extLst>
      <p:ext uri="{BB962C8B-B14F-4D97-AF65-F5344CB8AC3E}">
        <p14:creationId xmlns:p14="http://schemas.microsoft.com/office/powerpoint/2010/main" val="2322970307"/>
      </p:ext>
    </p:extLst>
  </p:cSld>
  <p:clrMapOvr>
    <a:masterClrMapping/>
  </p:clrMapOvr>
  <p:transition spd="med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B9340CED-ADAE-4CCC-A40E-652DB0C59421}"/>
              </a:ext>
            </a:extLst>
          </p:cNvPr>
          <p:cNvSpPr txBox="1"/>
          <p:nvPr/>
        </p:nvSpPr>
        <p:spPr>
          <a:xfrm>
            <a:off x="510668" y="5019824"/>
            <a:ext cx="13906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s-419" sz="1400" kern="0" spc="20" dirty="0">
                <a:latin typeface="Century Gothic"/>
              </a:rPr>
              <a:t>Razonamiento  consciente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346CAA7A-2C67-46FC-BAF1-2C0E08EE08FB}"/>
              </a:ext>
            </a:extLst>
          </p:cNvPr>
          <p:cNvSpPr txBox="1"/>
          <p:nvPr/>
        </p:nvSpPr>
        <p:spPr>
          <a:xfrm>
            <a:off x="2365767" y="4995260"/>
            <a:ext cx="12636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x-none"/>
            </a:defPPr>
            <a:lvl1pPr marL="12700" marR="5080" algn="ctr">
              <a:lnSpc>
                <a:spcPct val="100000"/>
              </a:lnSpc>
              <a:spcBef>
                <a:spcPts val="100"/>
              </a:spcBef>
              <a:defRPr sz="1400" kern="0" spc="20">
                <a:solidFill>
                  <a:schemeClr val="accent3"/>
                </a:solidFill>
                <a:latin typeface="Century Gothic"/>
              </a:defRPr>
            </a:lvl1pPr>
          </a:lstStyle>
          <a:p>
            <a:r>
              <a:rPr lang="es-419" dirty="0">
                <a:solidFill>
                  <a:schemeClr val="tx1"/>
                </a:solidFill>
              </a:rPr>
              <a:t>Pensamiento  intuitivo</a:t>
            </a: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2DE91A0B-198A-4029-972D-DDC914C752F7}"/>
              </a:ext>
            </a:extLst>
          </p:cNvPr>
          <p:cNvSpPr txBox="1"/>
          <p:nvPr/>
        </p:nvSpPr>
        <p:spPr>
          <a:xfrm>
            <a:off x="5961320" y="6161430"/>
            <a:ext cx="631919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1800" spc="-5" dirty="0">
                <a:latin typeface="Calibri"/>
                <a:cs typeface="Calibri"/>
              </a:rPr>
              <a:t>Fuente: Kahneman, Daniel. </a:t>
            </a:r>
            <a:r>
              <a:rPr lang="es-419" sz="1800" i="1" spc="-10" dirty="0">
                <a:latin typeface="Calibri"/>
                <a:cs typeface="Calibri"/>
              </a:rPr>
              <a:t>Pensar rápido, </a:t>
            </a:r>
            <a:r>
              <a:rPr lang="es-419" sz="1800" i="1" spc="-5" dirty="0">
                <a:latin typeface="Calibri"/>
                <a:cs typeface="Calibri"/>
              </a:rPr>
              <a:t>pensar despacio. </a:t>
            </a:r>
            <a:r>
              <a:rPr lang="es-419" sz="1800" spc="-5" dirty="0">
                <a:latin typeface="Calibri"/>
                <a:cs typeface="Calibri"/>
              </a:rPr>
              <a:t>Macmillan,</a:t>
            </a:r>
            <a:r>
              <a:rPr lang="es-419" sz="1800" spc="95" dirty="0">
                <a:latin typeface="Calibri"/>
                <a:cs typeface="Calibri"/>
              </a:rPr>
              <a:t> </a:t>
            </a:r>
            <a:r>
              <a:rPr lang="es-419" sz="1800" dirty="0">
                <a:latin typeface="Calibri"/>
                <a:cs typeface="Calibri"/>
              </a:rPr>
              <a:t>2011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A974EE9-9946-481D-8C24-4E9D65AEA875}"/>
              </a:ext>
            </a:extLst>
          </p:cNvPr>
          <p:cNvSpPr/>
          <p:nvPr/>
        </p:nvSpPr>
        <p:spPr>
          <a:xfrm>
            <a:off x="4064282" y="1745300"/>
            <a:ext cx="6096000" cy="2790148"/>
          </a:xfrm>
          <a:custGeom>
            <a:avLst/>
            <a:gdLst/>
            <a:ahLst/>
            <a:cxnLst/>
            <a:rect l="l" t="t" r="r" b="b"/>
            <a:pathLst>
              <a:path w="12192000" h="5581015">
                <a:moveTo>
                  <a:pt x="0" y="5580887"/>
                </a:moveTo>
                <a:lnTo>
                  <a:pt x="12192000" y="5580887"/>
                </a:lnTo>
                <a:lnTo>
                  <a:pt x="12192000" y="0"/>
                </a:lnTo>
                <a:lnTo>
                  <a:pt x="0" y="0"/>
                </a:lnTo>
                <a:lnTo>
                  <a:pt x="0" y="5580887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algn="just"/>
            <a:r>
              <a:rPr lang="es-419" kern="0" spc="20" dirty="0">
                <a:latin typeface="Century Gothic"/>
              </a:rPr>
              <a:t>• La manera en que tomamos decisiones está lejos del modelo racional, Identifica todos los sesgos involucrados.</a:t>
            </a:r>
          </a:p>
          <a:p>
            <a:pPr algn="just"/>
            <a:endParaRPr lang="es-419" kern="0" spc="20" dirty="0">
              <a:latin typeface="Century Gothic"/>
            </a:endParaRPr>
          </a:p>
          <a:p>
            <a:pPr algn="just"/>
            <a:r>
              <a:rPr lang="es-419" kern="0" spc="20" dirty="0">
                <a:latin typeface="Century Gothic"/>
              </a:rPr>
              <a:t>• Los sesgos de decisión afectan cada paso del proceso de toma de decisiones.</a:t>
            </a:r>
          </a:p>
          <a:p>
            <a:pPr algn="just"/>
            <a:endParaRPr lang="es-419" kern="0" spc="20" dirty="0">
              <a:latin typeface="Century Gothic"/>
            </a:endParaRPr>
          </a:p>
          <a:p>
            <a:pPr algn="just"/>
            <a:r>
              <a:rPr lang="es-419" kern="0" spc="20" dirty="0">
                <a:latin typeface="Century Gothic"/>
              </a:rPr>
              <a:t>• La analítica puede ofrecer herramientas múltiples para superar los sesgos y trampas de decisión.</a:t>
            </a:r>
          </a:p>
        </p:txBody>
      </p:sp>
      <p:pic>
        <p:nvPicPr>
          <p:cNvPr id="9" name="Imagen 8" descr="Imagen que contiene dibujo&#10;&#10;Descripción generada automáticamente">
            <a:extLst>
              <a:ext uri="{FF2B5EF4-FFF2-40B4-BE49-F238E27FC236}">
                <a16:creationId xmlns:a16="http://schemas.microsoft.com/office/drawing/2014/main" id="{2A3776FB-4115-4639-8158-19FA502B1A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7589" y="1209799"/>
            <a:ext cx="3528258" cy="352825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BBDD483-91EC-4F84-A070-DAB35C159884}"/>
              </a:ext>
            </a:extLst>
          </p:cNvPr>
          <p:cNvSpPr txBox="1"/>
          <p:nvPr/>
        </p:nvSpPr>
        <p:spPr>
          <a:xfrm>
            <a:off x="362255" y="583264"/>
            <a:ext cx="2635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Cerebro según Kahneman</a:t>
            </a:r>
          </a:p>
        </p:txBody>
      </p:sp>
      <p:pic>
        <p:nvPicPr>
          <p:cNvPr id="12" name="Imagen 11" descr="Texto&#10;&#10;Descripción generada automáticamente">
            <a:extLst>
              <a:ext uri="{FF2B5EF4-FFF2-40B4-BE49-F238E27FC236}">
                <a16:creationId xmlns:a16="http://schemas.microsoft.com/office/drawing/2014/main" id="{E3BDB2C1-A914-480B-9ABB-85574EE10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717" y="1749717"/>
            <a:ext cx="1593004" cy="244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78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EE4ECC-1012-4321-9455-F08F8EA77691}"/>
              </a:ext>
            </a:extLst>
          </p:cNvPr>
          <p:cNvSpPr txBox="1"/>
          <p:nvPr/>
        </p:nvSpPr>
        <p:spPr>
          <a:xfrm>
            <a:off x="521306" y="189075"/>
            <a:ext cx="822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Sesgos</a:t>
            </a:r>
          </a:p>
        </p:txBody>
      </p:sp>
      <p:pic>
        <p:nvPicPr>
          <p:cNvPr id="6" name="Picture 3" descr="Diagram&#10;&#10;Description automatically generated">
            <a:extLst>
              <a:ext uri="{FF2B5EF4-FFF2-40B4-BE49-F238E27FC236}">
                <a16:creationId xmlns:a16="http://schemas.microsoft.com/office/drawing/2014/main" id="{FE3002FA-BB2A-45FB-88A1-AC32B538A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16" y="482009"/>
            <a:ext cx="7372742" cy="55908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3D8D0F-7819-4CDD-B453-D5C20C13B523}"/>
              </a:ext>
            </a:extLst>
          </p:cNvPr>
          <p:cNvSpPr/>
          <p:nvPr/>
        </p:nvSpPr>
        <p:spPr>
          <a:xfrm>
            <a:off x="8775510" y="2552130"/>
            <a:ext cx="26442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dirty="0">
                <a:solidFill>
                  <a:schemeClr val="accent3"/>
                </a:solidFill>
              </a:rPr>
              <a:t>Los sesgos pueden estar influenciados por la experiencia, el juicio, las normas sociales, las suposiciones, la academia y más.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CA15B-76FC-4E1A-B42C-3721B32CCFFA}"/>
              </a:ext>
            </a:extLst>
          </p:cNvPr>
          <p:cNvSpPr/>
          <p:nvPr/>
        </p:nvSpPr>
        <p:spPr>
          <a:xfrm>
            <a:off x="5984358" y="6534066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419" sz="1100" dirty="0">
                <a:hlinkClick r:id="rId3"/>
              </a:rPr>
              <a:t>https://medium.com/@diate.green/battling-bias-with-emotional-intelligence-volume-2-f59c5a5fd6ce</a:t>
            </a:r>
            <a:endParaRPr lang="es-419" sz="1100" dirty="0"/>
          </a:p>
        </p:txBody>
      </p:sp>
    </p:spTree>
    <p:extLst>
      <p:ext uri="{BB962C8B-B14F-4D97-AF65-F5344CB8AC3E}">
        <p14:creationId xmlns:p14="http://schemas.microsoft.com/office/powerpoint/2010/main" val="105848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A picture containing boat, person&#10;&#10;Description automatically generated">
            <a:extLst>
              <a:ext uri="{FF2B5EF4-FFF2-40B4-BE49-F238E27FC236}">
                <a16:creationId xmlns:a16="http://schemas.microsoft.com/office/drawing/2014/main" id="{4C26D97B-9B92-4DFD-88D6-B0AE1C71D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19" y="450294"/>
            <a:ext cx="6812982" cy="5075123"/>
          </a:xfrm>
          <a:prstGeom prst="rect">
            <a:avLst/>
          </a:prstGeom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63824AED-2F42-45EB-A240-10842D80A642}"/>
              </a:ext>
            </a:extLst>
          </p:cNvPr>
          <p:cNvSpPr/>
          <p:nvPr/>
        </p:nvSpPr>
        <p:spPr>
          <a:xfrm>
            <a:off x="6949945" y="1030782"/>
            <a:ext cx="4249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419" dirty="0">
                <a:solidFill>
                  <a:srgbClr val="000000"/>
                </a:solidFill>
                <a:latin typeface="Arial" panose="020B0604020202020204" pitchFamily="34" charset="0"/>
              </a:rPr>
              <a:t>Bombarderos en la 2da guerra Mundial.</a:t>
            </a:r>
            <a:endParaRPr lang="es-419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291A7A5-05E6-4143-96DC-7EBE38245448}"/>
              </a:ext>
            </a:extLst>
          </p:cNvPr>
          <p:cNvSpPr/>
          <p:nvPr/>
        </p:nvSpPr>
        <p:spPr>
          <a:xfrm>
            <a:off x="6987837" y="1813139"/>
            <a:ext cx="48397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419" dirty="0">
                <a:solidFill>
                  <a:srgbClr val="000000"/>
                </a:solidFill>
                <a:latin typeface="Arial" panose="020B0604020202020204" pitchFamily="34" charset="0"/>
              </a:rPr>
              <a:t>Perdidas humanas y económicas de la mitad </a:t>
            </a:r>
          </a:p>
          <a:p>
            <a:pPr algn="ctr"/>
            <a:r>
              <a:rPr lang="es-419" dirty="0">
                <a:solidFill>
                  <a:srgbClr val="000000"/>
                </a:solidFill>
                <a:latin typeface="Arial" panose="020B0604020202020204" pitchFamily="34" charset="0"/>
              </a:rPr>
              <a:t>de los aviones bombarderos.</a:t>
            </a:r>
            <a:endParaRPr lang="es-419" dirty="0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7868243-CB9B-43F0-8F37-69C021499E89}"/>
              </a:ext>
            </a:extLst>
          </p:cNvPr>
          <p:cNvSpPr/>
          <p:nvPr/>
        </p:nvSpPr>
        <p:spPr>
          <a:xfrm>
            <a:off x="7826751" y="2782949"/>
            <a:ext cx="3010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419" dirty="0">
                <a:solidFill>
                  <a:srgbClr val="000000"/>
                </a:solidFill>
                <a:latin typeface="Arial" panose="020B0604020202020204" pitchFamily="34" charset="0"/>
              </a:rPr>
              <a:t>Estadístico, Abraham Wald.</a:t>
            </a:r>
            <a:endParaRPr lang="es-419" dirty="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3FF22CF-594D-46C7-B661-D5D4D8A7194E}"/>
              </a:ext>
            </a:extLst>
          </p:cNvPr>
          <p:cNvSpPr/>
          <p:nvPr/>
        </p:nvSpPr>
        <p:spPr>
          <a:xfrm>
            <a:off x="6755768" y="3432397"/>
            <a:ext cx="4968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419" dirty="0">
                <a:solidFill>
                  <a:srgbClr val="000000"/>
                </a:solidFill>
                <a:latin typeface="Arial" panose="020B0604020202020204" pitchFamily="34" charset="0"/>
              </a:rPr>
              <a:t>El ejercito reforzó las áreas con más impactos.</a:t>
            </a:r>
            <a:endParaRPr lang="es-419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F814016B-BCEF-4319-806B-6AF98B1B72C1}"/>
              </a:ext>
            </a:extLst>
          </p:cNvPr>
          <p:cNvSpPr/>
          <p:nvPr/>
        </p:nvSpPr>
        <p:spPr>
          <a:xfrm>
            <a:off x="8039111" y="4163388"/>
            <a:ext cx="2954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419" dirty="0">
                <a:solidFill>
                  <a:srgbClr val="000000"/>
                </a:solidFill>
                <a:latin typeface="Arial" panose="020B0604020202020204" pitchFamily="34" charset="0"/>
              </a:rPr>
              <a:t>Las perdidas continuaban. </a:t>
            </a:r>
            <a:endParaRPr lang="es-419" dirty="0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F6E8A1BE-A04C-404F-A2E2-C68C171160E4}"/>
              </a:ext>
            </a:extLst>
          </p:cNvPr>
          <p:cNvSpPr/>
          <p:nvPr/>
        </p:nvSpPr>
        <p:spPr>
          <a:xfrm>
            <a:off x="6603306" y="4820226"/>
            <a:ext cx="51732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419" dirty="0">
                <a:solidFill>
                  <a:srgbClr val="000000"/>
                </a:solidFill>
                <a:latin typeface="Arial" panose="020B0604020202020204" pitchFamily="34" charset="0"/>
              </a:rPr>
              <a:t>Lo hicieron justo al revés , </a:t>
            </a:r>
          </a:p>
          <a:p>
            <a:pPr algn="ctr"/>
            <a:r>
              <a:rPr lang="es-419" dirty="0">
                <a:solidFill>
                  <a:srgbClr val="000000"/>
                </a:solidFill>
                <a:latin typeface="Arial" panose="020B0604020202020204" pitchFamily="34" charset="0"/>
              </a:rPr>
              <a:t>reforzaron las áreas capaces de soportas balas. </a:t>
            </a:r>
            <a:endParaRPr lang="es-419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938168D-59E9-45C8-A9D5-6078661CCCC1}"/>
              </a:ext>
            </a:extLst>
          </p:cNvPr>
          <p:cNvSpPr txBox="1"/>
          <p:nvPr/>
        </p:nvSpPr>
        <p:spPr>
          <a:xfrm>
            <a:off x="822384" y="5531167"/>
            <a:ext cx="5013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Datos que están disponibles vs los que necesitamos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6A97540-EF2F-4BDF-BABA-17A9C26D2EC5}"/>
              </a:ext>
            </a:extLst>
          </p:cNvPr>
          <p:cNvSpPr txBox="1"/>
          <p:nvPr/>
        </p:nvSpPr>
        <p:spPr>
          <a:xfrm>
            <a:off x="521306" y="189075"/>
            <a:ext cx="444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Sesgos .- Ejemplo de Sesgo de Disponibilidad</a:t>
            </a:r>
          </a:p>
        </p:txBody>
      </p:sp>
    </p:spTree>
    <p:extLst>
      <p:ext uri="{BB962C8B-B14F-4D97-AF65-F5344CB8AC3E}">
        <p14:creationId xmlns:p14="http://schemas.microsoft.com/office/powerpoint/2010/main" val="3424628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ABB1F61-48C5-47E1-8B7B-C8F6987CE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1382776"/>
            <a:ext cx="9664846" cy="391426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78FA663-A203-4670-ACCB-3E920510AE05}"/>
              </a:ext>
            </a:extLst>
          </p:cNvPr>
          <p:cNvSpPr txBox="1"/>
          <p:nvPr/>
        </p:nvSpPr>
        <p:spPr>
          <a:xfrm>
            <a:off x="521306" y="189075"/>
            <a:ext cx="1928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Sesgos .- Ejemplos</a:t>
            </a:r>
          </a:p>
        </p:txBody>
      </p:sp>
    </p:spTree>
    <p:extLst>
      <p:ext uri="{BB962C8B-B14F-4D97-AF65-F5344CB8AC3E}">
        <p14:creationId xmlns:p14="http://schemas.microsoft.com/office/powerpoint/2010/main" val="1804062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3"/>
          <p:cNvSpPr txBox="1"/>
          <p:nvPr/>
        </p:nvSpPr>
        <p:spPr>
          <a:xfrm>
            <a:off x="7170622" y="2036385"/>
            <a:ext cx="4272787" cy="93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rgbClr val="000000"/>
              </a:buClr>
            </a:pPr>
            <a:r>
              <a:rPr lang="it-IT" sz="5500" b="1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 GRACIAS !</a:t>
            </a:r>
            <a:endParaRPr sz="5500" b="1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3973</TotalTime>
  <Words>245</Words>
  <Application>Microsoft Office PowerPoint</Application>
  <PresentationFormat>Panorámica</PresentationFormat>
  <Paragraphs>46</Paragraphs>
  <Slides>9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Century Gothic</vt:lpstr>
      <vt:lpstr>Noto Sans Symbols</vt:lpstr>
      <vt:lpstr>Roboto Light</vt:lpstr>
      <vt:lpstr>Verdana</vt:lpstr>
      <vt:lpstr>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JBGV</dc:creator>
  <cp:lastModifiedBy>Juan Baldemar Garza Villegas</cp:lastModifiedBy>
  <cp:revision>347</cp:revision>
  <cp:lastPrinted>2020-10-05T21:27:12Z</cp:lastPrinted>
  <dcterms:created xsi:type="dcterms:W3CDTF">2020-01-22T17:21:41Z</dcterms:created>
  <dcterms:modified xsi:type="dcterms:W3CDTF">2025-11-13T21:39:55Z</dcterms:modified>
</cp:coreProperties>
</file>