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3" r:id="rId2"/>
  </p:sldMasterIdLst>
  <p:notesMasterIdLst>
    <p:notesMasterId r:id="rId13"/>
  </p:notesMasterIdLst>
  <p:handoutMasterIdLst>
    <p:handoutMasterId r:id="rId14"/>
  </p:handoutMasterIdLst>
  <p:sldIdLst>
    <p:sldId id="18634" r:id="rId3"/>
    <p:sldId id="256" r:id="rId4"/>
    <p:sldId id="18638" r:id="rId5"/>
    <p:sldId id="18684" r:id="rId6"/>
    <p:sldId id="18525" r:id="rId7"/>
    <p:sldId id="18730" r:id="rId8"/>
    <p:sldId id="18731" r:id="rId9"/>
    <p:sldId id="18725" r:id="rId10"/>
    <p:sldId id="982" r:id="rId11"/>
    <p:sldId id="18635" r:id="rId12"/>
  </p:sldIdLst>
  <p:sldSz cx="12192000" cy="6858000"/>
  <p:notesSz cx="7315200" cy="96012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2EC"/>
    <a:srgbClr val="FFEC00"/>
    <a:srgbClr val="F5F1E8"/>
    <a:srgbClr val="FFFF66"/>
    <a:srgbClr val="D7E7F5"/>
    <a:srgbClr val="FFF7E1"/>
    <a:srgbClr val="50FF64"/>
    <a:srgbClr val="7030A0"/>
    <a:srgbClr val="50FF3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022" autoAdjust="0"/>
    <p:restoredTop sz="70673" autoAdjust="0"/>
  </p:normalViewPr>
  <p:slideViewPr>
    <p:cSldViewPr snapToGrid="0" snapToObjects="1">
      <p:cViewPr varScale="1">
        <p:scale>
          <a:sx n="88" d="100"/>
          <a:sy n="88" d="100"/>
        </p:scale>
        <p:origin x="555" y="270"/>
      </p:cViewPr>
      <p:guideLst>
        <p:guide orient="horz" pos="2160"/>
        <p:guide pos="3858"/>
        <p:guide pos="619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46" d="100"/>
          <a:sy n="46" d="100"/>
        </p:scale>
        <p:origin x="2619" y="7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8EAEC0-3C03-4191-BE68-165CBE8C2703}" type="doc">
      <dgm:prSet loTypeId="urn:microsoft.com/office/officeart/2005/8/layout/matrix2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AB1725F-FB75-4EA1-BE21-FC0FCE7C44C2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es-MX" sz="2000" dirty="0"/>
            <a:t>Piloto</a:t>
          </a:r>
        </a:p>
      </dgm:t>
    </dgm:pt>
    <dgm:pt modelId="{E758F795-5023-4F29-B73F-A6BCA6BF57DD}" type="parTrans" cxnId="{88767EF5-2537-45A2-91D3-676781199FBE}">
      <dgm:prSet/>
      <dgm:spPr/>
      <dgm:t>
        <a:bodyPr/>
        <a:lstStyle/>
        <a:p>
          <a:endParaRPr lang="es-MX" sz="1600"/>
        </a:p>
      </dgm:t>
    </dgm:pt>
    <dgm:pt modelId="{0091EC53-648E-4EA9-9F77-0298EA016A03}" type="sibTrans" cxnId="{88767EF5-2537-45A2-91D3-676781199FBE}">
      <dgm:prSet/>
      <dgm:spPr/>
      <dgm:t>
        <a:bodyPr/>
        <a:lstStyle/>
        <a:p>
          <a:endParaRPr lang="es-MX" sz="1600"/>
        </a:p>
      </dgm:t>
    </dgm:pt>
    <dgm:pt modelId="{F5AF7C4A-6301-4A84-B24C-6B50473CDF1C}">
      <dgm:prSet phldrT="[Texto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s-MX" sz="2800" dirty="0">
              <a:solidFill>
                <a:schemeClr val="tx1">
                  <a:lumMod val="95000"/>
                  <a:lumOff val="5000"/>
                </a:schemeClr>
              </a:solidFill>
            </a:rPr>
            <a:t>PoC</a:t>
          </a:r>
        </a:p>
      </dgm:t>
    </dgm:pt>
    <dgm:pt modelId="{58E47B1D-1B62-48A9-9F5D-D67EC8C4C4AE}" type="parTrans" cxnId="{24A7E428-020F-46E6-B82B-6D4A1F65DE14}">
      <dgm:prSet/>
      <dgm:spPr/>
      <dgm:t>
        <a:bodyPr/>
        <a:lstStyle/>
        <a:p>
          <a:endParaRPr lang="es-MX" sz="1600"/>
        </a:p>
      </dgm:t>
    </dgm:pt>
    <dgm:pt modelId="{E2C09364-C39B-4583-A0CD-2CCE23BD5A7A}" type="sibTrans" cxnId="{24A7E428-020F-46E6-B82B-6D4A1F65DE14}">
      <dgm:prSet/>
      <dgm:spPr/>
      <dgm:t>
        <a:bodyPr/>
        <a:lstStyle/>
        <a:p>
          <a:endParaRPr lang="es-MX" sz="1600"/>
        </a:p>
      </dgm:t>
    </dgm:pt>
    <dgm:pt modelId="{BAB1B561-1F4E-48D5-AA10-477F39D13F5C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es-ES" sz="2000" dirty="0"/>
            <a:t>Just Do </a:t>
          </a:r>
          <a:r>
            <a:rPr lang="es-ES" sz="2000" dirty="0" err="1"/>
            <a:t>It</a:t>
          </a:r>
          <a:endParaRPr lang="es-ES" sz="2000" dirty="0"/>
        </a:p>
      </dgm:t>
    </dgm:pt>
    <dgm:pt modelId="{E335D084-57EA-4CCA-8A03-DB38C5ECA39B}" type="parTrans" cxnId="{AD306648-76B1-49B4-93B8-7FD81A35E4B1}">
      <dgm:prSet/>
      <dgm:spPr/>
      <dgm:t>
        <a:bodyPr/>
        <a:lstStyle/>
        <a:p>
          <a:endParaRPr lang="es-MX" sz="1600"/>
        </a:p>
      </dgm:t>
    </dgm:pt>
    <dgm:pt modelId="{5B6CE83E-26F1-451E-A9E6-B0804897DC6B}" type="sibTrans" cxnId="{AD306648-76B1-49B4-93B8-7FD81A35E4B1}">
      <dgm:prSet/>
      <dgm:spPr/>
      <dgm:t>
        <a:bodyPr/>
        <a:lstStyle/>
        <a:p>
          <a:endParaRPr lang="es-MX" sz="1600"/>
        </a:p>
      </dgm:t>
    </dgm:pt>
    <dgm:pt modelId="{4661EE94-34D2-4632-AA92-AC033F6E0813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es-MX" sz="20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Problem</a:t>
          </a:r>
          <a:r>
            <a:rPr lang="es-MX" sz="20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</a:t>
          </a:r>
          <a:r>
            <a:rPr lang="es-MX" sz="20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Solving</a:t>
          </a:r>
          <a:endParaRPr lang="es-MX" sz="20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  <a:p>
          <a:r>
            <a:rPr lang="es-MX" sz="20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Proyecto MC</a:t>
          </a:r>
        </a:p>
      </dgm:t>
    </dgm:pt>
    <dgm:pt modelId="{9777F06B-354A-4DF0-8C4B-A72062E976A1}" type="parTrans" cxnId="{585B7D19-73AB-4100-822D-C16E8F8BD6DF}">
      <dgm:prSet/>
      <dgm:spPr/>
      <dgm:t>
        <a:bodyPr/>
        <a:lstStyle/>
        <a:p>
          <a:endParaRPr lang="es-MX" sz="1600"/>
        </a:p>
      </dgm:t>
    </dgm:pt>
    <dgm:pt modelId="{6087D7AD-9634-436D-BB49-446E39A8F888}" type="sibTrans" cxnId="{585B7D19-73AB-4100-822D-C16E8F8BD6DF}">
      <dgm:prSet/>
      <dgm:spPr/>
      <dgm:t>
        <a:bodyPr/>
        <a:lstStyle/>
        <a:p>
          <a:endParaRPr lang="es-MX" sz="1600"/>
        </a:p>
      </dgm:t>
    </dgm:pt>
    <dgm:pt modelId="{6C05C7AF-D4E3-4E5E-B0B4-4236210EB02A}" type="pres">
      <dgm:prSet presAssocID="{A98EAEC0-3C03-4191-BE68-165CBE8C2703}" presName="matrix" presStyleCnt="0">
        <dgm:presLayoutVars>
          <dgm:chMax val="1"/>
          <dgm:dir/>
          <dgm:resizeHandles val="exact"/>
        </dgm:presLayoutVars>
      </dgm:prSet>
      <dgm:spPr/>
    </dgm:pt>
    <dgm:pt modelId="{D7E428E4-DB5B-4824-8959-0CCDA3263181}" type="pres">
      <dgm:prSet presAssocID="{A98EAEC0-3C03-4191-BE68-165CBE8C2703}" presName="axisShape" presStyleLbl="bgShp" presStyleIdx="0" presStyleCnt="1"/>
      <dgm:spPr>
        <a:solidFill>
          <a:schemeClr val="accent2"/>
        </a:solidFill>
      </dgm:spPr>
    </dgm:pt>
    <dgm:pt modelId="{4A730088-B856-4732-97D6-E4F9D4338757}" type="pres">
      <dgm:prSet presAssocID="{A98EAEC0-3C03-4191-BE68-165CBE8C2703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C376D69-D0F9-40CA-B2EA-B4FC7A7E6D90}" type="pres">
      <dgm:prSet presAssocID="{A98EAEC0-3C03-4191-BE68-165CBE8C2703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3030216-EEFC-4EFE-A0FB-30AFEC2E5313}" type="pres">
      <dgm:prSet presAssocID="{A98EAEC0-3C03-4191-BE68-165CBE8C2703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E33AC5D-36B5-4455-AA5E-1729CA1B7020}" type="pres">
      <dgm:prSet presAssocID="{A98EAEC0-3C03-4191-BE68-165CBE8C2703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85B7D19-73AB-4100-822D-C16E8F8BD6DF}" srcId="{A98EAEC0-3C03-4191-BE68-165CBE8C2703}" destId="{4661EE94-34D2-4632-AA92-AC033F6E0813}" srcOrd="3" destOrd="0" parTransId="{9777F06B-354A-4DF0-8C4B-A72062E976A1}" sibTransId="{6087D7AD-9634-436D-BB49-446E39A8F888}"/>
    <dgm:cxn modelId="{2CBF1420-44DE-4364-BA89-ED8BAFC51F17}" type="presOf" srcId="{F5AF7C4A-6301-4A84-B24C-6B50473CDF1C}" destId="{2C376D69-D0F9-40CA-B2EA-B4FC7A7E6D90}" srcOrd="0" destOrd="0" presId="urn:microsoft.com/office/officeart/2005/8/layout/matrix2"/>
    <dgm:cxn modelId="{24A7E428-020F-46E6-B82B-6D4A1F65DE14}" srcId="{A98EAEC0-3C03-4191-BE68-165CBE8C2703}" destId="{F5AF7C4A-6301-4A84-B24C-6B50473CDF1C}" srcOrd="1" destOrd="0" parTransId="{58E47B1D-1B62-48A9-9F5D-D67EC8C4C4AE}" sibTransId="{E2C09364-C39B-4583-A0CD-2CCE23BD5A7A}"/>
    <dgm:cxn modelId="{E5488E37-0564-4E8A-BF6A-E713A5EB1557}" type="presOf" srcId="{A98EAEC0-3C03-4191-BE68-165CBE8C2703}" destId="{6C05C7AF-D4E3-4E5E-B0B4-4236210EB02A}" srcOrd="0" destOrd="0" presId="urn:microsoft.com/office/officeart/2005/8/layout/matrix2"/>
    <dgm:cxn modelId="{AD306648-76B1-49B4-93B8-7FD81A35E4B1}" srcId="{A98EAEC0-3C03-4191-BE68-165CBE8C2703}" destId="{BAB1B561-1F4E-48D5-AA10-477F39D13F5C}" srcOrd="2" destOrd="0" parTransId="{E335D084-57EA-4CCA-8A03-DB38C5ECA39B}" sibTransId="{5B6CE83E-26F1-451E-A9E6-B0804897DC6B}"/>
    <dgm:cxn modelId="{3AF7B2ED-A9FA-4337-9411-757344EAFC82}" type="presOf" srcId="{4661EE94-34D2-4632-AA92-AC033F6E0813}" destId="{2E33AC5D-36B5-4455-AA5E-1729CA1B7020}" srcOrd="0" destOrd="0" presId="urn:microsoft.com/office/officeart/2005/8/layout/matrix2"/>
    <dgm:cxn modelId="{B3A51DF2-1748-4C5B-A38A-517711CD6AAC}" type="presOf" srcId="{BAB1B561-1F4E-48D5-AA10-477F39D13F5C}" destId="{B3030216-EEFC-4EFE-A0FB-30AFEC2E5313}" srcOrd="0" destOrd="0" presId="urn:microsoft.com/office/officeart/2005/8/layout/matrix2"/>
    <dgm:cxn modelId="{88767EF5-2537-45A2-91D3-676781199FBE}" srcId="{A98EAEC0-3C03-4191-BE68-165CBE8C2703}" destId="{CAB1725F-FB75-4EA1-BE21-FC0FCE7C44C2}" srcOrd="0" destOrd="0" parTransId="{E758F795-5023-4F29-B73F-A6BCA6BF57DD}" sibTransId="{0091EC53-648E-4EA9-9F77-0298EA016A03}"/>
    <dgm:cxn modelId="{483D18F6-D183-4BE9-9601-84708890BDCC}" type="presOf" srcId="{CAB1725F-FB75-4EA1-BE21-FC0FCE7C44C2}" destId="{4A730088-B856-4732-97D6-E4F9D4338757}" srcOrd="0" destOrd="0" presId="urn:microsoft.com/office/officeart/2005/8/layout/matrix2"/>
    <dgm:cxn modelId="{6550398B-AB46-48B8-A258-E72EF78F138E}" type="presParOf" srcId="{6C05C7AF-D4E3-4E5E-B0B4-4236210EB02A}" destId="{D7E428E4-DB5B-4824-8959-0CCDA3263181}" srcOrd="0" destOrd="0" presId="urn:microsoft.com/office/officeart/2005/8/layout/matrix2"/>
    <dgm:cxn modelId="{C7FA2D40-9E44-4D30-B11D-B4380771FB7A}" type="presParOf" srcId="{6C05C7AF-D4E3-4E5E-B0B4-4236210EB02A}" destId="{4A730088-B856-4732-97D6-E4F9D4338757}" srcOrd="1" destOrd="0" presId="urn:microsoft.com/office/officeart/2005/8/layout/matrix2"/>
    <dgm:cxn modelId="{B1A5127E-0599-425C-BAAF-10A2DA7386A7}" type="presParOf" srcId="{6C05C7AF-D4E3-4E5E-B0B4-4236210EB02A}" destId="{2C376D69-D0F9-40CA-B2EA-B4FC7A7E6D90}" srcOrd="2" destOrd="0" presId="urn:microsoft.com/office/officeart/2005/8/layout/matrix2"/>
    <dgm:cxn modelId="{3CE0EA20-3C4F-4E30-A096-888B361286B7}" type="presParOf" srcId="{6C05C7AF-D4E3-4E5E-B0B4-4236210EB02A}" destId="{B3030216-EEFC-4EFE-A0FB-30AFEC2E5313}" srcOrd="3" destOrd="0" presId="urn:microsoft.com/office/officeart/2005/8/layout/matrix2"/>
    <dgm:cxn modelId="{EB68114F-7A01-4EF1-8368-E8BF28E9C38A}" type="presParOf" srcId="{6C05C7AF-D4E3-4E5E-B0B4-4236210EB02A}" destId="{2E33AC5D-36B5-4455-AA5E-1729CA1B7020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428E4-DB5B-4824-8959-0CCDA3263181}">
      <dsp:nvSpPr>
        <dsp:cNvPr id="0" name=""/>
        <dsp:cNvSpPr/>
      </dsp:nvSpPr>
      <dsp:spPr>
        <a:xfrm>
          <a:off x="1194982" y="0"/>
          <a:ext cx="4279140" cy="427914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30088-B856-4732-97D6-E4F9D4338757}">
      <dsp:nvSpPr>
        <dsp:cNvPr id="0" name=""/>
        <dsp:cNvSpPr/>
      </dsp:nvSpPr>
      <dsp:spPr>
        <a:xfrm>
          <a:off x="1473126" y="278144"/>
          <a:ext cx="1711656" cy="1711656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Piloto</a:t>
          </a:r>
        </a:p>
      </dsp:txBody>
      <dsp:txXfrm>
        <a:off x="1556682" y="361700"/>
        <a:ext cx="1544544" cy="1544544"/>
      </dsp:txXfrm>
    </dsp:sp>
    <dsp:sp modelId="{2C376D69-D0F9-40CA-B2EA-B4FC7A7E6D90}">
      <dsp:nvSpPr>
        <dsp:cNvPr id="0" name=""/>
        <dsp:cNvSpPr/>
      </dsp:nvSpPr>
      <dsp:spPr>
        <a:xfrm>
          <a:off x="3484322" y="278144"/>
          <a:ext cx="1711656" cy="1711656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>
                  <a:lumMod val="95000"/>
                  <a:lumOff val="5000"/>
                </a:schemeClr>
              </a:solidFill>
            </a:rPr>
            <a:t>PoC</a:t>
          </a:r>
        </a:p>
      </dsp:txBody>
      <dsp:txXfrm>
        <a:off x="3567878" y="361700"/>
        <a:ext cx="1544544" cy="1544544"/>
      </dsp:txXfrm>
    </dsp:sp>
    <dsp:sp modelId="{B3030216-EEFC-4EFE-A0FB-30AFEC2E5313}">
      <dsp:nvSpPr>
        <dsp:cNvPr id="0" name=""/>
        <dsp:cNvSpPr/>
      </dsp:nvSpPr>
      <dsp:spPr>
        <a:xfrm>
          <a:off x="1473126" y="2289339"/>
          <a:ext cx="1711656" cy="1711656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Just Do </a:t>
          </a:r>
          <a:r>
            <a:rPr lang="es-ES" sz="2000" kern="1200" dirty="0" err="1"/>
            <a:t>It</a:t>
          </a:r>
          <a:endParaRPr lang="es-ES" sz="2000" kern="1200" dirty="0"/>
        </a:p>
      </dsp:txBody>
      <dsp:txXfrm>
        <a:off x="1556682" y="2372895"/>
        <a:ext cx="1544544" cy="1544544"/>
      </dsp:txXfrm>
    </dsp:sp>
    <dsp:sp modelId="{2E33AC5D-36B5-4455-AA5E-1729CA1B7020}">
      <dsp:nvSpPr>
        <dsp:cNvPr id="0" name=""/>
        <dsp:cNvSpPr/>
      </dsp:nvSpPr>
      <dsp:spPr>
        <a:xfrm>
          <a:off x="3484322" y="2289339"/>
          <a:ext cx="1711656" cy="1711656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Problem</a:t>
          </a:r>
          <a:r>
            <a:rPr lang="es-MX" sz="20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 </a:t>
          </a:r>
          <a:r>
            <a:rPr lang="es-MX" sz="2000" kern="1200" dirty="0" err="1">
              <a:solidFill>
                <a:prstClr val="white"/>
              </a:solidFill>
              <a:latin typeface="Calibri"/>
              <a:ea typeface="+mn-ea"/>
              <a:cs typeface="+mn-cs"/>
            </a:rPr>
            <a:t>Solving</a:t>
          </a:r>
          <a:endParaRPr lang="es-MX" sz="20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Proyecto MC</a:t>
          </a:r>
        </a:p>
      </dsp:txBody>
      <dsp:txXfrm>
        <a:off x="3567878" y="2372895"/>
        <a:ext cx="1544544" cy="1544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8955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r">
              <a:defRPr sz="1300"/>
            </a:lvl1pPr>
          </a:lstStyle>
          <a:p>
            <a:fld id="{EDE75EBD-B9AC-724B-AD2A-A4A15581C23C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2" tIns="48327" rIns="96652" bIns="48327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1" y="4620578"/>
            <a:ext cx="5852160" cy="3780474"/>
          </a:xfrm>
          <a:prstGeom prst="rect">
            <a:avLst/>
          </a:prstGeom>
        </p:spPr>
        <p:txBody>
          <a:bodyPr vert="horz" lIns="96652" tIns="48327" rIns="96652" bIns="48327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r">
              <a:defRPr sz="1300"/>
            </a:lvl1pPr>
          </a:lstStyle>
          <a:p>
            <a:fld id="{98894399-53F9-9442-B0D8-8FD0263738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29530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t-IT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308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13D29-91D0-A132-ED9A-B1172B6A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808D13-6234-CDA9-4B90-A6B7B405E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C53E3A-5468-FA6A-A429-77B98E109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73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C2FCE6-8492-9E4E-8DD2-15DB28C92D7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092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257B79-84BD-4005-A36A-FB640BB8352B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0802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257B79-84BD-4005-A36A-FB640BB8352B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910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962F1-4B08-EC4C-A6BE-F097EC6E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3C524-75CA-8249-819F-B0A7092B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418C14-FFCF-C44B-9F30-4700E04A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16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34106"/>
            <a:ext cx="6095999" cy="746830"/>
          </a:xfrm>
          <a:prstGeom prst="rect">
            <a:avLst/>
          </a:prstGeom>
        </p:spPr>
      </p:pic>
      <p:pic>
        <p:nvPicPr>
          <p:cNvPr id="9" name="Picture 8" descr="Sin título-2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7" b="24410"/>
          <a:stretch/>
        </p:blipFill>
        <p:spPr>
          <a:xfrm>
            <a:off x="6223001" y="764498"/>
            <a:ext cx="5495924" cy="5471410"/>
          </a:xfrm>
          <a:prstGeom prst="rect">
            <a:avLst/>
          </a:prstGeom>
        </p:spPr>
      </p:pic>
      <p:sp>
        <p:nvSpPr>
          <p:cNvPr id="3" name="Marcador de texto 2"/>
          <p:cNvSpPr>
            <a:spLocks noGrp="1"/>
          </p:cNvSpPr>
          <p:nvPr>
            <p:ph type="body" sz="quarter" idx="13"/>
          </p:nvPr>
        </p:nvSpPr>
        <p:spPr>
          <a:xfrm>
            <a:off x="838200" y="1687958"/>
            <a:ext cx="5257801" cy="27432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FontTx/>
              <a:buNone/>
              <a:defRPr sz="32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 algn="ctr">
              <a:buFontTx/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Rectángulo 1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40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838200" y="24884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Capítulo</a:t>
            </a:r>
            <a:r>
              <a:rPr lang="es-MX" b="1" baseline="0" dirty="0">
                <a:solidFill>
                  <a:srgbClr val="363636"/>
                </a:solidFill>
                <a:latin typeface="Verdana"/>
                <a:cs typeface="Verdana"/>
              </a:rPr>
              <a:t> </a:t>
            </a:r>
            <a:r>
              <a:rPr lang="es-MX" b="0" baseline="0" dirty="0">
                <a:solidFill>
                  <a:srgbClr val="363636"/>
                </a:solidFill>
                <a:latin typeface="Verdana"/>
                <a:cs typeface="Verdana"/>
              </a:rPr>
              <a:t>No. 1</a:t>
            </a:r>
            <a:endParaRPr lang="es-MX" b="1" dirty="0">
              <a:solidFill>
                <a:srgbClr val="363636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44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Titulares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990600" y="1858963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XXXXX</a:t>
            </a:r>
          </a:p>
        </p:txBody>
      </p:sp>
    </p:spTree>
    <p:extLst>
      <p:ext uri="{BB962C8B-B14F-4D97-AF65-F5344CB8AC3E}">
        <p14:creationId xmlns:p14="http://schemas.microsoft.com/office/powerpoint/2010/main" val="298180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4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1" name="Picture 10" descr="UDE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2041768"/>
            <a:ext cx="2905126" cy="2506418"/>
          </a:xfrm>
          <a:prstGeom prst="rect">
            <a:avLst/>
          </a:prstGeom>
        </p:spPr>
      </p:pic>
      <p:sp>
        <p:nvSpPr>
          <p:cNvPr id="12" name="CuadroTexto 7">
            <a:extLst>
              <a:ext uri="{FF2B5EF4-FFF2-40B4-BE49-F238E27FC236}">
                <a16:creationId xmlns:a16="http://schemas.microsoft.com/office/drawing/2014/main" id="{88B5A606-713B-9D4A-96B1-9D5B42AB5318}"/>
              </a:ext>
            </a:extLst>
          </p:cNvPr>
          <p:cNvSpPr txBox="1"/>
          <p:nvPr userDrawn="1"/>
        </p:nvSpPr>
        <p:spPr>
          <a:xfrm>
            <a:off x="5000289" y="5423718"/>
            <a:ext cx="2149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solidFill>
                  <a:srgbClr val="F5F1E8"/>
                </a:solidFill>
                <a:latin typeface="Verdana"/>
                <a:cs typeface="Verdana"/>
              </a:rPr>
              <a:t>udem.edu.mx</a:t>
            </a:r>
          </a:p>
        </p:txBody>
      </p:sp>
    </p:spTree>
    <p:extLst>
      <p:ext uri="{BB962C8B-B14F-4D97-AF65-F5344CB8AC3E}">
        <p14:creationId xmlns:p14="http://schemas.microsoft.com/office/powerpoint/2010/main" val="398832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24A39-B76D-1941-B212-22BF79F0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837359-156A-5441-B1CD-509DC4A1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F36AD-DDC1-044B-A739-2F4BC50D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558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37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145AA-F2FD-ED44-9443-2B5DEB25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B942C-AD4C-FB4F-8556-0AC2CC97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1030CA-32CD-0546-A5B4-1DF24DAB8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0C099B-D99E-5841-B866-F1664D8A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48C64B-093C-1144-AA66-97AE53A7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2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4AF13-E305-CA4D-B1D9-646119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D9D00-CF0E-0E4D-A88E-643AB22AA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ABC3F4-07D4-934E-9509-DF410DD60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B8C53A-93CC-B34A-9FE9-A8994589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0C01EB-6C5F-7F4F-9A3A-BE5813B5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600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ABDEA-A126-0643-837C-F268ABCC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8A7756-6623-FA45-98DE-3A21F2A15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899DA-FBEB-5F44-944D-18C4FA45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3E0C3A-1175-2E46-9EFA-72FD2833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507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817306-A0FA-B349-B9D9-BCAFAED7B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4227AA-3AFB-9E40-928F-68B154E18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67C78-0611-C645-836A-40E9AAC7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FEACF0-BF48-5444-8C72-1BA62F2E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9287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3B2BE8A-C619-48C4-A966-09BD439D075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63594" y="303603"/>
            <a:ext cx="1654606" cy="71537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1852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 Light" charset="0"/>
            </a:endParaRPr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214865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8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Diapositiva de título">
  <p:cSld name="12_Diapositiva de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5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5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95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5019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stándar sin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74130" y="237087"/>
            <a:ext cx="11411130" cy="663550"/>
          </a:xfrm>
          <a:prstGeom prst="rect">
            <a:avLst/>
          </a:prstGeom>
        </p:spPr>
        <p:txBody>
          <a:bodyPr anchor="ctr"/>
          <a:lstStyle>
            <a:lvl1pPr>
              <a:defRPr lang="es-ES" sz="2398" b="1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>
              <a:spcBef>
                <a:spcPts val="1000"/>
              </a:spcBef>
              <a:buFont typeface="Arial" panose="020B0604020202020204" pitchFamily="34" charset="0"/>
            </a:pPr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18" name="Marcador de número de diapositiva 13"/>
          <p:cNvSpPr>
            <a:spLocks noGrp="1"/>
          </p:cNvSpPr>
          <p:nvPr>
            <p:ph type="sldNum" sz="quarter" idx="4"/>
          </p:nvPr>
        </p:nvSpPr>
        <p:spPr>
          <a:xfrm>
            <a:off x="11078419" y="6310272"/>
            <a:ext cx="6954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263B52"/>
                </a:solidFill>
                <a:latin typeface="+mj-lt"/>
                <a:cs typeface="Corbel"/>
              </a:defRPr>
            </a:lvl1pPr>
          </a:lstStyle>
          <a:p>
            <a:fld id="{1440751D-4092-A740-916D-6857F5AA24D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6CDEC7E-6483-474F-8E49-1B086C9B54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4125" y="1064549"/>
            <a:ext cx="11399779" cy="5076045"/>
          </a:xfrm>
          <a:prstGeom prst="rect">
            <a:avLst/>
          </a:prstGeom>
        </p:spPr>
        <p:txBody>
          <a:bodyPr/>
          <a:lstStyle>
            <a:lvl1pPr>
              <a:defRPr lang="es-ES_tradnl" sz="1998" b="1" dirty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lang="es-ES_tradnl" sz="1998" dirty="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lang="es-ES_tradnl" sz="1600" dirty="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lang="es-ES_tradnl" sz="1600" dirty="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lang="es-ES" sz="1400" dirty="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0" lvl="0" indent="0">
              <a:buNone/>
            </a:pPr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>
              <a:buFont typeface="Helvetica" panose="020B0604020202020204" pitchFamily="34" charset="0"/>
              <a:buChar char="-"/>
            </a:pPr>
            <a:r>
              <a:rPr lang="es-ES_tradnl" dirty="0"/>
              <a:t>Tercer nivel</a:t>
            </a:r>
          </a:p>
          <a:p>
            <a:pPr lvl="3">
              <a:buFont typeface="Helvetica" panose="020B0604020202020204" pitchFamily="34" charset="0"/>
              <a:buChar char="&gt;"/>
            </a:pPr>
            <a:r>
              <a:rPr lang="es-ES_tradnl" dirty="0"/>
              <a:t>Cuarto nivel</a:t>
            </a:r>
          </a:p>
          <a:p>
            <a:pPr lvl="4">
              <a:buFont typeface="HGGothicE" panose="020B0909000000000000" pitchFamily="49" charset="-128"/>
              <a:buChar char="≫"/>
            </a:pPr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5316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0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1" y="736692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1999" b="0">
                <a:solidFill>
                  <a:srgbClr val="575757"/>
                </a:solidFill>
              </a:defRPr>
            </a:lvl1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add</a:t>
            </a:r>
            <a:r>
              <a:rPr lang="de-DE" noProof="0" dirty="0"/>
              <a:t> </a:t>
            </a:r>
            <a:r>
              <a:rPr lang="de-DE" noProof="0" dirty="0" err="1"/>
              <a:t>subtitle</a:t>
            </a:r>
            <a:endParaRPr lang="de-DE" noProof="0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1" y="402587"/>
            <a:ext cx="11252200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999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14993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 type="title">
  <p:cSld name="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5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5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6448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6"/>
          <p:cNvSpPr txBox="1">
            <a:spLocks noGrp="1"/>
          </p:cNvSpPr>
          <p:nvPr>
            <p:ph type="body" idx="1"/>
          </p:nvPr>
        </p:nvSpPr>
        <p:spPr>
          <a:xfrm>
            <a:off x="609601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0" name="Google Shape;20;p86"/>
          <p:cNvSpPr txBox="1">
            <a:spLocks noGrp="1"/>
          </p:cNvSpPr>
          <p:nvPr>
            <p:ph type="body" idx="2"/>
          </p:nvPr>
        </p:nvSpPr>
        <p:spPr>
          <a:xfrm>
            <a:off x="4319465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1" name="Google Shape;21;p86"/>
          <p:cNvSpPr txBox="1">
            <a:spLocks noGrp="1"/>
          </p:cNvSpPr>
          <p:nvPr>
            <p:ph type="body" idx="3"/>
          </p:nvPr>
        </p:nvSpPr>
        <p:spPr>
          <a:xfrm>
            <a:off x="8038337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9592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 type="obj">
  <p:cSld name="1_Título y objeto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7918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8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8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7179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 título">
  <p:cSld name="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9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9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67974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 título">
  <p:cSld name="4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0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0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0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35" name="Google Shape;35;p90"/>
          <p:cNvSpPr>
            <a:spLocks noGrp="1"/>
          </p:cNvSpPr>
          <p:nvPr>
            <p:ph type="pic" idx="2"/>
          </p:nvPr>
        </p:nvSpPr>
        <p:spPr>
          <a:xfrm>
            <a:off x="0" y="0"/>
            <a:ext cx="61074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707150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apositiva de título">
  <p:cSld name="5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1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1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1"/>
          <p:cNvSpPr>
            <a:spLocks noGrp="1"/>
          </p:cNvSpPr>
          <p:nvPr>
            <p:ph type="pic" idx="2"/>
          </p:nvPr>
        </p:nvSpPr>
        <p:spPr>
          <a:xfrm>
            <a:off x="0" y="0"/>
            <a:ext cx="6117595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04962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Diapositiva de título">
  <p:cSld name="14_Diapositiva de títul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3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3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3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9799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Diapositiva de título">
  <p:cSld name="9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4"/>
          <p:cNvSpPr txBox="1">
            <a:spLocks noGrp="1"/>
          </p:cNvSpPr>
          <p:nvPr>
            <p:ph type="ctrTitle"/>
          </p:nvPr>
        </p:nvSpPr>
        <p:spPr>
          <a:xfrm>
            <a:off x="556024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4"/>
          <p:cNvSpPr txBox="1">
            <a:spLocks noGrp="1"/>
          </p:cNvSpPr>
          <p:nvPr>
            <p:ph type="subTitle" idx="1"/>
          </p:nvPr>
        </p:nvSpPr>
        <p:spPr>
          <a:xfrm>
            <a:off x="556022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4"/>
          <p:cNvSpPr>
            <a:spLocks noGrp="1"/>
          </p:cNvSpPr>
          <p:nvPr>
            <p:ph type="pic" idx="2"/>
          </p:nvPr>
        </p:nvSpPr>
        <p:spPr>
          <a:xfrm>
            <a:off x="6087109" y="0"/>
            <a:ext cx="610489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237978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6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59" name="Google Shape;59;p96"/>
          <p:cNvSpPr txBox="1">
            <a:spLocks noGrp="1"/>
          </p:cNvSpPr>
          <p:nvPr>
            <p:ph type="body" idx="2"/>
          </p:nvPr>
        </p:nvSpPr>
        <p:spPr>
          <a:xfrm>
            <a:off x="6197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75422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7"/>
          <p:cNvSpPr txBox="1">
            <a:spLocks noGrp="1"/>
          </p:cNvSpPr>
          <p:nvPr>
            <p:ph type="body" idx="1"/>
          </p:nvPr>
        </p:nvSpPr>
        <p:spPr>
          <a:xfrm>
            <a:off x="609600" y="188784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3" name="Google Shape;63;p97"/>
          <p:cNvSpPr txBox="1">
            <a:spLocks noGrp="1"/>
          </p:cNvSpPr>
          <p:nvPr>
            <p:ph type="body" idx="2"/>
          </p:nvPr>
        </p:nvSpPr>
        <p:spPr>
          <a:xfrm>
            <a:off x="609600" y="2638641"/>
            <a:ext cx="5386917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64" name="Google Shape;64;p97"/>
          <p:cNvSpPr txBox="1">
            <a:spLocks noGrp="1"/>
          </p:cNvSpPr>
          <p:nvPr>
            <p:ph type="body" idx="3"/>
          </p:nvPr>
        </p:nvSpPr>
        <p:spPr>
          <a:xfrm>
            <a:off x="6193370" y="1887842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5" name="Google Shape;65;p97"/>
          <p:cNvSpPr txBox="1">
            <a:spLocks noGrp="1"/>
          </p:cNvSpPr>
          <p:nvPr>
            <p:ph type="body" idx="4"/>
          </p:nvPr>
        </p:nvSpPr>
        <p:spPr>
          <a:xfrm>
            <a:off x="6193370" y="2638641"/>
            <a:ext cx="5389033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95166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os objetos">
  <p:cSld name="2_Dos objeto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8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8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69" name="Google Shape;69;p98"/>
          <p:cNvSpPr txBox="1">
            <a:spLocks noGrp="1"/>
          </p:cNvSpPr>
          <p:nvPr>
            <p:ph type="body" idx="2"/>
          </p:nvPr>
        </p:nvSpPr>
        <p:spPr>
          <a:xfrm>
            <a:off x="3405879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0" name="Google Shape;70;p98"/>
          <p:cNvSpPr txBox="1">
            <a:spLocks noGrp="1"/>
          </p:cNvSpPr>
          <p:nvPr>
            <p:ph type="body" idx="3"/>
          </p:nvPr>
        </p:nvSpPr>
        <p:spPr>
          <a:xfrm>
            <a:off x="6212420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1" name="Google Shape;71;p98"/>
          <p:cNvSpPr txBox="1">
            <a:spLocks noGrp="1"/>
          </p:cNvSpPr>
          <p:nvPr>
            <p:ph type="body" idx="4"/>
          </p:nvPr>
        </p:nvSpPr>
        <p:spPr>
          <a:xfrm>
            <a:off x="9014759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9418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Sólo el títul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9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6151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ólo el título">
  <p:cSld name="1_Sólo el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0"/>
          <p:cNvSpPr/>
          <p:nvPr/>
        </p:nvSpPr>
        <p:spPr>
          <a:xfrm>
            <a:off x="-1" y="644205"/>
            <a:ext cx="12192001" cy="599027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0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4125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1"/>
          <p:cNvSpPr txBox="1">
            <a:spLocks noGrp="1"/>
          </p:cNvSpPr>
          <p:nvPr>
            <p:ph type="title"/>
          </p:nvPr>
        </p:nvSpPr>
        <p:spPr>
          <a:xfrm>
            <a:off x="609604" y="843052"/>
            <a:ext cx="4011084" cy="89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1"/>
          <p:cNvSpPr txBox="1">
            <a:spLocks noGrp="1"/>
          </p:cNvSpPr>
          <p:nvPr>
            <p:ph type="body" idx="1"/>
          </p:nvPr>
        </p:nvSpPr>
        <p:spPr>
          <a:xfrm>
            <a:off x="4766733" y="864948"/>
            <a:ext cx="6815667" cy="55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80" name="Google Shape;80;p101"/>
          <p:cNvSpPr txBox="1">
            <a:spLocks noGrp="1"/>
          </p:cNvSpPr>
          <p:nvPr>
            <p:ph type="body" idx="2"/>
          </p:nvPr>
        </p:nvSpPr>
        <p:spPr>
          <a:xfrm>
            <a:off x="609604" y="1968178"/>
            <a:ext cx="4011084" cy="445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8899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2"/>
          <p:cNvSpPr txBox="1">
            <a:spLocks noGrp="1"/>
          </p:cNvSpPr>
          <p:nvPr>
            <p:ph type="title"/>
          </p:nvPr>
        </p:nvSpPr>
        <p:spPr>
          <a:xfrm>
            <a:off x="2389718" y="501958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2"/>
          <p:cNvSpPr>
            <a:spLocks noGrp="1"/>
          </p:cNvSpPr>
          <p:nvPr>
            <p:ph type="pic" idx="2"/>
          </p:nvPr>
        </p:nvSpPr>
        <p:spPr>
          <a:xfrm>
            <a:off x="2389718" y="83175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2"/>
          <p:cNvSpPr txBox="1">
            <a:spLocks noGrp="1"/>
          </p:cNvSpPr>
          <p:nvPr>
            <p:ph type="body" idx="1"/>
          </p:nvPr>
        </p:nvSpPr>
        <p:spPr>
          <a:xfrm>
            <a:off x="2389718" y="5586320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6297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3"/>
          <p:cNvSpPr>
            <a:spLocks noGrp="1"/>
          </p:cNvSpPr>
          <p:nvPr>
            <p:ph type="pic" idx="2"/>
          </p:nvPr>
        </p:nvSpPr>
        <p:spPr>
          <a:xfrm>
            <a:off x="3" y="629920"/>
            <a:ext cx="12192000" cy="597408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22869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4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5388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Diapositiva de título">
  <p:cSld name="8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5"/>
          <p:cNvSpPr txBox="1">
            <a:spLocks noGrp="1"/>
          </p:cNvSpPr>
          <p:nvPr>
            <p:ph type="ctrTitle"/>
          </p:nvPr>
        </p:nvSpPr>
        <p:spPr>
          <a:xfrm>
            <a:off x="556016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5"/>
          <p:cNvSpPr txBox="1">
            <a:spLocks noGrp="1"/>
          </p:cNvSpPr>
          <p:nvPr>
            <p:ph type="subTitle" idx="1"/>
          </p:nvPr>
        </p:nvSpPr>
        <p:spPr>
          <a:xfrm>
            <a:off x="55601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05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934732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Diapositiva de título">
  <p:cSld name="7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6"/>
          <p:cNvSpPr txBox="1">
            <a:spLocks noGrp="1"/>
          </p:cNvSpPr>
          <p:nvPr>
            <p:ph type="ctrTitle"/>
          </p:nvPr>
        </p:nvSpPr>
        <p:spPr>
          <a:xfrm>
            <a:off x="576347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6"/>
          <p:cNvSpPr txBox="1">
            <a:spLocks noGrp="1"/>
          </p:cNvSpPr>
          <p:nvPr>
            <p:ph type="subTitle" idx="1"/>
          </p:nvPr>
        </p:nvSpPr>
        <p:spPr>
          <a:xfrm>
            <a:off x="576347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06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696478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0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F9D10E"/>
              </a:buClr>
              <a:buSzPts val="2000"/>
              <a:buFont typeface="Noto Sans Symbols"/>
              <a:buChar char="🗹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66927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8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300"/>
              <a:buFont typeface="Arial"/>
              <a:buNone/>
              <a:defRPr sz="5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0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7065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287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iapositiva de título">
  <p:cSld name="1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0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0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10"/>
          <p:cNvSpPr>
            <a:spLocks noGrp="1"/>
          </p:cNvSpPr>
          <p:nvPr>
            <p:ph type="pic" idx="2"/>
          </p:nvPr>
        </p:nvSpPr>
        <p:spPr>
          <a:xfrm>
            <a:off x="1" y="0"/>
            <a:ext cx="6096001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585742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Diapositiva de título">
  <p:cSld name="1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1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1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11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8773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AE6051-32FF-9B4B-B8E1-B1B809D7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767A2E-8FAB-BB4B-9A05-16815718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F5AF6E-72CF-6D4E-A31F-6F9A57F78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5971B2-3F52-F143-AE1E-D26F210EE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6141150"/>
            <a:ext cx="6095999" cy="74683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DAD3721-C012-4354-956D-A9ADF6967E36}"/>
              </a:ext>
            </a:extLst>
          </p:cNvPr>
          <p:cNvSpPr txBox="1"/>
          <p:nvPr userDrawn="1"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</p:spTree>
    <p:extLst>
      <p:ext uri="{BB962C8B-B14F-4D97-AF65-F5344CB8AC3E}">
        <p14:creationId xmlns:p14="http://schemas.microsoft.com/office/powerpoint/2010/main" val="281248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721" r:id="rId14"/>
    <p:sldLayoutId id="2147483723" r:id="rId15"/>
    <p:sldLayoutId id="2147483724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4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4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78288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FFF5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4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13" name="Google Shape;13;p84"/>
          <p:cNvSpPr txBox="1"/>
          <p:nvPr/>
        </p:nvSpPr>
        <p:spPr>
          <a:xfrm>
            <a:off x="11376743" y="6611566"/>
            <a:ext cx="815258" cy="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1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1822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2" r:id="rId8"/>
    <p:sldLayoutId id="2147483703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microsoft.com/office/2007/relationships/hdphoto" Target="../media/hdphoto1.wdp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6F69719F-B238-4C94-B7CC-04B6CD85301D}"/>
              </a:ext>
            </a:extLst>
          </p:cNvPr>
          <p:cNvSpPr txBox="1">
            <a:spLocks/>
          </p:cNvSpPr>
          <p:nvPr/>
        </p:nvSpPr>
        <p:spPr>
          <a:xfrm>
            <a:off x="2090254" y="603250"/>
            <a:ext cx="5946058" cy="46918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Diplomado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 Analítica y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Ciencia de Datos</a:t>
            </a:r>
          </a:p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Dr. Juan Baldemar Garza Villegas</a:t>
            </a:r>
            <a:endParaRPr lang="es-MX" sz="2000" b="1" dirty="0">
              <a:solidFill>
                <a:srgbClr val="9E1F6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juan.garza@udem.edu</a:t>
            </a:r>
            <a:b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0;p26">
            <a:extLst>
              <a:ext uri="{FF2B5EF4-FFF2-40B4-BE49-F238E27FC236}">
                <a16:creationId xmlns:a16="http://schemas.microsoft.com/office/drawing/2014/main" id="{03E97F3D-E088-4133-A30D-5E00CC9CDF48}"/>
              </a:ext>
            </a:extLst>
          </p:cNvPr>
          <p:cNvSpPr txBox="1">
            <a:spLocks/>
          </p:cNvSpPr>
          <p:nvPr/>
        </p:nvSpPr>
        <p:spPr>
          <a:xfrm>
            <a:off x="609851" y="1487987"/>
            <a:ext cx="10375900" cy="3139537"/>
          </a:xfrm>
          <a:prstGeom prst="rect">
            <a:avLst/>
          </a:prstGeom>
        </p:spPr>
        <p:txBody>
          <a:bodyPr spcFirstLastPara="1" vert="horz" lIns="34285" tIns="17138" rIns="34285" bIns="17138" rtlCol="0">
            <a:normAutofit fontScale="92500" lnSpcReduction="10000"/>
          </a:bodyPr>
          <a:lstStyle>
            <a:lvl1pPr marL="457109" indent="-457109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lang="en-US" sz="48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1pPr>
            <a:lvl2pPr marL="137132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40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588">
              <a:spcBef>
                <a:spcPts val="0"/>
              </a:spcBef>
              <a:buSzPts val="3200"/>
              <a:defRPr/>
            </a:pPr>
            <a:r>
              <a:rPr lang="es-MX" sz="3000" dirty="0" err="1">
                <a:solidFill>
                  <a:schemeClr val="bg2">
                    <a:lumMod val="10000"/>
                  </a:schemeClr>
                </a:solidFill>
              </a:rPr>
              <a:t>Practitioner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 </a:t>
            </a:r>
            <a:r>
              <a:rPr lang="es-MX" sz="3000" i="1" dirty="0">
                <a:solidFill>
                  <a:schemeClr val="bg2">
                    <a:lumMod val="10000"/>
                  </a:schemeClr>
                </a:solidFill>
              </a:rPr>
              <a:t>Y académico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Interesado en la Mejora Continua, Ciencia de Datos, Tecnología, Estrategia  4.0 y…..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MEJORES EMPRESAS…</a:t>
            </a:r>
          </a:p>
        </p:txBody>
      </p:sp>
    </p:spTree>
    <p:extLst>
      <p:ext uri="{BB962C8B-B14F-4D97-AF65-F5344CB8AC3E}">
        <p14:creationId xmlns:p14="http://schemas.microsoft.com/office/powerpoint/2010/main" val="237431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22B0-BB6D-7492-B718-4F1EA9791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F6691F7-383A-AEC4-DE20-4288BE12D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es-MX"/>
          </a:p>
        </p:txBody>
      </p:sp>
      <p:sp>
        <p:nvSpPr>
          <p:cNvPr id="44" name="Line 5">
            <a:extLst>
              <a:ext uri="{FF2B5EF4-FFF2-40B4-BE49-F238E27FC236}">
                <a16:creationId xmlns:a16="http://schemas.microsoft.com/office/drawing/2014/main" id="{29E1A0C5-273B-B952-B6FE-F85C0F7BE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EBD07369-1641-5479-51AD-E122FE090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190" name="Freeform 189">
            <a:extLst>
              <a:ext uri="{FF2B5EF4-FFF2-40B4-BE49-F238E27FC236}">
                <a16:creationId xmlns:a16="http://schemas.microsoft.com/office/drawing/2014/main" id="{61E67829-0C1D-F958-F8A5-BB5716B8786B}"/>
              </a:ext>
            </a:extLst>
          </p:cNvPr>
          <p:cNvSpPr/>
          <p:nvPr/>
        </p:nvSpPr>
        <p:spPr>
          <a:xfrm>
            <a:off x="4578032" y="-1690"/>
            <a:ext cx="7635241" cy="6859690"/>
          </a:xfrm>
          <a:custGeom>
            <a:avLst/>
            <a:gdLst>
              <a:gd name="connsiteX0" fmla="*/ 2483124 w 5460510"/>
              <a:gd name="connsiteY0" fmla="*/ 0 h 5143500"/>
              <a:gd name="connsiteX1" fmla="*/ 3448297 w 5460510"/>
              <a:gd name="connsiteY1" fmla="*/ 0 h 5143500"/>
              <a:gd name="connsiteX2" fmla="*/ 4717679 w 5460510"/>
              <a:gd name="connsiteY2" fmla="*/ 0 h 5143500"/>
              <a:gd name="connsiteX3" fmla="*/ 4741319 w 5460510"/>
              <a:gd name="connsiteY3" fmla="*/ 0 h 5143500"/>
              <a:gd name="connsiteX4" fmla="*/ 5318193 w 5460510"/>
              <a:gd name="connsiteY4" fmla="*/ 0 h 5143500"/>
              <a:gd name="connsiteX5" fmla="*/ 5460510 w 5460510"/>
              <a:gd name="connsiteY5" fmla="*/ 0 h 5143500"/>
              <a:gd name="connsiteX6" fmla="*/ 5460510 w 5460510"/>
              <a:gd name="connsiteY6" fmla="*/ 5143500 h 5143500"/>
              <a:gd name="connsiteX7" fmla="*/ 5318193 w 5460510"/>
              <a:gd name="connsiteY7" fmla="*/ 5143500 h 5143500"/>
              <a:gd name="connsiteX8" fmla="*/ 4741319 w 5460510"/>
              <a:gd name="connsiteY8" fmla="*/ 5143500 h 5143500"/>
              <a:gd name="connsiteX9" fmla="*/ 4717679 w 5460510"/>
              <a:gd name="connsiteY9" fmla="*/ 5143500 h 5143500"/>
              <a:gd name="connsiteX10" fmla="*/ 3448297 w 5460510"/>
              <a:gd name="connsiteY10" fmla="*/ 5143500 h 5143500"/>
              <a:gd name="connsiteX11" fmla="*/ 0 w 546051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448297" y="0"/>
                </a:lnTo>
                <a:lnTo>
                  <a:pt x="4717679" y="0"/>
                </a:lnTo>
                <a:lnTo>
                  <a:pt x="4741319" y="0"/>
                </a:lnTo>
                <a:lnTo>
                  <a:pt x="5318193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5318193" y="5143500"/>
                </a:lnTo>
                <a:lnTo>
                  <a:pt x="4741319" y="5143500"/>
                </a:lnTo>
                <a:lnTo>
                  <a:pt x="4717679" y="5143500"/>
                </a:lnTo>
                <a:lnTo>
                  <a:pt x="344829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EC00"/>
          </a:solidFill>
          <a:ln>
            <a:noFill/>
          </a:ln>
        </p:spPr>
        <p:txBody>
          <a:bodyPr/>
          <a:lstStyle/>
          <a:p>
            <a:pPr defTabSz="914217"/>
            <a:endParaRPr lang="en-US">
              <a:solidFill>
                <a:srgbClr val="91969B"/>
              </a:solidFill>
              <a:latin typeface="Calibri Light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6F7FC07C-D82A-C55D-584B-983AF1F095D7}"/>
              </a:ext>
            </a:extLst>
          </p:cNvPr>
          <p:cNvSpPr txBox="1"/>
          <p:nvPr/>
        </p:nvSpPr>
        <p:spPr>
          <a:xfrm>
            <a:off x="1845269" y="1293730"/>
            <a:ext cx="2228495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900" dirty="0">
                <a:solidFill>
                  <a:schemeClr val="bg1">
                    <a:lumMod val="50000"/>
                  </a:schemeClr>
                </a:solidFill>
                <a:latin typeface="Arial Black"/>
                <a:cs typeface="Arial Black"/>
              </a:rPr>
              <a:t>1</a:t>
            </a:r>
          </a:p>
        </p:txBody>
      </p:sp>
      <p:sp>
        <p:nvSpPr>
          <p:cNvPr id="11" name="CuadroTexto 5">
            <a:extLst>
              <a:ext uri="{FF2B5EF4-FFF2-40B4-BE49-F238E27FC236}">
                <a16:creationId xmlns:a16="http://schemas.microsoft.com/office/drawing/2014/main" id="{5FBE13A9-2584-78D1-41A1-9CF1C9A04A8E}"/>
              </a:ext>
            </a:extLst>
          </p:cNvPr>
          <p:cNvSpPr txBox="1"/>
          <p:nvPr/>
        </p:nvSpPr>
        <p:spPr>
          <a:xfrm>
            <a:off x="7200900" y="2696561"/>
            <a:ext cx="4648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chemeClr val="bg2">
                    <a:lumMod val="10000"/>
                  </a:schemeClr>
                </a:solidFill>
                <a:cs typeface="Calibri"/>
              </a:rPr>
              <a:t>Proyectos IA</a:t>
            </a:r>
          </a:p>
          <a:p>
            <a:r>
              <a:rPr lang="es-ES_tradnl" sz="3600" b="1" dirty="0">
                <a:solidFill>
                  <a:schemeClr val="bg2">
                    <a:lumMod val="10000"/>
                  </a:schemeClr>
                </a:solidFill>
                <a:cs typeface="Calibri"/>
              </a:rPr>
              <a:t>PoC, Piloto y Roll </a:t>
            </a:r>
            <a:r>
              <a:rPr lang="es-ES_tradnl" sz="3600" b="1" dirty="0" err="1">
                <a:solidFill>
                  <a:schemeClr val="bg2">
                    <a:lumMod val="10000"/>
                  </a:schemeClr>
                </a:solidFill>
                <a:cs typeface="Calibri"/>
              </a:rPr>
              <a:t>Out</a:t>
            </a:r>
            <a:endParaRPr lang="es-ES_tradnl" sz="3600" b="1" dirty="0">
              <a:solidFill>
                <a:schemeClr val="bg2">
                  <a:lumMod val="10000"/>
                </a:schemeClr>
              </a:solidFill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DD6650-93A2-A8EA-BCCF-2D3EC72563DC}"/>
              </a:ext>
            </a:extLst>
          </p:cNvPr>
          <p:cNvSpPr txBox="1"/>
          <p:nvPr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</p:spTree>
    <p:extLst>
      <p:ext uri="{BB962C8B-B14F-4D97-AF65-F5344CB8AC3E}">
        <p14:creationId xmlns:p14="http://schemas.microsoft.com/office/powerpoint/2010/main" val="338280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1DB45C-92BF-4511-86F9-211DD591D1AF}"/>
              </a:ext>
            </a:extLst>
          </p:cNvPr>
          <p:cNvSpPr>
            <a:spLocks/>
          </p:cNvSpPr>
          <p:nvPr/>
        </p:nvSpPr>
        <p:spPr>
          <a:xfrm>
            <a:off x="550750" y="1006001"/>
            <a:ext cx="1763558" cy="412009"/>
          </a:xfrm>
          <a:prstGeom prst="roundRect">
            <a:avLst>
              <a:gd name="adj" fmla="val 7000"/>
            </a:avLst>
          </a:prstGeom>
          <a:solidFill>
            <a:srgbClr val="BFBFBF"/>
          </a:solidFill>
          <a:ln w="28575">
            <a:solidFill>
              <a:srgbClr val="BFBFBF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s-ES" sz="1600" dirty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D61F59-774E-453F-813A-A1BEE9C24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715" y="405412"/>
            <a:ext cx="11411130" cy="663550"/>
          </a:xfrm>
        </p:spPr>
        <p:txBody>
          <a:bodyPr/>
          <a:lstStyle/>
          <a:p>
            <a:pPr algn="l"/>
            <a:r>
              <a:rPr lang="es-ES" dirty="0"/>
              <a:t>Las etapas del Ciclo de vida de un proyecto (CVP) tecnológico son…</a:t>
            </a: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769635-4160-45BF-A91F-44A1505D3540}"/>
              </a:ext>
            </a:extLst>
          </p:cNvPr>
          <p:cNvSpPr txBox="1"/>
          <p:nvPr/>
        </p:nvSpPr>
        <p:spPr>
          <a:xfrm>
            <a:off x="1112933" y="2153356"/>
            <a:ext cx="768858" cy="51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0" tIns="35710" rIns="35710" bIns="35710" rtlCol="0" anchor="ctr">
            <a:spAutoFit/>
          </a:bodyPr>
          <a:lstStyle/>
          <a:p>
            <a:pPr defTabSz="412626">
              <a:lnSpc>
                <a:spcPct val="90000"/>
              </a:lnSpc>
            </a:pPr>
            <a:r>
              <a:rPr lang="es-MX" sz="3199" b="1" dirty="0">
                <a:solidFill>
                  <a:srgbClr val="5E5E5E"/>
                </a:solidFill>
                <a:latin typeface="Corbel" panose="020B0503020204020204" pitchFamily="34" charset="0"/>
                <a:ea typeface="Helvetica"/>
                <a:cs typeface="Helvetica" panose="020B0604020202020204" pitchFamily="34" charset="0"/>
                <a:sym typeface="Helvetica"/>
              </a:rPr>
              <a:t>PoC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C54D17-AB1B-4442-B9C1-8D4B8EF2941F}"/>
              </a:ext>
            </a:extLst>
          </p:cNvPr>
          <p:cNvSpPr txBox="1"/>
          <p:nvPr/>
        </p:nvSpPr>
        <p:spPr>
          <a:xfrm>
            <a:off x="5316695" y="2153356"/>
            <a:ext cx="1221171" cy="51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0" tIns="35710" rIns="35710" bIns="35710" rtlCol="0" anchor="ctr">
            <a:spAutoFit/>
          </a:bodyPr>
          <a:lstStyle/>
          <a:p>
            <a:pPr defTabSz="412626">
              <a:lnSpc>
                <a:spcPct val="90000"/>
              </a:lnSpc>
            </a:pPr>
            <a:r>
              <a:rPr lang="es-MX" sz="3199" b="1" dirty="0">
                <a:solidFill>
                  <a:srgbClr val="5E5E5E"/>
                </a:solidFill>
                <a:latin typeface="Corbel" panose="020B0503020204020204" pitchFamily="34" charset="0"/>
                <a:ea typeface="Helvetica"/>
                <a:cs typeface="Helvetica" panose="020B0604020202020204" pitchFamily="34" charset="0"/>
                <a:sym typeface="Helvetica"/>
              </a:rPr>
              <a:t>Piloto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5213F1-C6CB-407F-B825-C68066C988CD}"/>
              </a:ext>
            </a:extLst>
          </p:cNvPr>
          <p:cNvSpPr txBox="1"/>
          <p:nvPr/>
        </p:nvSpPr>
        <p:spPr>
          <a:xfrm>
            <a:off x="8668620" y="2153356"/>
            <a:ext cx="1508033" cy="51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0" tIns="35710" rIns="35710" bIns="35710" rtlCol="0" anchor="ctr">
            <a:spAutoFit/>
          </a:bodyPr>
          <a:lstStyle/>
          <a:p>
            <a:pPr defTabSz="412626">
              <a:lnSpc>
                <a:spcPct val="90000"/>
              </a:lnSpc>
            </a:pPr>
            <a:r>
              <a:rPr lang="es-MX" sz="3199" b="1" dirty="0">
                <a:solidFill>
                  <a:srgbClr val="5E5E5E"/>
                </a:solidFill>
                <a:latin typeface="Corbel" panose="020B0503020204020204" pitchFamily="34" charset="0"/>
                <a:ea typeface="Helvetica"/>
                <a:cs typeface="Helvetica" panose="020B0604020202020204" pitchFamily="34" charset="0"/>
                <a:sym typeface="Helvetica"/>
              </a:rPr>
              <a:t>Roll </a:t>
            </a:r>
            <a:r>
              <a:rPr lang="es-MX" sz="3199" b="1" dirty="0" err="1">
                <a:solidFill>
                  <a:srgbClr val="5E5E5E"/>
                </a:solidFill>
                <a:latin typeface="Corbel" panose="020B0503020204020204" pitchFamily="34" charset="0"/>
                <a:ea typeface="Helvetica"/>
                <a:cs typeface="Helvetica" panose="020B0604020202020204" pitchFamily="34" charset="0"/>
                <a:sym typeface="Helvetica"/>
              </a:rPr>
              <a:t>Out</a:t>
            </a:r>
            <a:endParaRPr lang="es-MX" sz="3199" b="1" dirty="0">
              <a:solidFill>
                <a:srgbClr val="5E5E5E"/>
              </a:solidFill>
              <a:latin typeface="Corbel" panose="020B0503020204020204" pitchFamily="34" charset="0"/>
              <a:ea typeface="Helvetica"/>
              <a:cs typeface="Helvetica" panose="020B0604020202020204" pitchFamily="34" charset="0"/>
              <a:sym typeface="Helvetica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0B4D886-020E-427A-8111-CB7ED8B46BF9}"/>
              </a:ext>
            </a:extLst>
          </p:cNvPr>
          <p:cNvSpPr txBox="1"/>
          <p:nvPr/>
        </p:nvSpPr>
        <p:spPr>
          <a:xfrm>
            <a:off x="994498" y="2906834"/>
            <a:ext cx="2546890" cy="1938487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914126"/>
            <a:r>
              <a:rPr lang="es-ES" sz="1999" dirty="0">
                <a:solidFill>
                  <a:srgbClr val="040C28"/>
                </a:solidFill>
                <a:latin typeface="Corbel" panose="020B0503020204020204" pitchFamily="34" charset="0"/>
              </a:rPr>
              <a:t>Comprobar la viabilidad técnica de una idea, por medio de la evidencia de su funcionalidad y potencial</a:t>
            </a:r>
            <a:endParaRPr lang="es-MX" sz="1999" dirty="0">
              <a:solidFill>
                <a:prstClr val="black"/>
              </a:solidFill>
              <a:latin typeface="Corbel" panose="020B0503020204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0478A86-2905-4246-B660-FF22E18B173E}"/>
              </a:ext>
            </a:extLst>
          </p:cNvPr>
          <p:cNvSpPr txBox="1"/>
          <p:nvPr/>
        </p:nvSpPr>
        <p:spPr>
          <a:xfrm>
            <a:off x="4682518" y="2915252"/>
            <a:ext cx="2546890" cy="10153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914126"/>
            <a:r>
              <a:rPr lang="es-ES" sz="1999" dirty="0">
                <a:solidFill>
                  <a:srgbClr val="040C28"/>
                </a:solidFill>
                <a:latin typeface="Corbel" panose="020B0503020204020204" pitchFamily="34" charset="0"/>
              </a:rPr>
              <a:t>Puesta en marcha en una o varias estaciones de trabajo</a:t>
            </a:r>
            <a:endParaRPr lang="es-MX" sz="1999" dirty="0">
              <a:solidFill>
                <a:prstClr val="black"/>
              </a:solidFill>
              <a:latin typeface="Corbel" panose="020B0503020204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7C28B3-7677-419D-BFD0-5E2F9D6766C2}"/>
              </a:ext>
            </a:extLst>
          </p:cNvPr>
          <p:cNvSpPr txBox="1"/>
          <p:nvPr/>
        </p:nvSpPr>
        <p:spPr>
          <a:xfrm>
            <a:off x="8528937" y="2883781"/>
            <a:ext cx="2546890" cy="10153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defTabSz="914126"/>
            <a:r>
              <a:rPr lang="es-ES" sz="1999" dirty="0">
                <a:solidFill>
                  <a:srgbClr val="040C28"/>
                </a:solidFill>
                <a:latin typeface="Corbel" panose="020B0503020204020204" pitchFamily="34" charset="0"/>
              </a:rPr>
              <a:t>Puesta en marcha en toda la operación</a:t>
            </a:r>
          </a:p>
          <a:p>
            <a:pPr defTabSz="914126"/>
            <a:r>
              <a:rPr lang="es-ES" sz="1999" dirty="0">
                <a:solidFill>
                  <a:srgbClr val="040C28"/>
                </a:solidFill>
                <a:latin typeface="Corbel" panose="020B0503020204020204" pitchFamily="34" charset="0"/>
              </a:rPr>
              <a:t>(Planta)</a:t>
            </a:r>
            <a:endParaRPr lang="es-MX" sz="1999" dirty="0">
              <a:solidFill>
                <a:prstClr val="black"/>
              </a:solidFill>
              <a:latin typeface="Corbel" panose="020B0503020204020204" pitchFamily="34" charset="0"/>
            </a:endParaRPr>
          </a:p>
        </p:txBody>
      </p:sp>
      <p:sp>
        <p:nvSpPr>
          <p:cNvPr id="14" name="Freeform 213">
            <a:extLst>
              <a:ext uri="{FF2B5EF4-FFF2-40B4-BE49-F238E27FC236}">
                <a16:creationId xmlns:a16="http://schemas.microsoft.com/office/drawing/2014/main" id="{802A392D-0D18-4952-9175-EF6C2F7BB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1719" y="1897765"/>
            <a:ext cx="710898" cy="712793"/>
          </a:xfrm>
          <a:custGeom>
            <a:avLst/>
            <a:gdLst>
              <a:gd name="T0" fmla="*/ 589 w 634"/>
              <a:gd name="T1" fmla="*/ 236 h 619"/>
              <a:gd name="T2" fmla="*/ 589 w 634"/>
              <a:gd name="T3" fmla="*/ 236 h 619"/>
              <a:gd name="T4" fmla="*/ 589 w 634"/>
              <a:gd name="T5" fmla="*/ 545 h 619"/>
              <a:gd name="T6" fmla="*/ 545 w 634"/>
              <a:gd name="T7" fmla="*/ 589 h 619"/>
              <a:gd name="T8" fmla="*/ 89 w 634"/>
              <a:gd name="T9" fmla="*/ 589 h 619"/>
              <a:gd name="T10" fmla="*/ 45 w 634"/>
              <a:gd name="T11" fmla="*/ 545 h 619"/>
              <a:gd name="T12" fmla="*/ 45 w 634"/>
              <a:gd name="T13" fmla="*/ 74 h 619"/>
              <a:gd name="T14" fmla="*/ 89 w 634"/>
              <a:gd name="T15" fmla="*/ 29 h 619"/>
              <a:gd name="T16" fmla="*/ 398 w 634"/>
              <a:gd name="T17" fmla="*/ 29 h 619"/>
              <a:gd name="T18" fmla="*/ 398 w 634"/>
              <a:gd name="T19" fmla="*/ 0 h 619"/>
              <a:gd name="T20" fmla="*/ 89 w 634"/>
              <a:gd name="T21" fmla="*/ 0 h 619"/>
              <a:gd name="T22" fmla="*/ 0 w 634"/>
              <a:gd name="T23" fmla="*/ 74 h 619"/>
              <a:gd name="T24" fmla="*/ 0 w 634"/>
              <a:gd name="T25" fmla="*/ 545 h 619"/>
              <a:gd name="T26" fmla="*/ 89 w 634"/>
              <a:gd name="T27" fmla="*/ 618 h 619"/>
              <a:gd name="T28" fmla="*/ 545 w 634"/>
              <a:gd name="T29" fmla="*/ 618 h 619"/>
              <a:gd name="T30" fmla="*/ 633 w 634"/>
              <a:gd name="T31" fmla="*/ 545 h 619"/>
              <a:gd name="T32" fmla="*/ 633 w 634"/>
              <a:gd name="T33" fmla="*/ 236 h 619"/>
              <a:gd name="T34" fmla="*/ 589 w 634"/>
              <a:gd name="T35" fmla="*/ 236 h 619"/>
              <a:gd name="T36" fmla="*/ 162 w 634"/>
              <a:gd name="T37" fmla="*/ 354 h 619"/>
              <a:gd name="T38" fmla="*/ 162 w 634"/>
              <a:gd name="T39" fmla="*/ 354 h 619"/>
              <a:gd name="T40" fmla="*/ 74 w 634"/>
              <a:gd name="T41" fmla="*/ 516 h 619"/>
              <a:gd name="T42" fmla="*/ 103 w 634"/>
              <a:gd name="T43" fmla="*/ 545 h 619"/>
              <a:gd name="T44" fmla="*/ 280 w 634"/>
              <a:gd name="T45" fmla="*/ 457 h 619"/>
              <a:gd name="T46" fmla="*/ 295 w 634"/>
              <a:gd name="T47" fmla="*/ 457 h 619"/>
              <a:gd name="T48" fmla="*/ 604 w 634"/>
              <a:gd name="T49" fmla="*/ 147 h 619"/>
              <a:gd name="T50" fmla="*/ 604 w 634"/>
              <a:gd name="T51" fmla="*/ 88 h 619"/>
              <a:gd name="T52" fmla="*/ 530 w 634"/>
              <a:gd name="T53" fmla="*/ 29 h 619"/>
              <a:gd name="T54" fmla="*/ 471 w 634"/>
              <a:gd name="T55" fmla="*/ 29 h 619"/>
              <a:gd name="T56" fmla="*/ 177 w 634"/>
              <a:gd name="T57" fmla="*/ 324 h 619"/>
              <a:gd name="T58" fmla="*/ 162 w 634"/>
              <a:gd name="T59" fmla="*/ 354 h 619"/>
              <a:gd name="T60" fmla="*/ 486 w 634"/>
              <a:gd name="T61" fmla="*/ 74 h 619"/>
              <a:gd name="T62" fmla="*/ 486 w 634"/>
              <a:gd name="T63" fmla="*/ 74 h 619"/>
              <a:gd name="T64" fmla="*/ 516 w 634"/>
              <a:gd name="T65" fmla="*/ 74 h 619"/>
              <a:gd name="T66" fmla="*/ 560 w 634"/>
              <a:gd name="T67" fmla="*/ 103 h 619"/>
              <a:gd name="T68" fmla="*/ 560 w 634"/>
              <a:gd name="T69" fmla="*/ 133 h 619"/>
              <a:gd name="T70" fmla="*/ 516 w 634"/>
              <a:gd name="T71" fmla="*/ 177 h 619"/>
              <a:gd name="T72" fmla="*/ 457 w 634"/>
              <a:gd name="T73" fmla="*/ 103 h 619"/>
              <a:gd name="T74" fmla="*/ 486 w 634"/>
              <a:gd name="T75" fmla="*/ 74 h 619"/>
              <a:gd name="T76" fmla="*/ 428 w 634"/>
              <a:gd name="T77" fmla="*/ 133 h 619"/>
              <a:gd name="T78" fmla="*/ 428 w 634"/>
              <a:gd name="T79" fmla="*/ 133 h 619"/>
              <a:gd name="T80" fmla="*/ 486 w 634"/>
              <a:gd name="T81" fmla="*/ 206 h 619"/>
              <a:gd name="T82" fmla="*/ 266 w 634"/>
              <a:gd name="T83" fmla="*/ 427 h 619"/>
              <a:gd name="T84" fmla="*/ 207 w 634"/>
              <a:gd name="T85" fmla="*/ 354 h 619"/>
              <a:gd name="T86" fmla="*/ 428 w 634"/>
              <a:gd name="T87" fmla="*/ 133 h 619"/>
              <a:gd name="T88" fmla="*/ 236 w 634"/>
              <a:gd name="T89" fmla="*/ 442 h 619"/>
              <a:gd name="T90" fmla="*/ 236 w 634"/>
              <a:gd name="T91" fmla="*/ 442 h 619"/>
              <a:gd name="T92" fmla="*/ 133 w 634"/>
              <a:gd name="T93" fmla="*/ 516 h 619"/>
              <a:gd name="T94" fmla="*/ 118 w 634"/>
              <a:gd name="T95" fmla="*/ 501 h 619"/>
              <a:gd name="T96" fmla="*/ 177 w 634"/>
              <a:gd name="T97" fmla="*/ 398 h 619"/>
              <a:gd name="T98" fmla="*/ 236 w 634"/>
              <a:gd name="T99" fmla="*/ 442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634" h="619">
                <a:moveTo>
                  <a:pt x="589" y="236"/>
                </a:moveTo>
                <a:lnTo>
                  <a:pt x="589" y="236"/>
                </a:lnTo>
                <a:cubicBezTo>
                  <a:pt x="589" y="545"/>
                  <a:pt x="589" y="545"/>
                  <a:pt x="589" y="545"/>
                </a:cubicBezTo>
                <a:cubicBezTo>
                  <a:pt x="589" y="559"/>
                  <a:pt x="575" y="589"/>
                  <a:pt x="545" y="589"/>
                </a:cubicBezTo>
                <a:cubicBezTo>
                  <a:pt x="89" y="589"/>
                  <a:pt x="89" y="589"/>
                  <a:pt x="89" y="589"/>
                </a:cubicBezTo>
                <a:cubicBezTo>
                  <a:pt x="59" y="589"/>
                  <a:pt x="45" y="559"/>
                  <a:pt x="45" y="545"/>
                </a:cubicBezTo>
                <a:cubicBezTo>
                  <a:pt x="45" y="74"/>
                  <a:pt x="45" y="74"/>
                  <a:pt x="45" y="74"/>
                </a:cubicBezTo>
                <a:cubicBezTo>
                  <a:pt x="45" y="59"/>
                  <a:pt x="59" y="29"/>
                  <a:pt x="89" y="29"/>
                </a:cubicBezTo>
                <a:cubicBezTo>
                  <a:pt x="398" y="29"/>
                  <a:pt x="398" y="29"/>
                  <a:pt x="398" y="29"/>
                </a:cubicBezTo>
                <a:cubicBezTo>
                  <a:pt x="398" y="0"/>
                  <a:pt x="398" y="0"/>
                  <a:pt x="39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45" y="0"/>
                  <a:pt x="0" y="29"/>
                  <a:pt x="0" y="7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89"/>
                  <a:pt x="45" y="618"/>
                  <a:pt x="89" y="618"/>
                </a:cubicBezTo>
                <a:cubicBezTo>
                  <a:pt x="545" y="618"/>
                  <a:pt x="545" y="618"/>
                  <a:pt x="545" y="618"/>
                </a:cubicBezTo>
                <a:cubicBezTo>
                  <a:pt x="589" y="618"/>
                  <a:pt x="633" y="589"/>
                  <a:pt x="633" y="545"/>
                </a:cubicBezTo>
                <a:cubicBezTo>
                  <a:pt x="633" y="236"/>
                  <a:pt x="633" y="236"/>
                  <a:pt x="633" y="236"/>
                </a:cubicBezTo>
                <a:lnTo>
                  <a:pt x="589" y="236"/>
                </a:lnTo>
                <a:close/>
                <a:moveTo>
                  <a:pt x="162" y="354"/>
                </a:moveTo>
                <a:lnTo>
                  <a:pt x="162" y="354"/>
                </a:lnTo>
                <a:cubicBezTo>
                  <a:pt x="74" y="516"/>
                  <a:pt x="74" y="516"/>
                  <a:pt x="74" y="516"/>
                </a:cubicBezTo>
                <a:cubicBezTo>
                  <a:pt x="74" y="545"/>
                  <a:pt x="89" y="559"/>
                  <a:pt x="103" y="545"/>
                </a:cubicBezTo>
                <a:cubicBezTo>
                  <a:pt x="280" y="457"/>
                  <a:pt x="280" y="457"/>
                  <a:pt x="280" y="457"/>
                </a:cubicBezTo>
                <a:lnTo>
                  <a:pt x="295" y="457"/>
                </a:lnTo>
                <a:cubicBezTo>
                  <a:pt x="604" y="147"/>
                  <a:pt x="604" y="147"/>
                  <a:pt x="604" y="147"/>
                </a:cubicBezTo>
                <a:cubicBezTo>
                  <a:pt x="619" y="133"/>
                  <a:pt x="619" y="103"/>
                  <a:pt x="604" y="88"/>
                </a:cubicBezTo>
                <a:cubicBezTo>
                  <a:pt x="530" y="29"/>
                  <a:pt x="530" y="29"/>
                  <a:pt x="530" y="29"/>
                </a:cubicBezTo>
                <a:cubicBezTo>
                  <a:pt x="516" y="15"/>
                  <a:pt x="486" y="15"/>
                  <a:pt x="471" y="29"/>
                </a:cubicBezTo>
                <a:cubicBezTo>
                  <a:pt x="177" y="324"/>
                  <a:pt x="177" y="324"/>
                  <a:pt x="177" y="324"/>
                </a:cubicBezTo>
                <a:cubicBezTo>
                  <a:pt x="162" y="339"/>
                  <a:pt x="162" y="339"/>
                  <a:pt x="162" y="354"/>
                </a:cubicBezTo>
                <a:close/>
                <a:moveTo>
                  <a:pt x="486" y="74"/>
                </a:moveTo>
                <a:lnTo>
                  <a:pt x="486" y="74"/>
                </a:lnTo>
                <a:cubicBezTo>
                  <a:pt x="501" y="59"/>
                  <a:pt x="516" y="59"/>
                  <a:pt x="516" y="74"/>
                </a:cubicBezTo>
                <a:cubicBezTo>
                  <a:pt x="560" y="103"/>
                  <a:pt x="560" y="103"/>
                  <a:pt x="560" y="103"/>
                </a:cubicBezTo>
                <a:cubicBezTo>
                  <a:pt x="575" y="118"/>
                  <a:pt x="575" y="133"/>
                  <a:pt x="560" y="133"/>
                </a:cubicBezTo>
                <a:cubicBezTo>
                  <a:pt x="516" y="177"/>
                  <a:pt x="516" y="177"/>
                  <a:pt x="516" y="177"/>
                </a:cubicBezTo>
                <a:cubicBezTo>
                  <a:pt x="457" y="103"/>
                  <a:pt x="457" y="103"/>
                  <a:pt x="457" y="103"/>
                </a:cubicBezTo>
                <a:lnTo>
                  <a:pt x="486" y="74"/>
                </a:lnTo>
                <a:close/>
                <a:moveTo>
                  <a:pt x="428" y="133"/>
                </a:moveTo>
                <a:lnTo>
                  <a:pt x="428" y="133"/>
                </a:lnTo>
                <a:cubicBezTo>
                  <a:pt x="486" y="206"/>
                  <a:pt x="486" y="206"/>
                  <a:pt x="486" y="206"/>
                </a:cubicBezTo>
                <a:cubicBezTo>
                  <a:pt x="266" y="427"/>
                  <a:pt x="266" y="427"/>
                  <a:pt x="266" y="427"/>
                </a:cubicBezTo>
                <a:cubicBezTo>
                  <a:pt x="251" y="398"/>
                  <a:pt x="207" y="368"/>
                  <a:pt x="207" y="354"/>
                </a:cubicBezTo>
                <a:lnTo>
                  <a:pt x="428" y="133"/>
                </a:lnTo>
                <a:close/>
                <a:moveTo>
                  <a:pt x="236" y="442"/>
                </a:moveTo>
                <a:lnTo>
                  <a:pt x="236" y="442"/>
                </a:lnTo>
                <a:cubicBezTo>
                  <a:pt x="133" y="516"/>
                  <a:pt x="133" y="516"/>
                  <a:pt x="133" y="516"/>
                </a:cubicBezTo>
                <a:cubicBezTo>
                  <a:pt x="118" y="516"/>
                  <a:pt x="118" y="501"/>
                  <a:pt x="118" y="501"/>
                </a:cubicBezTo>
                <a:cubicBezTo>
                  <a:pt x="177" y="398"/>
                  <a:pt x="177" y="398"/>
                  <a:pt x="177" y="398"/>
                </a:cubicBezTo>
                <a:lnTo>
                  <a:pt x="236" y="44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lIns="91407" tIns="45704" rIns="91407" bIns="45704" anchor="ctr"/>
          <a:lstStyle/>
          <a:p>
            <a:pPr defTabSz="1218621">
              <a:defRPr/>
            </a:pPr>
            <a:endParaRPr lang="en-US" sz="1799" kern="0">
              <a:solidFill>
                <a:srgbClr val="91969B"/>
              </a:solidFill>
              <a:latin typeface="Calibri"/>
              <a:ea typeface="MS PGothic" panose="020B0600070205080204" pitchFamily="34" charset="-128"/>
            </a:endParaRPr>
          </a:p>
        </p:txBody>
      </p:sp>
      <p:sp>
        <p:nvSpPr>
          <p:cNvPr id="18" name="Freeform 101">
            <a:extLst>
              <a:ext uri="{FF2B5EF4-FFF2-40B4-BE49-F238E27FC236}">
                <a16:creationId xmlns:a16="http://schemas.microsoft.com/office/drawing/2014/main" id="{575E3C39-F5B0-40E8-8E54-70B20F1DDFA4}"/>
              </a:ext>
            </a:extLst>
          </p:cNvPr>
          <p:cNvSpPr>
            <a:spLocks noEditPoints="1"/>
          </p:cNvSpPr>
          <p:nvPr/>
        </p:nvSpPr>
        <p:spPr bwMode="auto">
          <a:xfrm>
            <a:off x="6522621" y="1966106"/>
            <a:ext cx="622138" cy="576112"/>
          </a:xfrm>
          <a:custGeom>
            <a:avLst/>
            <a:gdLst>
              <a:gd name="T0" fmla="*/ 2147483646 w 68"/>
              <a:gd name="T1" fmla="*/ 2147483646 h 63"/>
              <a:gd name="T2" fmla="*/ 2147483646 w 68"/>
              <a:gd name="T3" fmla="*/ 2147483646 h 63"/>
              <a:gd name="T4" fmla="*/ 2147483646 w 68"/>
              <a:gd name="T5" fmla="*/ 2147483646 h 63"/>
              <a:gd name="T6" fmla="*/ 2147483646 w 68"/>
              <a:gd name="T7" fmla="*/ 2147483646 h 63"/>
              <a:gd name="T8" fmla="*/ 2147483646 w 68"/>
              <a:gd name="T9" fmla="*/ 2147483646 h 63"/>
              <a:gd name="T10" fmla="*/ 2147483646 w 68"/>
              <a:gd name="T11" fmla="*/ 2147483646 h 63"/>
              <a:gd name="T12" fmla="*/ 2147483646 w 68"/>
              <a:gd name="T13" fmla="*/ 2147483646 h 63"/>
              <a:gd name="T14" fmla="*/ 2147483646 w 68"/>
              <a:gd name="T15" fmla="*/ 2147483646 h 63"/>
              <a:gd name="T16" fmla="*/ 0 w 68"/>
              <a:gd name="T17" fmla="*/ 2147483646 h 63"/>
              <a:gd name="T18" fmla="*/ 2147483646 w 68"/>
              <a:gd name="T19" fmla="*/ 2147483646 h 63"/>
              <a:gd name="T20" fmla="*/ 2147483646 w 68"/>
              <a:gd name="T21" fmla="*/ 2147483646 h 63"/>
              <a:gd name="T22" fmla="*/ 2147483646 w 68"/>
              <a:gd name="T23" fmla="*/ 2147483646 h 63"/>
              <a:gd name="T24" fmla="*/ 2147483646 w 68"/>
              <a:gd name="T25" fmla="*/ 2147483646 h 63"/>
              <a:gd name="T26" fmla="*/ 2147483646 w 68"/>
              <a:gd name="T27" fmla="*/ 2147483646 h 63"/>
              <a:gd name="T28" fmla="*/ 2147483646 w 68"/>
              <a:gd name="T29" fmla="*/ 2147483646 h 63"/>
              <a:gd name="T30" fmla="*/ 2147483646 w 68"/>
              <a:gd name="T31" fmla="*/ 2147483646 h 63"/>
              <a:gd name="T32" fmla="*/ 2147483646 w 68"/>
              <a:gd name="T33" fmla="*/ 2147483646 h 63"/>
              <a:gd name="T34" fmla="*/ 2147483646 w 68"/>
              <a:gd name="T35" fmla="*/ 2147483646 h 63"/>
              <a:gd name="T36" fmla="*/ 2147483646 w 68"/>
              <a:gd name="T37" fmla="*/ 2147483646 h 63"/>
              <a:gd name="T38" fmla="*/ 2147483646 w 68"/>
              <a:gd name="T39" fmla="*/ 2147483646 h 63"/>
              <a:gd name="T40" fmla="*/ 2147483646 w 68"/>
              <a:gd name="T41" fmla="*/ 2147483646 h 63"/>
              <a:gd name="T42" fmla="*/ 2147483646 w 68"/>
              <a:gd name="T43" fmla="*/ 2147483646 h 63"/>
              <a:gd name="T44" fmla="*/ 2147483646 w 68"/>
              <a:gd name="T45" fmla="*/ 2147483646 h 63"/>
              <a:gd name="T46" fmla="*/ 2147483646 w 68"/>
              <a:gd name="T47" fmla="*/ 2147483646 h 63"/>
              <a:gd name="T48" fmla="*/ 2147483646 w 68"/>
              <a:gd name="T49" fmla="*/ 2147483646 h 63"/>
              <a:gd name="T50" fmla="*/ 2147483646 w 68"/>
              <a:gd name="T51" fmla="*/ 2147483646 h 63"/>
              <a:gd name="T52" fmla="*/ 2147483646 w 68"/>
              <a:gd name="T53" fmla="*/ 2147483646 h 63"/>
              <a:gd name="T54" fmla="*/ 2147483646 w 68"/>
              <a:gd name="T55" fmla="*/ 0 h 63"/>
              <a:gd name="T56" fmla="*/ 2147483646 w 68"/>
              <a:gd name="T57" fmla="*/ 2147483646 h 63"/>
              <a:gd name="T58" fmla="*/ 2147483646 w 68"/>
              <a:gd name="T59" fmla="*/ 2147483646 h 63"/>
              <a:gd name="T60" fmla="*/ 2147483646 w 68"/>
              <a:gd name="T61" fmla="*/ 2147483646 h 63"/>
              <a:gd name="T62" fmla="*/ 2147483646 w 68"/>
              <a:gd name="T63" fmla="*/ 2147483646 h 63"/>
              <a:gd name="T64" fmla="*/ 2147483646 w 68"/>
              <a:gd name="T65" fmla="*/ 2147483646 h 63"/>
              <a:gd name="T66" fmla="*/ 2147483646 w 68"/>
              <a:gd name="T67" fmla="*/ 2147483646 h 63"/>
              <a:gd name="T68" fmla="*/ 2147483646 w 68"/>
              <a:gd name="T69" fmla="*/ 2147483646 h 63"/>
              <a:gd name="T70" fmla="*/ 2147483646 w 68"/>
              <a:gd name="T71" fmla="*/ 2147483646 h 63"/>
              <a:gd name="T72" fmla="*/ 2147483646 w 68"/>
              <a:gd name="T73" fmla="*/ 2147483646 h 63"/>
              <a:gd name="T74" fmla="*/ 2147483646 w 68"/>
              <a:gd name="T75" fmla="*/ 2147483646 h 63"/>
              <a:gd name="T76" fmla="*/ 2147483646 w 68"/>
              <a:gd name="T77" fmla="*/ 2147483646 h 63"/>
              <a:gd name="T78" fmla="*/ 2147483646 w 68"/>
              <a:gd name="T79" fmla="*/ 2147483646 h 63"/>
              <a:gd name="T80" fmla="*/ 2147483646 w 68"/>
              <a:gd name="T81" fmla="*/ 2147483646 h 63"/>
              <a:gd name="T82" fmla="*/ 2147483646 w 68"/>
              <a:gd name="T83" fmla="*/ 2147483646 h 63"/>
              <a:gd name="T84" fmla="*/ 2147483646 w 68"/>
              <a:gd name="T85" fmla="*/ 2147483646 h 63"/>
              <a:gd name="T86" fmla="*/ 2147483646 w 68"/>
              <a:gd name="T87" fmla="*/ 2147483646 h 6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lIns="243734" tIns="121867" rIns="243734" bIns="121867"/>
          <a:lstStyle/>
          <a:p>
            <a:pPr defTabSz="914126"/>
            <a:endParaRPr lang="es-MX" sz="179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Freeform 137">
            <a:extLst>
              <a:ext uri="{FF2B5EF4-FFF2-40B4-BE49-F238E27FC236}">
                <a16:creationId xmlns:a16="http://schemas.microsoft.com/office/drawing/2014/main" id="{15012613-151A-4B07-B487-2F8E0103F968}"/>
              </a:ext>
            </a:extLst>
          </p:cNvPr>
          <p:cNvSpPr>
            <a:spLocks noEditPoints="1"/>
          </p:cNvSpPr>
          <p:nvPr/>
        </p:nvSpPr>
        <p:spPr bwMode="auto">
          <a:xfrm>
            <a:off x="10334274" y="2125774"/>
            <a:ext cx="528499" cy="542784"/>
          </a:xfrm>
          <a:custGeom>
            <a:avLst/>
            <a:gdLst>
              <a:gd name="T0" fmla="*/ 2147483646 w 58"/>
              <a:gd name="T1" fmla="*/ 2147483646 h 59"/>
              <a:gd name="T2" fmla="*/ 2147483646 w 58"/>
              <a:gd name="T3" fmla="*/ 2147483646 h 59"/>
              <a:gd name="T4" fmla="*/ 2147483646 w 58"/>
              <a:gd name="T5" fmla="*/ 2147483646 h 59"/>
              <a:gd name="T6" fmla="*/ 2147483646 w 58"/>
              <a:gd name="T7" fmla="*/ 2147483646 h 59"/>
              <a:gd name="T8" fmla="*/ 2147483646 w 58"/>
              <a:gd name="T9" fmla="*/ 2147483646 h 59"/>
              <a:gd name="T10" fmla="*/ 2147483646 w 58"/>
              <a:gd name="T11" fmla="*/ 2147483646 h 59"/>
              <a:gd name="T12" fmla="*/ 2147483646 w 58"/>
              <a:gd name="T13" fmla="*/ 2147483646 h 59"/>
              <a:gd name="T14" fmla="*/ 2147483646 w 58"/>
              <a:gd name="T15" fmla="*/ 2147483646 h 59"/>
              <a:gd name="T16" fmla="*/ 2147483646 w 58"/>
              <a:gd name="T17" fmla="*/ 2147483646 h 59"/>
              <a:gd name="T18" fmla="*/ 2147483646 w 58"/>
              <a:gd name="T19" fmla="*/ 2147483646 h 59"/>
              <a:gd name="T20" fmla="*/ 2147483646 w 58"/>
              <a:gd name="T21" fmla="*/ 2147483646 h 59"/>
              <a:gd name="T22" fmla="*/ 2147483646 w 58"/>
              <a:gd name="T23" fmla="*/ 2147483646 h 59"/>
              <a:gd name="T24" fmla="*/ 2147483646 w 58"/>
              <a:gd name="T25" fmla="*/ 2147483646 h 59"/>
              <a:gd name="T26" fmla="*/ 2147483646 w 58"/>
              <a:gd name="T27" fmla="*/ 2147483646 h 59"/>
              <a:gd name="T28" fmla="*/ 0 w 58"/>
              <a:gd name="T29" fmla="*/ 2147483646 h 59"/>
              <a:gd name="T30" fmla="*/ 0 w 58"/>
              <a:gd name="T31" fmla="*/ 2147483646 h 59"/>
              <a:gd name="T32" fmla="*/ 2147483646 w 58"/>
              <a:gd name="T33" fmla="*/ 2147483646 h 59"/>
              <a:gd name="T34" fmla="*/ 2147483646 w 58"/>
              <a:gd name="T35" fmla="*/ 2147483646 h 59"/>
              <a:gd name="T36" fmla="*/ 2147483646 w 58"/>
              <a:gd name="T37" fmla="*/ 2147483646 h 59"/>
              <a:gd name="T38" fmla="*/ 2147483646 w 58"/>
              <a:gd name="T39" fmla="*/ 2147483646 h 59"/>
              <a:gd name="T40" fmla="*/ 2147483646 w 58"/>
              <a:gd name="T41" fmla="*/ 0 h 59"/>
              <a:gd name="T42" fmla="*/ 2147483646 w 58"/>
              <a:gd name="T43" fmla="*/ 2147483646 h 59"/>
              <a:gd name="T44" fmla="*/ 2147483646 w 58"/>
              <a:gd name="T45" fmla="*/ 2147483646 h 59"/>
              <a:gd name="T46" fmla="*/ 2147483646 w 58"/>
              <a:gd name="T47" fmla="*/ 2147483646 h 59"/>
              <a:gd name="T48" fmla="*/ 2147483646 w 58"/>
              <a:gd name="T49" fmla="*/ 2147483646 h 59"/>
              <a:gd name="T50" fmla="*/ 2147483646 w 58"/>
              <a:gd name="T51" fmla="*/ 2147483646 h 59"/>
              <a:gd name="T52" fmla="*/ 2147483646 w 58"/>
              <a:gd name="T53" fmla="*/ 2147483646 h 59"/>
              <a:gd name="T54" fmla="*/ 2147483646 w 58"/>
              <a:gd name="T55" fmla="*/ 2147483646 h 59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8" h="59">
                <a:moveTo>
                  <a:pt x="46" y="30"/>
                </a:moveTo>
                <a:cubicBezTo>
                  <a:pt x="44" y="32"/>
                  <a:pt x="42" y="34"/>
                  <a:pt x="39" y="36"/>
                </a:cubicBezTo>
                <a:cubicBezTo>
                  <a:pt x="39" y="50"/>
                  <a:pt x="39" y="50"/>
                  <a:pt x="39" y="50"/>
                </a:cubicBezTo>
                <a:cubicBezTo>
                  <a:pt x="39" y="50"/>
                  <a:pt x="39" y="50"/>
                  <a:pt x="38" y="50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9"/>
                  <a:pt x="24" y="59"/>
                  <a:pt x="24" y="59"/>
                </a:cubicBezTo>
                <a:cubicBezTo>
                  <a:pt x="24" y="59"/>
                  <a:pt x="23" y="58"/>
                  <a:pt x="23" y="58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6"/>
                  <a:pt x="20" y="55"/>
                  <a:pt x="21" y="55"/>
                </a:cubicBezTo>
                <a:cubicBezTo>
                  <a:pt x="24" y="45"/>
                  <a:pt x="24" y="45"/>
                  <a:pt x="24" y="45"/>
                </a:cubicBezTo>
                <a:cubicBezTo>
                  <a:pt x="14" y="35"/>
                  <a:pt x="14" y="35"/>
                  <a:pt x="14" y="35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38"/>
                  <a:pt x="3" y="38"/>
                  <a:pt x="3" y="38"/>
                </a:cubicBezTo>
                <a:cubicBezTo>
                  <a:pt x="3" y="38"/>
                  <a:pt x="3" y="38"/>
                  <a:pt x="3" y="3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5"/>
                  <a:pt x="0" y="34"/>
                  <a:pt x="0" y="34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20"/>
                  <a:pt x="9" y="20"/>
                  <a:pt x="9" y="20"/>
                </a:cubicBezTo>
                <a:cubicBezTo>
                  <a:pt x="23" y="19"/>
                  <a:pt x="23" y="19"/>
                  <a:pt x="23" y="19"/>
                </a:cubicBezTo>
                <a:cubicBezTo>
                  <a:pt x="25" y="17"/>
                  <a:pt x="27" y="14"/>
                  <a:pt x="29" y="12"/>
                </a:cubicBezTo>
                <a:cubicBezTo>
                  <a:pt x="38" y="3"/>
                  <a:pt x="45" y="0"/>
                  <a:pt x="57" y="0"/>
                </a:cubicBezTo>
                <a:cubicBezTo>
                  <a:pt x="58" y="0"/>
                  <a:pt x="58" y="1"/>
                  <a:pt x="58" y="1"/>
                </a:cubicBezTo>
                <a:cubicBezTo>
                  <a:pt x="58" y="13"/>
                  <a:pt x="55" y="21"/>
                  <a:pt x="46" y="30"/>
                </a:cubicBezTo>
                <a:close/>
                <a:moveTo>
                  <a:pt x="47" y="8"/>
                </a:moveTo>
                <a:cubicBezTo>
                  <a:pt x="45" y="8"/>
                  <a:pt x="43" y="10"/>
                  <a:pt x="43" y="12"/>
                </a:cubicBezTo>
                <a:cubicBezTo>
                  <a:pt x="43" y="14"/>
                  <a:pt x="45" y="15"/>
                  <a:pt x="47" y="15"/>
                </a:cubicBezTo>
                <a:cubicBezTo>
                  <a:pt x="49" y="15"/>
                  <a:pt x="50" y="14"/>
                  <a:pt x="50" y="12"/>
                </a:cubicBezTo>
                <a:cubicBezTo>
                  <a:pt x="50" y="10"/>
                  <a:pt x="49" y="8"/>
                  <a:pt x="47" y="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lIns="243734" tIns="121867" rIns="243734" bIns="121867"/>
          <a:lstStyle/>
          <a:p>
            <a:pPr defTabSz="914126"/>
            <a:endParaRPr lang="es-MX" sz="1799" dirty="0">
              <a:solidFill>
                <a:prstClr val="white">
                  <a:lumMod val="50000"/>
                </a:prstClr>
              </a:solidFill>
              <a:highlight>
                <a:srgbClr val="808080"/>
              </a:highlight>
              <a:latin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089F7E-7986-4B49-9006-8F3959591545}"/>
              </a:ext>
            </a:extLst>
          </p:cNvPr>
          <p:cNvSpPr txBox="1"/>
          <p:nvPr/>
        </p:nvSpPr>
        <p:spPr>
          <a:xfrm>
            <a:off x="3439892" y="4484038"/>
            <a:ext cx="500008" cy="90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0" tIns="35710" rIns="35710" bIns="35710" rtlCol="0" anchor="ctr">
            <a:spAutoFit/>
          </a:bodyPr>
          <a:lstStyle/>
          <a:p>
            <a:pPr defTabSz="412626">
              <a:lnSpc>
                <a:spcPct val="90000"/>
              </a:lnSpc>
            </a:pPr>
            <a:r>
              <a:rPr lang="es-MX" sz="5998" b="1" dirty="0">
                <a:solidFill>
                  <a:srgbClr val="5E5E5E"/>
                </a:solidFill>
                <a:latin typeface="Helvetica" panose="020B0604020202020204" pitchFamily="34" charset="0"/>
                <a:ea typeface="Helvetica"/>
                <a:cs typeface="Helvetica" panose="020B0604020202020204" pitchFamily="34" charset="0"/>
                <a:sym typeface="Helvetica"/>
              </a:rPr>
              <a:t>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4F83F57-BE86-4629-955C-7F503D90CFE4}"/>
              </a:ext>
            </a:extLst>
          </p:cNvPr>
          <p:cNvSpPr txBox="1"/>
          <p:nvPr/>
        </p:nvSpPr>
        <p:spPr>
          <a:xfrm>
            <a:off x="6833690" y="4484038"/>
            <a:ext cx="500008" cy="90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0" tIns="35710" rIns="35710" bIns="35710" rtlCol="0" anchor="ctr">
            <a:spAutoFit/>
          </a:bodyPr>
          <a:lstStyle/>
          <a:p>
            <a:pPr defTabSz="412626">
              <a:lnSpc>
                <a:spcPct val="90000"/>
              </a:lnSpc>
            </a:pPr>
            <a:r>
              <a:rPr lang="es-MX" sz="5998" b="1" dirty="0">
                <a:solidFill>
                  <a:srgbClr val="5E5E5E"/>
                </a:solidFill>
                <a:latin typeface="Helvetica" panose="020B0604020202020204" pitchFamily="34" charset="0"/>
                <a:ea typeface="Helvetica"/>
                <a:cs typeface="Helvetica" panose="020B0604020202020204" pitchFamily="34" charset="0"/>
                <a:sym typeface="Helvetica"/>
              </a:rPr>
              <a:t>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A91F0D9-22D9-4C5B-89AD-5ABB46DD3B3E}"/>
              </a:ext>
            </a:extLst>
          </p:cNvPr>
          <p:cNvSpPr txBox="1"/>
          <p:nvPr/>
        </p:nvSpPr>
        <p:spPr>
          <a:xfrm>
            <a:off x="10348516" y="4487098"/>
            <a:ext cx="500008" cy="902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0" tIns="35710" rIns="35710" bIns="35710" rtlCol="0" anchor="ctr">
            <a:spAutoFit/>
          </a:bodyPr>
          <a:lstStyle/>
          <a:p>
            <a:pPr defTabSz="412626">
              <a:lnSpc>
                <a:spcPct val="90000"/>
              </a:lnSpc>
            </a:pPr>
            <a:r>
              <a:rPr lang="es-MX" sz="5998" b="1" dirty="0">
                <a:solidFill>
                  <a:srgbClr val="5E5E5E"/>
                </a:solidFill>
                <a:latin typeface="Helvetica" panose="020B0604020202020204" pitchFamily="34" charset="0"/>
                <a:ea typeface="Helvetica"/>
                <a:cs typeface="Helvetica" panose="020B0604020202020204" pitchFamily="34" charset="0"/>
                <a:sym typeface="Helvetica"/>
              </a:rPr>
              <a:t>3</a:t>
            </a:r>
          </a:p>
        </p:txBody>
      </p:sp>
      <p:sp>
        <p:nvSpPr>
          <p:cNvPr id="22" name="Rectangle: Rounded Corners 24">
            <a:extLst>
              <a:ext uri="{FF2B5EF4-FFF2-40B4-BE49-F238E27FC236}">
                <a16:creationId xmlns:a16="http://schemas.microsoft.com/office/drawing/2014/main" id="{F07D7493-E4F7-44C9-A10E-F93B62A799D1}"/>
              </a:ext>
            </a:extLst>
          </p:cNvPr>
          <p:cNvSpPr>
            <a:spLocks/>
          </p:cNvSpPr>
          <p:nvPr/>
        </p:nvSpPr>
        <p:spPr>
          <a:xfrm>
            <a:off x="1694836" y="5476384"/>
            <a:ext cx="9686059" cy="551711"/>
          </a:xfrm>
          <a:prstGeom prst="roundRect">
            <a:avLst>
              <a:gd name="adj" fmla="val 7000"/>
            </a:avLst>
          </a:prstGeom>
          <a:solidFill>
            <a:srgbClr val="BFBFBF"/>
          </a:solidFill>
          <a:ln w="28575">
            <a:solidFill>
              <a:srgbClr val="BFBFBF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MX" sz="1600" dirty="0">
                <a:solidFill>
                  <a:srgbClr val="3F3F3F"/>
                </a:solidFill>
                <a:latin typeface="Corbel" panose="020B0503020204020204" pitchFamily="34" charset="0"/>
              </a:rPr>
              <a:t>Un arranque  exitoso busca la rápida adopción del PoC para percibir el valor agregado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C8994B46-1958-4F03-8106-AC7D5E42A193}"/>
              </a:ext>
            </a:extLst>
          </p:cNvPr>
          <p:cNvSpPr txBox="1"/>
          <p:nvPr/>
        </p:nvSpPr>
        <p:spPr>
          <a:xfrm>
            <a:off x="677327" y="1113643"/>
            <a:ext cx="2754224" cy="1615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26">
              <a:spcBef>
                <a:spcPts val="600"/>
              </a:spcBef>
              <a:buSzPct val="100000"/>
            </a:pPr>
            <a:r>
              <a:rPr lang="es-MX" sz="1050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PoC.- “</a:t>
            </a:r>
            <a:r>
              <a:rPr lang="es-MX" sz="1050" dirty="0" err="1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Proof</a:t>
            </a:r>
            <a:r>
              <a:rPr lang="es-MX" sz="1050" dirty="0">
                <a:solidFill>
                  <a:srgbClr val="3131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Concept” </a:t>
            </a:r>
          </a:p>
        </p:txBody>
      </p:sp>
    </p:spTree>
    <p:extLst>
      <p:ext uri="{BB962C8B-B14F-4D97-AF65-F5344CB8AC3E}">
        <p14:creationId xmlns:p14="http://schemas.microsoft.com/office/powerpoint/2010/main" val="353932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ángulo 204">
            <a:extLst>
              <a:ext uri="{FF2B5EF4-FFF2-40B4-BE49-F238E27FC236}">
                <a16:creationId xmlns:a16="http://schemas.microsoft.com/office/drawing/2014/main" id="{7F205027-9B8E-454B-815B-4473B495709E}"/>
              </a:ext>
            </a:extLst>
          </p:cNvPr>
          <p:cNvSpPr/>
          <p:nvPr/>
        </p:nvSpPr>
        <p:spPr>
          <a:xfrm>
            <a:off x="7071103" y="1122157"/>
            <a:ext cx="5119308" cy="42899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s-MX" sz="2399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rapezoid 2"/>
          <p:cNvSpPr/>
          <p:nvPr/>
        </p:nvSpPr>
        <p:spPr bwMode="gray">
          <a:xfrm rot="16200000">
            <a:off x="3571734" y="1874213"/>
            <a:ext cx="4289948" cy="2708794"/>
          </a:xfrm>
          <a:custGeom>
            <a:avLst/>
            <a:gdLst>
              <a:gd name="connsiteX0" fmla="*/ 0 w 2873830"/>
              <a:gd name="connsiteY0" fmla="*/ 682217 h 682217"/>
              <a:gd name="connsiteX1" fmla="*/ 527906 w 2873830"/>
              <a:gd name="connsiteY1" fmla="*/ 0 h 682217"/>
              <a:gd name="connsiteX2" fmla="*/ 2345924 w 2873830"/>
              <a:gd name="connsiteY2" fmla="*/ 0 h 682217"/>
              <a:gd name="connsiteX3" fmla="*/ 2873830 w 2873830"/>
              <a:gd name="connsiteY3" fmla="*/ 682217 h 682217"/>
              <a:gd name="connsiteX4" fmla="*/ 0 w 2873830"/>
              <a:gd name="connsiteY4" fmla="*/ 682217 h 682217"/>
              <a:gd name="connsiteX0" fmla="*/ 0 w 2510973"/>
              <a:gd name="connsiteY0" fmla="*/ 696731 h 696731"/>
              <a:gd name="connsiteX1" fmla="*/ 165049 w 2510973"/>
              <a:gd name="connsiteY1" fmla="*/ 0 h 696731"/>
              <a:gd name="connsiteX2" fmla="*/ 1983067 w 2510973"/>
              <a:gd name="connsiteY2" fmla="*/ 0 h 696731"/>
              <a:gd name="connsiteX3" fmla="*/ 2510973 w 2510973"/>
              <a:gd name="connsiteY3" fmla="*/ 682217 h 696731"/>
              <a:gd name="connsiteX4" fmla="*/ 0 w 2510973"/>
              <a:gd name="connsiteY4" fmla="*/ 696731 h 696731"/>
              <a:gd name="connsiteX0" fmla="*/ 0 w 8316687"/>
              <a:gd name="connsiteY0" fmla="*/ 696731 h 696731"/>
              <a:gd name="connsiteX1" fmla="*/ 165049 w 8316687"/>
              <a:gd name="connsiteY1" fmla="*/ 0 h 696731"/>
              <a:gd name="connsiteX2" fmla="*/ 1983067 w 8316687"/>
              <a:gd name="connsiteY2" fmla="*/ 0 h 696731"/>
              <a:gd name="connsiteX3" fmla="*/ 8316687 w 8316687"/>
              <a:gd name="connsiteY3" fmla="*/ 667703 h 696731"/>
              <a:gd name="connsiteX4" fmla="*/ 0 w 8316687"/>
              <a:gd name="connsiteY4" fmla="*/ 696731 h 696731"/>
              <a:gd name="connsiteX0" fmla="*/ 0 w 8333940"/>
              <a:gd name="connsiteY0" fmla="*/ 685229 h 685229"/>
              <a:gd name="connsiteX1" fmla="*/ 182302 w 8333940"/>
              <a:gd name="connsiteY1" fmla="*/ 0 h 685229"/>
              <a:gd name="connsiteX2" fmla="*/ 2000320 w 8333940"/>
              <a:gd name="connsiteY2" fmla="*/ 0 h 685229"/>
              <a:gd name="connsiteX3" fmla="*/ 8333940 w 8333940"/>
              <a:gd name="connsiteY3" fmla="*/ 667703 h 685229"/>
              <a:gd name="connsiteX4" fmla="*/ 0 w 8333940"/>
              <a:gd name="connsiteY4" fmla="*/ 685229 h 685229"/>
              <a:gd name="connsiteX0" fmla="*/ 0 w 8333940"/>
              <a:gd name="connsiteY0" fmla="*/ 673727 h 673727"/>
              <a:gd name="connsiteX1" fmla="*/ 182302 w 8333940"/>
              <a:gd name="connsiteY1" fmla="*/ 0 h 673727"/>
              <a:gd name="connsiteX2" fmla="*/ 2000320 w 8333940"/>
              <a:gd name="connsiteY2" fmla="*/ 0 h 673727"/>
              <a:gd name="connsiteX3" fmla="*/ 8333940 w 8333940"/>
              <a:gd name="connsiteY3" fmla="*/ 667703 h 673727"/>
              <a:gd name="connsiteX4" fmla="*/ 0 w 8333940"/>
              <a:gd name="connsiteY4" fmla="*/ 673727 h 673727"/>
              <a:gd name="connsiteX0" fmla="*/ 0 w 8333940"/>
              <a:gd name="connsiteY0" fmla="*/ 683250 h 683250"/>
              <a:gd name="connsiteX1" fmla="*/ 182302 w 8333940"/>
              <a:gd name="connsiteY1" fmla="*/ 9523 h 683250"/>
              <a:gd name="connsiteX2" fmla="*/ 2784397 w 8333940"/>
              <a:gd name="connsiteY2" fmla="*/ 0 h 683250"/>
              <a:gd name="connsiteX3" fmla="*/ 8333940 w 8333940"/>
              <a:gd name="connsiteY3" fmla="*/ 677226 h 683250"/>
              <a:gd name="connsiteX4" fmla="*/ 0 w 8333940"/>
              <a:gd name="connsiteY4" fmla="*/ 683250 h 683250"/>
              <a:gd name="connsiteX0" fmla="*/ 0 w 8306903"/>
              <a:gd name="connsiteY0" fmla="*/ 683250 h 2029776"/>
              <a:gd name="connsiteX1" fmla="*/ 182302 w 8306903"/>
              <a:gd name="connsiteY1" fmla="*/ 9523 h 2029776"/>
              <a:gd name="connsiteX2" fmla="*/ 2784397 w 8306903"/>
              <a:gd name="connsiteY2" fmla="*/ 0 h 2029776"/>
              <a:gd name="connsiteX3" fmla="*/ 8306903 w 8306903"/>
              <a:gd name="connsiteY3" fmla="*/ 2029776 h 2029776"/>
              <a:gd name="connsiteX4" fmla="*/ 0 w 8306903"/>
              <a:gd name="connsiteY4" fmla="*/ 683250 h 2029776"/>
              <a:gd name="connsiteX0" fmla="*/ -1 w 13254743"/>
              <a:gd name="connsiteY0" fmla="*/ 2016752 h 2029776"/>
              <a:gd name="connsiteX1" fmla="*/ 5130142 w 13254743"/>
              <a:gd name="connsiteY1" fmla="*/ 9523 h 2029776"/>
              <a:gd name="connsiteX2" fmla="*/ 7732237 w 13254743"/>
              <a:gd name="connsiteY2" fmla="*/ 0 h 2029776"/>
              <a:gd name="connsiteX3" fmla="*/ 13254743 w 13254743"/>
              <a:gd name="connsiteY3" fmla="*/ 2029776 h 2029776"/>
              <a:gd name="connsiteX4" fmla="*/ -1 w 13254743"/>
              <a:gd name="connsiteY4" fmla="*/ 2016752 h 2029776"/>
              <a:gd name="connsiteX0" fmla="*/ -1 w 13254743"/>
              <a:gd name="connsiteY0" fmla="*/ 2016752 h 2029776"/>
              <a:gd name="connsiteX1" fmla="*/ 5184216 w 13254743"/>
              <a:gd name="connsiteY1" fmla="*/ 9523 h 2029776"/>
              <a:gd name="connsiteX2" fmla="*/ 7732237 w 13254743"/>
              <a:gd name="connsiteY2" fmla="*/ 0 h 2029776"/>
              <a:gd name="connsiteX3" fmla="*/ 13254743 w 13254743"/>
              <a:gd name="connsiteY3" fmla="*/ 2029776 h 2029776"/>
              <a:gd name="connsiteX4" fmla="*/ -1 w 13254743"/>
              <a:gd name="connsiteY4" fmla="*/ 2016752 h 2029776"/>
              <a:gd name="connsiteX0" fmla="*/ -1 w 13254743"/>
              <a:gd name="connsiteY0" fmla="*/ 2016754 h 2029778"/>
              <a:gd name="connsiteX1" fmla="*/ 5382200 w 13254743"/>
              <a:gd name="connsiteY1" fmla="*/ 0 h 2029778"/>
              <a:gd name="connsiteX2" fmla="*/ 7732237 w 13254743"/>
              <a:gd name="connsiteY2" fmla="*/ 2 h 2029778"/>
              <a:gd name="connsiteX3" fmla="*/ 13254743 w 13254743"/>
              <a:gd name="connsiteY3" fmla="*/ 2029778 h 2029778"/>
              <a:gd name="connsiteX4" fmla="*/ -1 w 13254743"/>
              <a:gd name="connsiteY4" fmla="*/ 2016754 h 2029778"/>
              <a:gd name="connsiteX0" fmla="*/ -1 w 13254743"/>
              <a:gd name="connsiteY0" fmla="*/ 2016754 h 2029778"/>
              <a:gd name="connsiteX1" fmla="*/ 5382193 w 13254743"/>
              <a:gd name="connsiteY1" fmla="*/ 0 h 2029778"/>
              <a:gd name="connsiteX2" fmla="*/ 7732237 w 13254743"/>
              <a:gd name="connsiteY2" fmla="*/ 2 h 2029778"/>
              <a:gd name="connsiteX3" fmla="*/ 13254743 w 13254743"/>
              <a:gd name="connsiteY3" fmla="*/ 2029778 h 2029778"/>
              <a:gd name="connsiteX4" fmla="*/ -1 w 13254743"/>
              <a:gd name="connsiteY4" fmla="*/ 2016754 h 2029778"/>
              <a:gd name="connsiteX0" fmla="*/ -1 w 13254743"/>
              <a:gd name="connsiteY0" fmla="*/ 2016754 h 2029778"/>
              <a:gd name="connsiteX1" fmla="*/ 5382193 w 13254743"/>
              <a:gd name="connsiteY1" fmla="*/ 0 h 2029778"/>
              <a:gd name="connsiteX2" fmla="*/ 7781727 w 13254743"/>
              <a:gd name="connsiteY2" fmla="*/ 4 h 2029778"/>
              <a:gd name="connsiteX3" fmla="*/ 13254743 w 13254743"/>
              <a:gd name="connsiteY3" fmla="*/ 2029778 h 2029778"/>
              <a:gd name="connsiteX4" fmla="*/ -1 w 13254743"/>
              <a:gd name="connsiteY4" fmla="*/ 2016754 h 2029778"/>
              <a:gd name="connsiteX0" fmla="*/ -1 w 13254743"/>
              <a:gd name="connsiteY0" fmla="*/ 2020039 h 2033063"/>
              <a:gd name="connsiteX1" fmla="*/ 5435639 w 13254743"/>
              <a:gd name="connsiteY1" fmla="*/ 0 h 2033063"/>
              <a:gd name="connsiteX2" fmla="*/ 7781727 w 13254743"/>
              <a:gd name="connsiteY2" fmla="*/ 3289 h 2033063"/>
              <a:gd name="connsiteX3" fmla="*/ 13254743 w 13254743"/>
              <a:gd name="connsiteY3" fmla="*/ 2033063 h 2033063"/>
              <a:gd name="connsiteX4" fmla="*/ -1 w 13254743"/>
              <a:gd name="connsiteY4" fmla="*/ 2020039 h 2033063"/>
              <a:gd name="connsiteX0" fmla="*/ -1 w 13254743"/>
              <a:gd name="connsiteY0" fmla="*/ 2016750 h 2029774"/>
              <a:gd name="connsiteX1" fmla="*/ 5417815 w 13254743"/>
              <a:gd name="connsiteY1" fmla="*/ 16420 h 2029774"/>
              <a:gd name="connsiteX2" fmla="*/ 7781727 w 13254743"/>
              <a:gd name="connsiteY2" fmla="*/ 0 h 2029774"/>
              <a:gd name="connsiteX3" fmla="*/ 13254743 w 13254743"/>
              <a:gd name="connsiteY3" fmla="*/ 2029774 h 2029774"/>
              <a:gd name="connsiteX4" fmla="*/ -1 w 13254743"/>
              <a:gd name="connsiteY4" fmla="*/ 2016750 h 2029774"/>
              <a:gd name="connsiteX0" fmla="*/ -1 w 13254743"/>
              <a:gd name="connsiteY0" fmla="*/ 2003609 h 2016633"/>
              <a:gd name="connsiteX1" fmla="*/ 5417815 w 13254743"/>
              <a:gd name="connsiteY1" fmla="*/ 3279 h 2016633"/>
              <a:gd name="connsiteX2" fmla="*/ 7826267 w 13254743"/>
              <a:gd name="connsiteY2" fmla="*/ 0 h 2016633"/>
              <a:gd name="connsiteX3" fmla="*/ 13254743 w 13254743"/>
              <a:gd name="connsiteY3" fmla="*/ 2016633 h 2016633"/>
              <a:gd name="connsiteX4" fmla="*/ -1 w 13254743"/>
              <a:gd name="connsiteY4" fmla="*/ 2003609 h 2016633"/>
              <a:gd name="connsiteX0" fmla="*/ -1 w 13254743"/>
              <a:gd name="connsiteY0" fmla="*/ 2000330 h 2013354"/>
              <a:gd name="connsiteX1" fmla="*/ 5417815 w 13254743"/>
              <a:gd name="connsiteY1" fmla="*/ 0 h 2013354"/>
              <a:gd name="connsiteX2" fmla="*/ 7835179 w 13254743"/>
              <a:gd name="connsiteY2" fmla="*/ 6 h 2013354"/>
              <a:gd name="connsiteX3" fmla="*/ 13254743 w 13254743"/>
              <a:gd name="connsiteY3" fmla="*/ 2013354 h 2013354"/>
              <a:gd name="connsiteX4" fmla="*/ -1 w 13254743"/>
              <a:gd name="connsiteY4" fmla="*/ 2000330 h 2013354"/>
              <a:gd name="connsiteX0" fmla="*/ -1 w 13254743"/>
              <a:gd name="connsiteY0" fmla="*/ 2000330 h 2013354"/>
              <a:gd name="connsiteX1" fmla="*/ 5417815 w 13254743"/>
              <a:gd name="connsiteY1" fmla="*/ 0 h 2013354"/>
              <a:gd name="connsiteX2" fmla="*/ 7913692 w 13254743"/>
              <a:gd name="connsiteY2" fmla="*/ 4876 h 2013354"/>
              <a:gd name="connsiteX3" fmla="*/ 13254743 w 13254743"/>
              <a:gd name="connsiteY3" fmla="*/ 2013354 h 2013354"/>
              <a:gd name="connsiteX4" fmla="*/ -1 w 13254743"/>
              <a:gd name="connsiteY4" fmla="*/ 2000330 h 2013354"/>
              <a:gd name="connsiteX0" fmla="*/ -1 w 13254743"/>
              <a:gd name="connsiteY0" fmla="*/ 1995454 h 2008478"/>
              <a:gd name="connsiteX1" fmla="*/ 5315735 w 13254743"/>
              <a:gd name="connsiteY1" fmla="*/ 2425 h 2008478"/>
              <a:gd name="connsiteX2" fmla="*/ 7913692 w 13254743"/>
              <a:gd name="connsiteY2" fmla="*/ 0 h 2008478"/>
              <a:gd name="connsiteX3" fmla="*/ 13254743 w 13254743"/>
              <a:gd name="connsiteY3" fmla="*/ 2008478 h 2008478"/>
              <a:gd name="connsiteX4" fmla="*/ -1 w 13254743"/>
              <a:gd name="connsiteY4" fmla="*/ 1995454 h 200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54743" h="2008478">
                <a:moveTo>
                  <a:pt x="-1" y="1995454"/>
                </a:moveTo>
                <a:lnTo>
                  <a:pt x="5315735" y="2425"/>
                </a:lnTo>
                <a:lnTo>
                  <a:pt x="7913692" y="0"/>
                </a:lnTo>
                <a:lnTo>
                  <a:pt x="13254743" y="2008478"/>
                </a:lnTo>
                <a:lnTo>
                  <a:pt x="-1" y="1995454"/>
                </a:lnTo>
                <a:close/>
              </a:path>
            </a:pathLst>
          </a:custGeom>
          <a:gradFill flip="none" rotWithShape="1">
            <a:gsLst>
              <a:gs pos="100000">
                <a:srgbClr val="8C8C8C">
                  <a:tint val="66000"/>
                  <a:satMod val="160000"/>
                  <a:alpha val="29000"/>
                </a:srgbClr>
              </a:gs>
              <a:gs pos="28000">
                <a:srgbClr val="8C8C8C">
                  <a:tint val="44500"/>
                  <a:satMod val="160000"/>
                </a:srgbClr>
              </a:gs>
              <a:gs pos="100000">
                <a:srgbClr val="8C8C8C">
                  <a:tint val="23500"/>
                  <a:satMod val="160000"/>
                </a:srgbClr>
              </a:gs>
            </a:gsLst>
            <a:lin ang="540000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vert="eaVert" wrap="square" lIns="88877" tIns="88877" rIns="88877" bIns="88877" rtlCol="0" anchor="ctr"/>
          <a:lstStyle/>
          <a:p>
            <a:pPr algn="ctr" defTabSz="914103">
              <a:spcBef>
                <a:spcPts val="400"/>
              </a:spcBef>
              <a:defRPr/>
            </a:pPr>
            <a:endParaRPr lang="en-US" sz="1200" kern="0" dirty="0">
              <a:solidFill>
                <a:prstClr val="white"/>
              </a:solidFill>
              <a:latin typeface="Verdana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22206" y="1170317"/>
            <a:ext cx="3977629" cy="297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03">
              <a:defRPr/>
            </a:pPr>
            <a:r>
              <a:rPr lang="es-ES_tradnl" sz="1333" b="1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El PoC deberá asegurar lo siguiente:</a:t>
            </a:r>
          </a:p>
        </p:txBody>
      </p:sp>
      <p:cxnSp>
        <p:nvCxnSpPr>
          <p:cNvPr id="21" name="Conector recto 63">
            <a:extLst>
              <a:ext uri="{FF2B5EF4-FFF2-40B4-BE49-F238E27FC236}">
                <a16:creationId xmlns:a16="http://schemas.microsoft.com/office/drawing/2014/main" id="{4F24FE36-AC88-6EA8-4900-6BF2A7B446C0}"/>
              </a:ext>
            </a:extLst>
          </p:cNvPr>
          <p:cNvCxnSpPr/>
          <p:nvPr/>
        </p:nvCxnSpPr>
        <p:spPr>
          <a:xfrm>
            <a:off x="3505310" y="3915222"/>
            <a:ext cx="0" cy="1297462"/>
          </a:xfrm>
          <a:prstGeom prst="line">
            <a:avLst/>
          </a:prstGeom>
          <a:ln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63">
            <a:extLst>
              <a:ext uri="{FF2B5EF4-FFF2-40B4-BE49-F238E27FC236}">
                <a16:creationId xmlns:a16="http://schemas.microsoft.com/office/drawing/2014/main" id="{CB3B2901-C4B7-0DF6-232A-FEF7BF1A394D}"/>
              </a:ext>
            </a:extLst>
          </p:cNvPr>
          <p:cNvCxnSpPr/>
          <p:nvPr/>
        </p:nvCxnSpPr>
        <p:spPr>
          <a:xfrm>
            <a:off x="3164619" y="5214069"/>
            <a:ext cx="765478" cy="940"/>
          </a:xfrm>
          <a:prstGeom prst="line">
            <a:avLst/>
          </a:prstGeom>
          <a:ln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30">
            <a:extLst>
              <a:ext uri="{FF2B5EF4-FFF2-40B4-BE49-F238E27FC236}">
                <a16:creationId xmlns:a16="http://schemas.microsoft.com/office/drawing/2014/main" id="{94B72DCE-6375-FD64-F1A5-BD4891B06350}"/>
              </a:ext>
            </a:extLst>
          </p:cNvPr>
          <p:cNvSpPr txBox="1"/>
          <p:nvPr/>
        </p:nvSpPr>
        <p:spPr>
          <a:xfrm>
            <a:off x="2324413" y="5008747"/>
            <a:ext cx="959877" cy="25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s-ES" sz="1067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</a:p>
        </p:txBody>
      </p:sp>
      <p:sp>
        <p:nvSpPr>
          <p:cNvPr id="55" name="CuadroTexto 30">
            <a:extLst>
              <a:ext uri="{FF2B5EF4-FFF2-40B4-BE49-F238E27FC236}">
                <a16:creationId xmlns:a16="http://schemas.microsoft.com/office/drawing/2014/main" id="{E59D9614-55B8-1B60-A46C-389771ACC31A}"/>
              </a:ext>
            </a:extLst>
          </p:cNvPr>
          <p:cNvSpPr txBox="1"/>
          <p:nvPr/>
        </p:nvSpPr>
        <p:spPr>
          <a:xfrm>
            <a:off x="3691699" y="5042297"/>
            <a:ext cx="1145545" cy="25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s-ES" sz="1067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</a:t>
            </a:r>
          </a:p>
        </p:txBody>
      </p:sp>
      <p:sp>
        <p:nvSpPr>
          <p:cNvPr id="192" name="CuadroTexto 10">
            <a:extLst>
              <a:ext uri="{FF2B5EF4-FFF2-40B4-BE49-F238E27FC236}">
                <a16:creationId xmlns:a16="http://schemas.microsoft.com/office/drawing/2014/main" id="{F6FEB09D-082E-062B-2D88-6B8D04DA5F5B}"/>
              </a:ext>
            </a:extLst>
          </p:cNvPr>
          <p:cNvSpPr txBox="1"/>
          <p:nvPr/>
        </p:nvSpPr>
        <p:spPr>
          <a:xfrm>
            <a:off x="2021810" y="5298093"/>
            <a:ext cx="2997748" cy="25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s-MX" sz="1067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Otros </a:t>
            </a:r>
          </a:p>
        </p:txBody>
      </p:sp>
      <p:sp>
        <p:nvSpPr>
          <p:cNvPr id="193" name="CuadroTexto 2">
            <a:extLst>
              <a:ext uri="{FF2B5EF4-FFF2-40B4-BE49-F238E27FC236}">
                <a16:creationId xmlns:a16="http://schemas.microsoft.com/office/drawing/2014/main" id="{F88A5B36-6239-AEC1-74B4-8A113A7167C8}"/>
              </a:ext>
            </a:extLst>
          </p:cNvPr>
          <p:cNvSpPr txBox="1"/>
          <p:nvPr/>
        </p:nvSpPr>
        <p:spPr>
          <a:xfrm>
            <a:off x="746229" y="3633968"/>
            <a:ext cx="1910245" cy="70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s-ES" sz="1333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Gerencia</a:t>
            </a:r>
          </a:p>
          <a:p>
            <a:pPr algn="ctr" defTabSz="914126"/>
            <a:r>
              <a:rPr lang="es-ES" sz="1333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Planta / Transaccional </a:t>
            </a:r>
            <a:endParaRPr lang="es-MX" sz="1333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TextBox 31">
            <a:extLst>
              <a:ext uri="{FF2B5EF4-FFF2-40B4-BE49-F238E27FC236}">
                <a16:creationId xmlns:a16="http://schemas.microsoft.com/office/drawing/2014/main" id="{FCBD71A9-C96D-B005-F858-73A796388059}"/>
              </a:ext>
            </a:extLst>
          </p:cNvPr>
          <p:cNvSpPr txBox="1"/>
          <p:nvPr/>
        </p:nvSpPr>
        <p:spPr>
          <a:xfrm>
            <a:off x="1945580" y="2101921"/>
            <a:ext cx="1702331" cy="2461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126">
              <a:spcBef>
                <a:spcPts val="800"/>
              </a:spcBef>
              <a:buSzPct val="100000"/>
            </a:pPr>
            <a:r>
              <a:rPr lang="es-MX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 Actual</a:t>
            </a:r>
            <a:endParaRPr 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AC8F3612-E398-5F65-1752-5EEEF5896CD3}"/>
              </a:ext>
            </a:extLst>
          </p:cNvPr>
          <p:cNvCxnSpPr>
            <a:cxnSpLocks/>
          </p:cNvCxnSpPr>
          <p:nvPr/>
        </p:nvCxnSpPr>
        <p:spPr>
          <a:xfrm flipH="1">
            <a:off x="2230634" y="3330335"/>
            <a:ext cx="67995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>
            <a:extLst>
              <a:ext uri="{FF2B5EF4-FFF2-40B4-BE49-F238E27FC236}">
                <a16:creationId xmlns:a16="http://schemas.microsoft.com/office/drawing/2014/main" id="{21D3E851-14E7-46B6-971B-4C288101CFF3}"/>
              </a:ext>
            </a:extLst>
          </p:cNvPr>
          <p:cNvSpPr/>
          <p:nvPr/>
        </p:nvSpPr>
        <p:spPr>
          <a:xfrm>
            <a:off x="2988791" y="2835842"/>
            <a:ext cx="1063787" cy="1063787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MX" sz="1799" dirty="0">
                <a:solidFill>
                  <a:prstClr val="white"/>
                </a:solidFill>
                <a:latin typeface="Calibri"/>
              </a:rPr>
              <a:t>PoC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51B3D23E-4104-449E-A2B4-0EB7B9446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3155" t="12433" r="12623" b="9689"/>
          <a:stretch/>
        </p:blipFill>
        <p:spPr>
          <a:xfrm>
            <a:off x="1077027" y="2447005"/>
            <a:ext cx="1098247" cy="1152333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EE36D894-9C5F-4A47-A371-4B9C2B115DD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3155" t="12433" r="12623" b="9689"/>
          <a:stretch/>
        </p:blipFill>
        <p:spPr>
          <a:xfrm>
            <a:off x="2477942" y="4466026"/>
            <a:ext cx="579548" cy="608089"/>
          </a:xfrm>
          <a:prstGeom prst="rect">
            <a:avLst/>
          </a:prstGeom>
        </p:spPr>
      </p:pic>
      <p:pic>
        <p:nvPicPr>
          <p:cNvPr id="78" name="Imagen 77">
            <a:extLst>
              <a:ext uri="{FF2B5EF4-FFF2-40B4-BE49-F238E27FC236}">
                <a16:creationId xmlns:a16="http://schemas.microsoft.com/office/drawing/2014/main" id="{5224DE3B-FFD2-4168-ACB0-0575E5C429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3155" t="12433" r="12623" b="9689"/>
          <a:stretch/>
        </p:blipFill>
        <p:spPr>
          <a:xfrm>
            <a:off x="3949529" y="4434210"/>
            <a:ext cx="579548" cy="608089"/>
          </a:xfrm>
          <a:prstGeom prst="rect">
            <a:avLst/>
          </a:prstGeom>
        </p:spPr>
      </p:pic>
      <p:sp>
        <p:nvSpPr>
          <p:cNvPr id="71" name="CuadroTexto 70">
            <a:extLst>
              <a:ext uri="{FF2B5EF4-FFF2-40B4-BE49-F238E27FC236}">
                <a16:creationId xmlns:a16="http://schemas.microsoft.com/office/drawing/2014/main" id="{E4BCF25B-1E51-441E-BDF0-F3E153E2E2E5}"/>
              </a:ext>
            </a:extLst>
          </p:cNvPr>
          <p:cNvSpPr txBox="1"/>
          <p:nvPr/>
        </p:nvSpPr>
        <p:spPr>
          <a:xfrm>
            <a:off x="7495394" y="1706838"/>
            <a:ext cx="482973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4741" defTabSz="914103">
              <a:defRPr/>
            </a:pP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Alineación del PoC en la empresa</a:t>
            </a:r>
          </a:p>
          <a:p>
            <a:pPr marL="104741" defTabSz="914103">
              <a:defRPr/>
            </a:pPr>
            <a:endParaRPr lang="es-ES_tradnl" sz="1400" dirty="0">
              <a:solidFill>
                <a:srgbClr val="EEECE1"/>
              </a:solidFill>
              <a:latin typeface="Calibri"/>
              <a:cs typeface="Arial" charset="0"/>
            </a:endParaRPr>
          </a:p>
          <a:p>
            <a:pPr marL="104741" defTabSz="914103">
              <a:defRPr/>
            </a:pP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Visión integral </a:t>
            </a:r>
          </a:p>
          <a:p>
            <a:pPr marL="104741" defTabSz="914103">
              <a:defRPr/>
            </a:pPr>
            <a:endParaRPr lang="es-ES_tradnl" sz="1400" dirty="0">
              <a:solidFill>
                <a:srgbClr val="EEECE1"/>
              </a:solidFill>
              <a:latin typeface="Calibri"/>
              <a:cs typeface="Arial" charset="0"/>
            </a:endParaRPr>
          </a:p>
          <a:p>
            <a:pPr marL="104741" defTabSz="914103">
              <a:defRPr/>
            </a:pP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Definición del presupuesto en </a:t>
            </a: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</a:rPr>
              <a:t>planta.</a:t>
            </a:r>
          </a:p>
          <a:p>
            <a:pPr marL="104741" defTabSz="914103">
              <a:defRPr/>
            </a:pPr>
            <a:endParaRPr lang="es-ES_tradnl" sz="1400" dirty="0">
              <a:solidFill>
                <a:srgbClr val="EEECE1"/>
              </a:solidFill>
              <a:latin typeface="Calibri"/>
              <a:cs typeface="Arial" charset="0"/>
              <a:sym typeface="Arial"/>
            </a:endParaRPr>
          </a:p>
          <a:p>
            <a:pPr marL="104741" defTabSz="914103">
              <a:defRPr/>
            </a:pP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Filtro exhaustivo.</a:t>
            </a:r>
          </a:p>
          <a:p>
            <a:pPr marL="104741" defTabSz="914103">
              <a:defRPr/>
            </a:pPr>
            <a:endParaRPr lang="es-ES_tradnl" sz="1400" b="1" dirty="0">
              <a:solidFill>
                <a:srgbClr val="EEECE1"/>
              </a:solidFill>
              <a:latin typeface="Calibri"/>
              <a:cs typeface="Arial" charset="0"/>
            </a:endParaRPr>
          </a:p>
          <a:p>
            <a:pPr marL="104741" defTabSz="914103">
              <a:defRPr/>
            </a:pP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Comunicación, integración y colaboración.</a:t>
            </a:r>
          </a:p>
          <a:p>
            <a:pPr marL="104741" defTabSz="914103">
              <a:defRPr/>
            </a:pPr>
            <a:endParaRPr lang="es-ES_tradnl" sz="1400" dirty="0">
              <a:solidFill>
                <a:srgbClr val="EEECE1"/>
              </a:solidFill>
              <a:latin typeface="Calibri"/>
              <a:cs typeface="Arial" charset="0"/>
            </a:endParaRPr>
          </a:p>
          <a:p>
            <a:pPr marL="104741" defTabSz="914103">
              <a:defRPr/>
            </a:pP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Gestión uniforme del PoC</a:t>
            </a:r>
          </a:p>
          <a:p>
            <a:pPr marL="104741" defTabSz="914103">
              <a:defRPr/>
            </a:pPr>
            <a:endParaRPr lang="es-ES_tradnl" sz="1400" b="1" dirty="0">
              <a:solidFill>
                <a:srgbClr val="EEECE1"/>
              </a:solidFill>
              <a:latin typeface="Calibri"/>
              <a:cs typeface="Arial" charset="0"/>
            </a:endParaRPr>
          </a:p>
          <a:p>
            <a:pPr marL="104741" defTabSz="914103">
              <a:defRPr/>
            </a:pPr>
            <a:r>
              <a:rPr lang="es-ES_tradnl" sz="1400" dirty="0">
                <a:solidFill>
                  <a:srgbClr val="EEECE1"/>
                </a:solidFill>
                <a:latin typeface="Calibri"/>
                <a:cs typeface="Arial" charset="0"/>
                <a:sym typeface="Arial"/>
              </a:rPr>
              <a:t>Asegurar la gestión del conocimiento y compartición de experiencias entre plantas.</a:t>
            </a:r>
          </a:p>
          <a:p>
            <a:pPr marL="104741" defTabSz="914103">
              <a:defRPr/>
            </a:pPr>
            <a:endParaRPr lang="es-ES_tradnl" sz="1400" dirty="0">
              <a:solidFill>
                <a:srgbClr val="EEECE1"/>
              </a:solidFill>
              <a:latin typeface="Calibri"/>
              <a:cs typeface="Arial" charset="0"/>
            </a:endParaRPr>
          </a:p>
          <a:p>
            <a:pPr marL="104741" defTabSz="914103">
              <a:defRPr/>
            </a:pPr>
            <a:endParaRPr lang="es-ES_tradnl" sz="1400" dirty="0">
              <a:solidFill>
                <a:srgbClr val="EEECE1"/>
              </a:solidFill>
              <a:latin typeface="Calibri"/>
              <a:cs typeface="Arial" charset="0"/>
            </a:endParaRPr>
          </a:p>
        </p:txBody>
      </p:sp>
      <p:pic>
        <p:nvPicPr>
          <p:cNvPr id="84" name="Imagen 83">
            <a:extLst>
              <a:ext uri="{FF2B5EF4-FFF2-40B4-BE49-F238E27FC236}">
                <a16:creationId xmlns:a16="http://schemas.microsoft.com/office/drawing/2014/main" id="{6F6BD365-41B6-41B8-A829-2F651C648A0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11241" y="1669554"/>
            <a:ext cx="370388" cy="370388"/>
          </a:xfrm>
          <a:prstGeom prst="rect">
            <a:avLst/>
          </a:prstGeom>
        </p:spPr>
      </p:pic>
      <p:pic>
        <p:nvPicPr>
          <p:cNvPr id="86" name="Imagen 85">
            <a:extLst>
              <a:ext uri="{FF2B5EF4-FFF2-40B4-BE49-F238E27FC236}">
                <a16:creationId xmlns:a16="http://schemas.microsoft.com/office/drawing/2014/main" id="{92A9C9B8-9CCD-45C1-85E5-660D1667F55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10492" y="2038102"/>
            <a:ext cx="370389" cy="370389"/>
          </a:xfrm>
          <a:prstGeom prst="rect">
            <a:avLst/>
          </a:prstGeom>
        </p:spPr>
      </p:pic>
      <p:pic>
        <p:nvPicPr>
          <p:cNvPr id="88" name="Imagen 87">
            <a:extLst>
              <a:ext uri="{FF2B5EF4-FFF2-40B4-BE49-F238E27FC236}">
                <a16:creationId xmlns:a16="http://schemas.microsoft.com/office/drawing/2014/main" id="{BEBC20A7-F9F2-4FAF-BB1D-FD36580DEDB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18331" y="2488823"/>
            <a:ext cx="409493" cy="409493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DCFCE39F-0BC0-49C7-8FD1-5733A69607E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32450" y="2969339"/>
            <a:ext cx="349952" cy="349952"/>
          </a:xfrm>
          <a:prstGeom prst="rect">
            <a:avLst/>
          </a:prstGeom>
        </p:spPr>
      </p:pic>
      <p:pic>
        <p:nvPicPr>
          <p:cNvPr id="92" name="Imagen 91">
            <a:extLst>
              <a:ext uri="{FF2B5EF4-FFF2-40B4-BE49-F238E27FC236}">
                <a16:creationId xmlns:a16="http://schemas.microsoft.com/office/drawing/2014/main" id="{F96EC5A8-9D99-4532-A9CF-DE8A4E281B7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76336" y="3471467"/>
            <a:ext cx="290699" cy="290699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F87E0533-37BC-4470-AE61-D75CAECB69E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59408" y="3870479"/>
            <a:ext cx="336889" cy="336889"/>
          </a:xfrm>
          <a:prstGeom prst="rect">
            <a:avLst/>
          </a:prstGeom>
        </p:spPr>
      </p:pic>
      <p:pic>
        <p:nvPicPr>
          <p:cNvPr id="196" name="Imagen 195">
            <a:extLst>
              <a:ext uri="{FF2B5EF4-FFF2-40B4-BE49-F238E27FC236}">
                <a16:creationId xmlns:a16="http://schemas.microsoft.com/office/drawing/2014/main" id="{AB2028AA-0039-4C8E-AA3A-DBC1E6D6A67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23986" y="4296309"/>
            <a:ext cx="409493" cy="409493"/>
          </a:xfrm>
          <a:prstGeom prst="rect">
            <a:avLst/>
          </a:prstGeom>
        </p:spPr>
      </p:pic>
      <p:sp>
        <p:nvSpPr>
          <p:cNvPr id="34" name="Título 1">
            <a:extLst>
              <a:ext uri="{FF2B5EF4-FFF2-40B4-BE49-F238E27FC236}">
                <a16:creationId xmlns:a16="http://schemas.microsoft.com/office/drawing/2014/main" id="{963D8A01-97D0-4FFC-AFC3-C368A9554A10}"/>
              </a:ext>
            </a:extLst>
          </p:cNvPr>
          <p:cNvSpPr txBox="1">
            <a:spLocks/>
          </p:cNvSpPr>
          <p:nvPr/>
        </p:nvSpPr>
        <p:spPr>
          <a:xfrm>
            <a:off x="215976" y="514987"/>
            <a:ext cx="11408158" cy="663377"/>
          </a:xfrm>
          <a:prstGeom prst="rect">
            <a:avLst/>
          </a:prstGeom>
        </p:spPr>
        <p:txBody>
          <a:bodyPr vert="horz" lIns="91416" tIns="45708" rIns="91416" bIns="45708" rtlCol="0" anchor="ctr">
            <a:normAutofit/>
          </a:bodyPr>
          <a:lstStyle>
            <a:lvl1pPr>
              <a:spcBef>
                <a:spcPct val="0"/>
              </a:spcBef>
              <a:buNone/>
              <a:defRPr lang="es-ES" sz="2399" b="1" dirty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defTabSz="914126"/>
            <a:r>
              <a:rPr lang="es-ES" sz="2398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¿Cuándo se realiza PoC? – Verificación inicial</a:t>
            </a:r>
            <a:endParaRPr lang="es-MX" sz="2398" dirty="0">
              <a:solidFill>
                <a:srgbClr val="EEECE1">
                  <a:lumMod val="25000"/>
                </a:srgbClr>
              </a:solidFill>
              <a:latin typeface="Calibri"/>
            </a:endParaRPr>
          </a:p>
        </p:txBody>
      </p:sp>
      <p:sp>
        <p:nvSpPr>
          <p:cNvPr id="35" name="CuadroTexto 10">
            <a:extLst>
              <a:ext uri="{FF2B5EF4-FFF2-40B4-BE49-F238E27FC236}">
                <a16:creationId xmlns:a16="http://schemas.microsoft.com/office/drawing/2014/main" id="{FA8AF34B-46E2-4F85-8ED9-1AA5F56DD81B}"/>
              </a:ext>
            </a:extLst>
          </p:cNvPr>
          <p:cNvSpPr txBox="1"/>
          <p:nvPr/>
        </p:nvSpPr>
        <p:spPr>
          <a:xfrm>
            <a:off x="4797734" y="2370108"/>
            <a:ext cx="2751537" cy="2030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s-MX" sz="1400" b="1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 PoC</a:t>
            </a:r>
          </a:p>
          <a:p>
            <a:pPr defTabSz="914126"/>
            <a:r>
              <a:rPr lang="es-MX" sz="1400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399" indent="-171399" defTabSz="914126">
              <a:buFontTx/>
              <a:buChar char="-"/>
            </a:pPr>
            <a:r>
              <a:rPr lang="es-MX" sz="1400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Requiere tecnología</a:t>
            </a:r>
          </a:p>
          <a:p>
            <a:pPr marL="171399" indent="-171399" defTabSz="914126">
              <a:buFontTx/>
              <a:buChar char="-"/>
            </a:pPr>
            <a:r>
              <a:rPr lang="es-MX" sz="1400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resuelve con </a:t>
            </a:r>
          </a:p>
          <a:p>
            <a:pPr defTabSz="914126"/>
            <a:r>
              <a:rPr lang="es-MX" sz="1400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enfoque tradicional</a:t>
            </a:r>
          </a:p>
          <a:p>
            <a:pPr marL="171399" indent="-171399" defTabSz="914126">
              <a:buFontTx/>
              <a:buChar char="-"/>
            </a:pPr>
            <a:r>
              <a:rPr lang="es-MX" sz="1400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Requiere validez técnica </a:t>
            </a:r>
          </a:p>
          <a:p>
            <a:pPr defTabSz="914126"/>
            <a:r>
              <a:rPr lang="es-MX" sz="1400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y económica de solución </a:t>
            </a:r>
          </a:p>
          <a:p>
            <a:pPr defTabSz="914126"/>
            <a:r>
              <a:rPr lang="es-MX" sz="1400" dirty="0">
                <a:solidFill>
                  <a:prstClr val="black">
                    <a:lumMod val="95000"/>
                    <a:lumOff val="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tecnológica propuesta</a:t>
            </a:r>
          </a:p>
          <a:p>
            <a:pPr marL="171399" indent="-171399" defTabSz="914126">
              <a:buFontTx/>
              <a:buChar char="-"/>
            </a:pPr>
            <a:endParaRPr lang="es-MX" sz="1400" dirty="0">
              <a:solidFill>
                <a:prstClr val="black">
                  <a:lumMod val="95000"/>
                  <a:lumOff val="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: Rounded Corners 24">
            <a:extLst>
              <a:ext uri="{FF2B5EF4-FFF2-40B4-BE49-F238E27FC236}">
                <a16:creationId xmlns:a16="http://schemas.microsoft.com/office/drawing/2014/main" id="{D92AF054-C7AB-4890-8E2A-07B8574165E5}"/>
              </a:ext>
            </a:extLst>
          </p:cNvPr>
          <p:cNvSpPr>
            <a:spLocks/>
          </p:cNvSpPr>
          <p:nvPr/>
        </p:nvSpPr>
        <p:spPr>
          <a:xfrm>
            <a:off x="1252970" y="5521019"/>
            <a:ext cx="9686059" cy="551711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28575">
            <a:solidFill>
              <a:srgbClr val="BFBFBF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s-ES" sz="1600" dirty="0">
              <a:solidFill>
                <a:srgbClr val="3F3F3F"/>
              </a:solidFill>
              <a:latin typeface="Corbel" panose="020B0503020204020204" pitchFamily="34" charset="0"/>
            </a:endParaRPr>
          </a:p>
          <a:p>
            <a:pPr algn="ctr" defTabSz="914126"/>
            <a:r>
              <a:rPr lang="es-ES" sz="1600" dirty="0">
                <a:solidFill>
                  <a:srgbClr val="3F3F3F"/>
                </a:solidFill>
                <a:latin typeface="Corbel" panose="020B0503020204020204" pitchFamily="34" charset="0"/>
              </a:rPr>
              <a:t>Estructura </a:t>
            </a:r>
            <a:r>
              <a:rPr lang="es-MX" sz="1600" dirty="0">
                <a:solidFill>
                  <a:srgbClr val="3F3F3F"/>
                </a:solidFill>
                <a:latin typeface="Corbel" panose="020B0503020204020204" pitchFamily="34" charset="0"/>
              </a:rPr>
              <a:t>básica para alinear el impacto y los beneficios para la organización del PoC</a:t>
            </a:r>
          </a:p>
          <a:p>
            <a:pPr algn="ctr" defTabSz="914126"/>
            <a:endParaRPr lang="es-ES" sz="1600" dirty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21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24">
            <a:extLst>
              <a:ext uri="{FF2B5EF4-FFF2-40B4-BE49-F238E27FC236}">
                <a16:creationId xmlns:a16="http://schemas.microsoft.com/office/drawing/2014/main" id="{E3C9C599-CF89-414A-8086-B90EACE662F9}"/>
              </a:ext>
            </a:extLst>
          </p:cNvPr>
          <p:cNvSpPr>
            <a:spLocks/>
          </p:cNvSpPr>
          <p:nvPr/>
        </p:nvSpPr>
        <p:spPr>
          <a:xfrm>
            <a:off x="278185" y="1040499"/>
            <a:ext cx="2902567" cy="448753"/>
          </a:xfrm>
          <a:prstGeom prst="roundRect">
            <a:avLst>
              <a:gd name="adj" fmla="val 7000"/>
            </a:avLst>
          </a:prstGeom>
          <a:solidFill>
            <a:srgbClr val="BFBFBF"/>
          </a:solidFill>
          <a:ln w="28575">
            <a:solidFill>
              <a:srgbClr val="BFBFBF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s-ES" sz="1600" dirty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29150" y="1142632"/>
            <a:ext cx="4761260" cy="369237"/>
          </a:xfrm>
        </p:spPr>
        <p:txBody>
          <a:bodyPr>
            <a:noAutofit/>
          </a:bodyPr>
          <a:lstStyle/>
          <a:p>
            <a:r>
              <a:rPr lang="es-MX" sz="1799" dirty="0">
                <a:solidFill>
                  <a:schemeClr val="bg1"/>
                </a:solidFill>
              </a:rPr>
              <a:t>Matriz de verificación inicial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963D8A01-97D0-4FFC-AFC3-C368A9554A10}"/>
              </a:ext>
            </a:extLst>
          </p:cNvPr>
          <p:cNvSpPr txBox="1">
            <a:spLocks/>
          </p:cNvSpPr>
          <p:nvPr/>
        </p:nvSpPr>
        <p:spPr>
          <a:xfrm>
            <a:off x="141704" y="329211"/>
            <a:ext cx="11408158" cy="663377"/>
          </a:xfrm>
          <a:prstGeom prst="rect">
            <a:avLst/>
          </a:prstGeom>
        </p:spPr>
        <p:txBody>
          <a:bodyPr vert="horz" lIns="91416" tIns="45708" rIns="91416" bIns="45708" rtlCol="0" anchor="ctr">
            <a:normAutofit/>
          </a:bodyPr>
          <a:lstStyle>
            <a:lvl1pPr>
              <a:spcBef>
                <a:spcPct val="0"/>
              </a:spcBef>
              <a:buNone/>
              <a:defRPr lang="es-ES" sz="2399" b="1" dirty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defTabSz="914126"/>
            <a:r>
              <a:rPr lang="es-ES" sz="2398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Problemas complejos con incertidumbre y </a:t>
            </a:r>
            <a:r>
              <a:rPr lang="es-ES" sz="2398" dirty="0" err="1">
                <a:solidFill>
                  <a:srgbClr val="EEECE1">
                    <a:lumMod val="25000"/>
                  </a:srgbClr>
                </a:solidFill>
                <a:latin typeface="Calibri"/>
              </a:rPr>
              <a:t>req</a:t>
            </a:r>
            <a:r>
              <a:rPr lang="es-ES" sz="2398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 tecnológico</a:t>
            </a:r>
            <a:endParaRPr lang="es-MX" sz="2398" dirty="0">
              <a:solidFill>
                <a:srgbClr val="EEECE1">
                  <a:lumMod val="25000"/>
                </a:srgbClr>
              </a:solidFill>
              <a:latin typeface="Calibri"/>
            </a:endParaRP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1513EEC-5FE0-4EEA-BACF-1C15280B83FA}"/>
              </a:ext>
            </a:extLst>
          </p:cNvPr>
          <p:cNvGraphicFramePr/>
          <p:nvPr/>
        </p:nvGraphicFramePr>
        <p:xfrm>
          <a:off x="2645174" y="1692275"/>
          <a:ext cx="6669105" cy="4279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9391023-4230-48A6-A99F-686D2F8763C4}"/>
              </a:ext>
            </a:extLst>
          </p:cNvPr>
          <p:cNvSpPr txBox="1"/>
          <p:nvPr/>
        </p:nvSpPr>
        <p:spPr>
          <a:xfrm rot="16200000">
            <a:off x="1771888" y="3047595"/>
            <a:ext cx="2172465" cy="646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MX" sz="3599" dirty="0">
                <a:solidFill>
                  <a:prstClr val="black"/>
                </a:solidFill>
                <a:latin typeface="Calibri"/>
              </a:rPr>
              <a:t>Tecnología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90CF909-DF41-45CA-92B8-B176EDAFF51F}"/>
              </a:ext>
            </a:extLst>
          </p:cNvPr>
          <p:cNvSpPr txBox="1"/>
          <p:nvPr/>
        </p:nvSpPr>
        <p:spPr>
          <a:xfrm>
            <a:off x="5274375" y="5911756"/>
            <a:ext cx="2646189" cy="646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MX" sz="3599" dirty="0">
                <a:solidFill>
                  <a:prstClr val="black"/>
                </a:solidFill>
                <a:latin typeface="Calibri"/>
              </a:rPr>
              <a:t>Complejidad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61ABEE-842F-45DE-9BBA-2146FD17C263}"/>
              </a:ext>
            </a:extLst>
          </p:cNvPr>
          <p:cNvSpPr txBox="1"/>
          <p:nvPr/>
        </p:nvSpPr>
        <p:spPr>
          <a:xfrm>
            <a:off x="2535036" y="6137627"/>
            <a:ext cx="645714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MX" sz="1799" dirty="0">
                <a:solidFill>
                  <a:prstClr val="black"/>
                </a:solidFill>
                <a:latin typeface="Calibri"/>
              </a:rPr>
              <a:t>BAJA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97F552C-8872-48F3-A6C7-C9C98F1EF511}"/>
              </a:ext>
            </a:extLst>
          </p:cNvPr>
          <p:cNvSpPr txBox="1"/>
          <p:nvPr/>
        </p:nvSpPr>
        <p:spPr>
          <a:xfrm>
            <a:off x="2535038" y="1489251"/>
            <a:ext cx="625649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MX" sz="1799" dirty="0">
                <a:solidFill>
                  <a:prstClr val="black"/>
                </a:solidFill>
                <a:latin typeface="Calibri"/>
              </a:rPr>
              <a:t>ALTA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D6158E2-4EF7-4064-8BD2-1FFF06D04E3A}"/>
              </a:ext>
            </a:extLst>
          </p:cNvPr>
          <p:cNvSpPr txBox="1"/>
          <p:nvPr/>
        </p:nvSpPr>
        <p:spPr>
          <a:xfrm>
            <a:off x="8133735" y="6145475"/>
            <a:ext cx="625649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MX" sz="1799" dirty="0">
                <a:solidFill>
                  <a:prstClr val="black"/>
                </a:solidFill>
                <a:latin typeface="Calibri"/>
              </a:rPr>
              <a:t>ALTA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71511F-0A57-470B-9843-C968EB71EF12}"/>
              </a:ext>
            </a:extLst>
          </p:cNvPr>
          <p:cNvSpPr txBox="1"/>
          <p:nvPr/>
        </p:nvSpPr>
        <p:spPr>
          <a:xfrm>
            <a:off x="7697407" y="1427726"/>
            <a:ext cx="744882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ES" sz="1799" b="1" dirty="0">
                <a:solidFill>
                  <a:prstClr val="black"/>
                </a:solidFill>
                <a:latin typeface="Calibri"/>
              </a:rPr>
              <a:t>Piloto</a:t>
            </a:r>
            <a:endParaRPr lang="es-MX" sz="1799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E0B393A-E4DA-4A1D-A3A6-A9112E372E10}"/>
              </a:ext>
            </a:extLst>
          </p:cNvPr>
          <p:cNvSpPr txBox="1"/>
          <p:nvPr/>
        </p:nvSpPr>
        <p:spPr>
          <a:xfrm>
            <a:off x="8446560" y="1013338"/>
            <a:ext cx="957833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ES" sz="1799" b="1" dirty="0">
                <a:solidFill>
                  <a:prstClr val="black"/>
                </a:solidFill>
                <a:latin typeface="Calibri"/>
              </a:rPr>
              <a:t>Roll </a:t>
            </a:r>
            <a:r>
              <a:rPr lang="es-ES" sz="1799" b="1" dirty="0" err="1">
                <a:solidFill>
                  <a:prstClr val="black"/>
                </a:solidFill>
                <a:latin typeface="Calibri"/>
              </a:rPr>
              <a:t>Out</a:t>
            </a:r>
            <a:endParaRPr lang="es-MX" sz="1799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CDD74CA2-2FFD-44B7-AAFF-C94836D23D3C}"/>
              </a:ext>
            </a:extLst>
          </p:cNvPr>
          <p:cNvSpPr/>
          <p:nvPr/>
        </p:nvSpPr>
        <p:spPr>
          <a:xfrm rot="19145120">
            <a:off x="7661300" y="1677031"/>
            <a:ext cx="321292" cy="473412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s-MX" sz="179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Flecha: cheurón 18">
            <a:extLst>
              <a:ext uri="{FF2B5EF4-FFF2-40B4-BE49-F238E27FC236}">
                <a16:creationId xmlns:a16="http://schemas.microsoft.com/office/drawing/2014/main" id="{557D1FCF-090C-4CB2-BDB2-0A3F69AA48AE}"/>
              </a:ext>
            </a:extLst>
          </p:cNvPr>
          <p:cNvSpPr/>
          <p:nvPr/>
        </p:nvSpPr>
        <p:spPr>
          <a:xfrm rot="18444461">
            <a:off x="8148559" y="1165762"/>
            <a:ext cx="321292" cy="473412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s-MX" sz="1799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Speech Bubble: Rectangle with Corners Rounded 4">
            <a:extLst>
              <a:ext uri="{FF2B5EF4-FFF2-40B4-BE49-F238E27FC236}">
                <a16:creationId xmlns:a16="http://schemas.microsoft.com/office/drawing/2014/main" id="{4D887623-896D-42AE-875D-7E799EB225F1}"/>
              </a:ext>
            </a:extLst>
          </p:cNvPr>
          <p:cNvSpPr/>
          <p:nvPr/>
        </p:nvSpPr>
        <p:spPr>
          <a:xfrm>
            <a:off x="8442290" y="1977370"/>
            <a:ext cx="3380185" cy="871908"/>
          </a:xfrm>
          <a:prstGeom prst="wedgeRoundRectCallout">
            <a:avLst>
              <a:gd name="adj1" fmla="val 6371"/>
              <a:gd name="adj2" fmla="val 86076"/>
              <a:gd name="adj3" fmla="val 16667"/>
            </a:avLst>
          </a:prstGeom>
          <a:solidFill>
            <a:schemeClr val="accent2"/>
          </a:solidFill>
          <a:ln w="28575"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MX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 seguir el método de aprobación para el PoC</a:t>
            </a:r>
          </a:p>
        </p:txBody>
      </p:sp>
    </p:spTree>
    <p:extLst>
      <p:ext uri="{BB962C8B-B14F-4D97-AF65-F5344CB8AC3E}">
        <p14:creationId xmlns:p14="http://schemas.microsoft.com/office/powerpoint/2010/main" val="274345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991136-B4D6-DCBC-2339-0F76BE7B3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303" y="1424879"/>
            <a:ext cx="5398594" cy="2363835"/>
          </a:xfrm>
        </p:spPr>
        <p:txBody>
          <a:bodyPr/>
          <a:lstStyle/>
          <a:p>
            <a:r>
              <a:rPr lang="es-ES" sz="1799" dirty="0"/>
              <a:t>Contexto y alcance</a:t>
            </a:r>
          </a:p>
          <a:p>
            <a:pPr marL="799860" lvl="1" indent="-342797">
              <a:buFont typeface="+mj-lt"/>
              <a:buAutoNum type="arabicPeriod"/>
            </a:pPr>
            <a:r>
              <a:rPr lang="es-ES" sz="1799" dirty="0"/>
              <a:t>Contexto iniciativa</a:t>
            </a:r>
          </a:p>
          <a:p>
            <a:pPr marL="799860" lvl="1" indent="-342797">
              <a:buFont typeface="+mj-lt"/>
              <a:buAutoNum type="arabicPeriod"/>
            </a:pPr>
            <a:r>
              <a:rPr lang="es-ES" sz="1799" dirty="0"/>
              <a:t>Definir PoC y como se medirá </a:t>
            </a:r>
          </a:p>
          <a:p>
            <a:pPr marL="799860" lvl="1" indent="-342797">
              <a:buFont typeface="+mj-lt"/>
              <a:buAutoNum type="arabicPeriod"/>
            </a:pPr>
            <a:r>
              <a:rPr lang="es-ES" sz="1799" dirty="0"/>
              <a:t>Definir plan e inversión</a:t>
            </a:r>
          </a:p>
          <a:p>
            <a:r>
              <a:rPr lang="es-ES" sz="1799" dirty="0"/>
              <a:t>Manera de operar</a:t>
            </a:r>
          </a:p>
          <a:p>
            <a:pPr marL="799860" lvl="1" indent="-342797">
              <a:buFont typeface="+mj-lt"/>
              <a:buAutoNum type="arabicPeriod" startAt="4"/>
            </a:pPr>
            <a:r>
              <a:rPr lang="es-ES" sz="1799" dirty="0"/>
              <a:t>Playbook</a:t>
            </a:r>
          </a:p>
          <a:p>
            <a:pPr marL="799860" lvl="1" indent="-342797">
              <a:buFont typeface="+mj-lt"/>
              <a:buAutoNum type="arabicPeriod" startAt="4"/>
            </a:pPr>
            <a:r>
              <a:rPr lang="es-ES" sz="1799" dirty="0"/>
              <a:t>Manera de operar – Roles y </a:t>
            </a:r>
            <a:r>
              <a:rPr lang="es-ES" sz="1799" dirty="0" err="1"/>
              <a:t>resp</a:t>
            </a:r>
            <a:endParaRPr lang="es-ES" sz="1799" dirty="0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41AE0EB-64C7-5E4F-027B-5F7B5114463F}"/>
              </a:ext>
            </a:extLst>
          </p:cNvPr>
          <p:cNvSpPr txBox="1">
            <a:spLocks/>
          </p:cNvSpPr>
          <p:nvPr/>
        </p:nvSpPr>
        <p:spPr>
          <a:xfrm>
            <a:off x="359304" y="4407032"/>
            <a:ext cx="6026431" cy="1766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_tradnl" sz="2000" b="1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4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31" indent="-228531" defTabSz="914126"/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Seguimiento</a:t>
            </a:r>
          </a:p>
          <a:p>
            <a:pPr marL="799860" lvl="1" indent="-342797" defTabSz="914126">
              <a:buFont typeface="+mj-lt"/>
              <a:buAutoNum type="arabicPeriod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Dashboard de seguimiento</a:t>
            </a:r>
          </a:p>
          <a:p>
            <a:pPr marL="228531" indent="-228531" defTabSz="914126"/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Documentación</a:t>
            </a:r>
          </a:p>
          <a:p>
            <a:pPr marL="799860" lvl="1" indent="-342797" defTabSz="914126">
              <a:buFont typeface="+mj-lt"/>
              <a:buAutoNum type="arabicPeriod" startAt="2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Datos, validación de infraestructura y técnica</a:t>
            </a:r>
          </a:p>
          <a:p>
            <a:pPr marL="799860" lvl="1" indent="-342797" defTabSz="914126">
              <a:buFont typeface="+mj-lt"/>
              <a:buAutoNum type="arabicPeriod" startAt="2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Experimentos / Corridas / Pruebas / Comp. hipótesis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B0929E5-80F0-F29E-3B49-3BEA7C410FAF}"/>
              </a:ext>
            </a:extLst>
          </p:cNvPr>
          <p:cNvSpPr txBox="1">
            <a:spLocks/>
          </p:cNvSpPr>
          <p:nvPr/>
        </p:nvSpPr>
        <p:spPr>
          <a:xfrm>
            <a:off x="6511585" y="1451203"/>
            <a:ext cx="5398594" cy="23638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_tradnl" sz="2000" b="1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4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31" indent="-228531" defTabSz="914126"/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Implementación</a:t>
            </a:r>
          </a:p>
          <a:p>
            <a:pPr marL="799860" lvl="1" indent="-342797" defTabSz="914126">
              <a:buFont typeface="+mj-lt"/>
              <a:buAutoNum type="arabicPeriod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Kickoff</a:t>
            </a:r>
          </a:p>
          <a:p>
            <a:pPr marL="228531" indent="-228531" defTabSz="914126"/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Levantamiento </a:t>
            </a:r>
          </a:p>
          <a:p>
            <a:pPr marL="799860" lvl="1" indent="-342797" defTabSz="914126">
              <a:buFont typeface="+mj-lt"/>
              <a:buAutoNum type="arabicPeriod" startAt="2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Literatura, Capacitación y método científico</a:t>
            </a:r>
          </a:p>
          <a:p>
            <a:pPr marL="799860" lvl="1" indent="-342797" defTabSz="914126">
              <a:buFont typeface="+mj-lt"/>
              <a:buAutoNum type="arabicPeriod" startAt="2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Requerimientos base para PoC</a:t>
            </a:r>
          </a:p>
          <a:p>
            <a:pPr marL="799860" lvl="1" indent="-342797" defTabSz="914126">
              <a:buFont typeface="+mj-lt"/>
              <a:buAutoNum type="arabicPeriod" startAt="2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Diseño de experimentos e instalación de infraestructura requerida del PoC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C6F2E9DA-C5A9-EEBA-FC84-5B675CAB5000}"/>
              </a:ext>
            </a:extLst>
          </p:cNvPr>
          <p:cNvSpPr txBox="1">
            <a:spLocks/>
          </p:cNvSpPr>
          <p:nvPr/>
        </p:nvSpPr>
        <p:spPr>
          <a:xfrm>
            <a:off x="6495273" y="4384864"/>
            <a:ext cx="5695141" cy="2173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_tradnl" sz="2000" b="1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_tradnl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4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31" indent="-228531" defTabSz="914126"/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Resultados</a:t>
            </a:r>
          </a:p>
          <a:p>
            <a:pPr marL="799860" lvl="1" indent="-342797" defTabSz="914126">
              <a:buFont typeface="+mj-lt"/>
              <a:buAutoNum type="arabicPeriod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Resumen de resultados PoC</a:t>
            </a:r>
          </a:p>
          <a:p>
            <a:pPr marL="228531" indent="-228531" defTabSz="914126"/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Retroalimentación</a:t>
            </a:r>
          </a:p>
          <a:p>
            <a:pPr marL="799860" lvl="1" indent="-342797" defTabSz="914126">
              <a:buFont typeface="+mj-lt"/>
              <a:buAutoNum type="arabicPeriod" startAt="2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Entregables</a:t>
            </a:r>
          </a:p>
          <a:p>
            <a:pPr marL="799860" lvl="1" indent="-342797" defTabSz="914126">
              <a:buFont typeface="+mj-lt"/>
              <a:buAutoNum type="arabicPeriod" startAt="2"/>
            </a:pPr>
            <a:r>
              <a:rPr lang="es-ES" sz="1799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Inversión vs Presupuesto (validación económica)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50497A-1443-947C-6B76-B39E207DEFAF}"/>
              </a:ext>
            </a:extLst>
          </p:cNvPr>
          <p:cNvSpPr/>
          <p:nvPr/>
        </p:nvSpPr>
        <p:spPr>
          <a:xfrm>
            <a:off x="375616" y="1029087"/>
            <a:ext cx="5398594" cy="3957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>
                <a:solidFill>
                  <a:prstClr val="white"/>
                </a:solidFill>
                <a:latin typeface="Calibri"/>
              </a:rPr>
              <a:t>Plan</a:t>
            </a:r>
            <a:endParaRPr lang="es-MX" sz="1799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B28ED4-770F-2A56-D591-C2689F0A1155}"/>
              </a:ext>
            </a:extLst>
          </p:cNvPr>
          <p:cNvSpPr/>
          <p:nvPr/>
        </p:nvSpPr>
        <p:spPr>
          <a:xfrm>
            <a:off x="359303" y="3986609"/>
            <a:ext cx="5398594" cy="3957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>
                <a:solidFill>
                  <a:prstClr val="white"/>
                </a:solidFill>
                <a:latin typeface="Calibri"/>
              </a:rPr>
              <a:t>Check</a:t>
            </a:r>
            <a:endParaRPr lang="es-MX" sz="1799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743B28-0F9E-40F1-3661-25D3D2A97542}"/>
              </a:ext>
            </a:extLst>
          </p:cNvPr>
          <p:cNvSpPr/>
          <p:nvPr/>
        </p:nvSpPr>
        <p:spPr>
          <a:xfrm>
            <a:off x="6511585" y="1029087"/>
            <a:ext cx="5398594" cy="3957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>
                <a:solidFill>
                  <a:prstClr val="white"/>
                </a:solidFill>
                <a:latin typeface="Calibri"/>
              </a:rPr>
              <a:t>Do</a:t>
            </a:r>
            <a:endParaRPr lang="es-MX" sz="1799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23CC1D-AB5E-ED05-5302-0110CAF29AA0}"/>
              </a:ext>
            </a:extLst>
          </p:cNvPr>
          <p:cNvSpPr/>
          <p:nvPr/>
        </p:nvSpPr>
        <p:spPr>
          <a:xfrm>
            <a:off x="6495272" y="3986609"/>
            <a:ext cx="5398594" cy="39579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 err="1">
                <a:solidFill>
                  <a:prstClr val="white"/>
                </a:solidFill>
                <a:latin typeface="Calibri"/>
              </a:rPr>
              <a:t>Act</a:t>
            </a:r>
            <a:endParaRPr lang="es-MX" sz="1799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239DBFF5-6060-8811-9846-49B49A9B6345}"/>
              </a:ext>
            </a:extLst>
          </p:cNvPr>
          <p:cNvSpPr/>
          <p:nvPr/>
        </p:nvSpPr>
        <p:spPr>
          <a:xfrm>
            <a:off x="433476" y="1065024"/>
            <a:ext cx="323916" cy="323916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1</a:t>
            </a:r>
            <a:endParaRPr lang="es-MX" sz="1799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8039166-00CB-77E9-179F-C6103DB9F38B}"/>
              </a:ext>
            </a:extLst>
          </p:cNvPr>
          <p:cNvSpPr/>
          <p:nvPr/>
        </p:nvSpPr>
        <p:spPr>
          <a:xfrm>
            <a:off x="6584707" y="1065024"/>
            <a:ext cx="323916" cy="323916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2</a:t>
            </a:r>
            <a:endParaRPr lang="es-MX" sz="1799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9F5FCF75-18F8-87A9-C18B-FC90006EB8AB}"/>
              </a:ext>
            </a:extLst>
          </p:cNvPr>
          <p:cNvSpPr/>
          <p:nvPr/>
        </p:nvSpPr>
        <p:spPr>
          <a:xfrm>
            <a:off x="433476" y="4012932"/>
            <a:ext cx="323916" cy="323916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3</a:t>
            </a:r>
            <a:endParaRPr lang="es-MX" sz="1799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9A60B2A-93FB-CE53-7F8E-10F467406193}"/>
              </a:ext>
            </a:extLst>
          </p:cNvPr>
          <p:cNvSpPr/>
          <p:nvPr/>
        </p:nvSpPr>
        <p:spPr>
          <a:xfrm>
            <a:off x="6584707" y="4012932"/>
            <a:ext cx="323916" cy="323916"/>
          </a:xfrm>
          <a:prstGeom prst="flowChartConnector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799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/>
              </a:rPr>
              <a:t>4</a:t>
            </a:r>
            <a:endParaRPr lang="es-MX" sz="1799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335FB45-1F97-493B-9AD1-FE2C0AAE652D}"/>
              </a:ext>
            </a:extLst>
          </p:cNvPr>
          <p:cNvSpPr txBox="1">
            <a:spLocks/>
          </p:cNvSpPr>
          <p:nvPr/>
        </p:nvSpPr>
        <p:spPr>
          <a:xfrm>
            <a:off x="231703" y="356095"/>
            <a:ext cx="11408158" cy="663377"/>
          </a:xfrm>
          <a:prstGeom prst="rect">
            <a:avLst/>
          </a:prstGeom>
        </p:spPr>
        <p:txBody>
          <a:bodyPr vert="horz" lIns="91416" tIns="45708" rIns="91416" bIns="45708" rtlCol="0" anchor="ctr">
            <a:normAutofit/>
          </a:bodyPr>
          <a:lstStyle>
            <a:lvl1pPr>
              <a:spcBef>
                <a:spcPct val="0"/>
              </a:spcBef>
              <a:buNone/>
              <a:defRPr lang="es-ES" sz="2399" b="1" dirty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defTabSz="914126"/>
            <a:r>
              <a:rPr lang="es-ES" sz="2398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Proceso PoC en 4 secciones para decidir GO / NO GO</a:t>
            </a:r>
            <a:endParaRPr lang="es-MX" sz="2398" dirty="0">
              <a:solidFill>
                <a:srgbClr val="EEECE1">
                  <a:lumMod val="25000"/>
                </a:srgbClr>
              </a:solidFill>
              <a:latin typeface="Calibri"/>
            </a:endParaRPr>
          </a:p>
        </p:txBody>
      </p:sp>
      <p:sp>
        <p:nvSpPr>
          <p:cNvPr id="19" name="Rectangle: Rounded Corners 24">
            <a:extLst>
              <a:ext uri="{FF2B5EF4-FFF2-40B4-BE49-F238E27FC236}">
                <a16:creationId xmlns:a16="http://schemas.microsoft.com/office/drawing/2014/main" id="{32CAA5B3-E642-42D9-9350-7DB4847578E8}"/>
              </a:ext>
            </a:extLst>
          </p:cNvPr>
          <p:cNvSpPr>
            <a:spLocks/>
          </p:cNvSpPr>
          <p:nvPr/>
        </p:nvSpPr>
        <p:spPr>
          <a:xfrm>
            <a:off x="6198725" y="6198512"/>
            <a:ext cx="5695141" cy="427316"/>
          </a:xfrm>
          <a:prstGeom prst="roundRect">
            <a:avLst>
              <a:gd name="adj" fmla="val 7000"/>
            </a:avLst>
          </a:prstGeom>
          <a:solidFill>
            <a:srgbClr val="BFBFBF"/>
          </a:solidFill>
          <a:ln w="28575">
            <a:solidFill>
              <a:srgbClr val="BFBFBF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600" b="1" dirty="0">
                <a:solidFill>
                  <a:srgbClr val="3F3F3F"/>
                </a:solidFill>
                <a:latin typeface="Corbel" panose="020B0503020204020204" pitchFamily="34" charset="0"/>
              </a:rPr>
              <a:t>Decisión: </a:t>
            </a:r>
            <a:r>
              <a:rPr lang="es-ES" sz="1600" b="1" dirty="0" err="1">
                <a:solidFill>
                  <a:srgbClr val="3F3F3F"/>
                </a:solidFill>
                <a:latin typeface="Corbel" panose="020B0503020204020204" pitchFamily="34" charset="0"/>
              </a:rPr>
              <a:t>Go</a:t>
            </a:r>
            <a:r>
              <a:rPr lang="es-ES" sz="1600" b="1" dirty="0">
                <a:solidFill>
                  <a:srgbClr val="3F3F3F"/>
                </a:solidFill>
                <a:latin typeface="Corbel" panose="020B0503020204020204" pitchFamily="34" charset="0"/>
              </a:rPr>
              <a:t> / No </a:t>
            </a:r>
            <a:r>
              <a:rPr lang="es-ES" sz="1600" b="1" dirty="0" err="1">
                <a:solidFill>
                  <a:srgbClr val="3F3F3F"/>
                </a:solidFill>
                <a:latin typeface="Corbel" panose="020B0503020204020204" pitchFamily="34" charset="0"/>
              </a:rPr>
              <a:t>Go</a:t>
            </a:r>
            <a:endParaRPr lang="es-ES" sz="1600" b="1" dirty="0">
              <a:solidFill>
                <a:srgbClr val="3F3F3F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950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72C0836-C899-4968-A02E-0F1539C9FE70}"/>
              </a:ext>
            </a:extLst>
          </p:cNvPr>
          <p:cNvSpPr txBox="1">
            <a:spLocks/>
          </p:cNvSpPr>
          <p:nvPr/>
        </p:nvSpPr>
        <p:spPr>
          <a:xfrm>
            <a:off x="0" y="436682"/>
            <a:ext cx="11408158" cy="663377"/>
          </a:xfrm>
          <a:prstGeom prst="rect">
            <a:avLst/>
          </a:prstGeom>
        </p:spPr>
        <p:txBody>
          <a:bodyPr vert="horz" lIns="91416" tIns="45708" rIns="91416" bIns="45708" rtlCol="0" anchor="ctr">
            <a:normAutofit/>
          </a:bodyPr>
          <a:lstStyle>
            <a:lvl1pPr>
              <a:spcBef>
                <a:spcPct val="0"/>
              </a:spcBef>
              <a:buNone/>
              <a:defRPr lang="es-ES" sz="2399" b="1" dirty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defTabSz="914126"/>
            <a:r>
              <a:rPr lang="es-ES" sz="2398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El proceso de validación de inversión vs pres es clave antes de iniciar el PoC</a:t>
            </a:r>
            <a:endParaRPr lang="es-MX" sz="2398" dirty="0">
              <a:solidFill>
                <a:srgbClr val="EEECE1">
                  <a:lumMod val="25000"/>
                </a:srgbClr>
              </a:solidFill>
              <a:latin typeface="Calibri"/>
            </a:endParaRPr>
          </a:p>
        </p:txBody>
      </p:sp>
      <p:sp>
        <p:nvSpPr>
          <p:cNvPr id="5" name="Google Shape;82;p14">
            <a:extLst>
              <a:ext uri="{FF2B5EF4-FFF2-40B4-BE49-F238E27FC236}">
                <a16:creationId xmlns:a16="http://schemas.microsoft.com/office/drawing/2014/main" id="{194A2F0C-608C-4F5A-86A6-97456B97A0FE}"/>
              </a:ext>
            </a:extLst>
          </p:cNvPr>
          <p:cNvSpPr/>
          <p:nvPr/>
        </p:nvSpPr>
        <p:spPr>
          <a:xfrm>
            <a:off x="2649987" y="1588943"/>
            <a:ext cx="2018637" cy="865753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" sz="1400" b="1" dirty="0">
                <a:solidFill>
                  <a:prstClr val="white"/>
                </a:solidFill>
                <a:latin typeface="Corbel" panose="020B0503020204020204" pitchFamily="34" charset="0"/>
                <a:ea typeface="Helvetica Neue"/>
                <a:cs typeface="Helvetica Neue"/>
                <a:sym typeface="Helvetica Neue"/>
              </a:rPr>
              <a:t>PoC´s con Beneficio Economico </a:t>
            </a:r>
            <a:endParaRPr sz="1400" b="1" dirty="0">
              <a:solidFill>
                <a:prstClr val="white"/>
              </a:solidFill>
              <a:latin typeface="Corbel" panose="020B0503020204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E9ED117B-5862-4947-BA80-D9913643658B}"/>
              </a:ext>
            </a:extLst>
          </p:cNvPr>
          <p:cNvSpPr/>
          <p:nvPr/>
        </p:nvSpPr>
        <p:spPr bwMode="gray">
          <a:xfrm>
            <a:off x="2523061" y="2654699"/>
            <a:ext cx="2612235" cy="213754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Técnicas de evaluación:</a:t>
            </a: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ROI</a:t>
            </a: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PAY BACK </a:t>
            </a: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TIR</a:t>
            </a: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*al menos aplicar alguna técnica 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000571F-8F9D-48FC-9DDB-0150A2235AB4}"/>
              </a:ext>
            </a:extLst>
          </p:cNvPr>
          <p:cNvCxnSpPr>
            <a:cxnSpLocks/>
          </p:cNvCxnSpPr>
          <p:nvPr/>
        </p:nvCxnSpPr>
        <p:spPr>
          <a:xfrm>
            <a:off x="5168857" y="1823471"/>
            <a:ext cx="0" cy="39160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Google Shape;82;p14">
            <a:extLst>
              <a:ext uri="{FF2B5EF4-FFF2-40B4-BE49-F238E27FC236}">
                <a16:creationId xmlns:a16="http://schemas.microsoft.com/office/drawing/2014/main" id="{3EE2036B-75FF-4090-8DF6-E826031D7862}"/>
              </a:ext>
            </a:extLst>
          </p:cNvPr>
          <p:cNvSpPr/>
          <p:nvPr/>
        </p:nvSpPr>
        <p:spPr>
          <a:xfrm>
            <a:off x="5344211" y="1567617"/>
            <a:ext cx="2312097" cy="865753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" sz="1400" b="1" dirty="0">
                <a:solidFill>
                  <a:prstClr val="white"/>
                </a:solidFill>
                <a:latin typeface="Corbel" panose="020B0503020204020204" pitchFamily="34" charset="0"/>
                <a:ea typeface="Helvetica Neue"/>
                <a:cs typeface="Helvetica Neue"/>
                <a:sym typeface="Helvetica Neue"/>
              </a:rPr>
              <a:t> PoC´s con Beneficios cualitativos </a:t>
            </a:r>
            <a:endParaRPr sz="1400" b="1" dirty="0">
              <a:solidFill>
                <a:prstClr val="white"/>
              </a:solidFill>
              <a:latin typeface="Corbel" panose="020B0503020204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Rectangle: Rounded Corners 24">
            <a:extLst>
              <a:ext uri="{FF2B5EF4-FFF2-40B4-BE49-F238E27FC236}">
                <a16:creationId xmlns:a16="http://schemas.microsoft.com/office/drawing/2014/main" id="{B9952D9F-E9B0-4B19-95D2-9ACA483ADDD6}"/>
              </a:ext>
            </a:extLst>
          </p:cNvPr>
          <p:cNvSpPr>
            <a:spLocks/>
          </p:cNvSpPr>
          <p:nvPr/>
        </p:nvSpPr>
        <p:spPr>
          <a:xfrm>
            <a:off x="5807529" y="5947655"/>
            <a:ext cx="6096340" cy="551711"/>
          </a:xfrm>
          <a:prstGeom prst="roundRect">
            <a:avLst>
              <a:gd name="adj" fmla="val 7000"/>
            </a:avLst>
          </a:prstGeom>
          <a:solidFill>
            <a:srgbClr val="BFBFBF"/>
          </a:solidFill>
          <a:ln w="28575">
            <a:solidFill>
              <a:srgbClr val="BFBFBF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s-ES" sz="1600" b="1" dirty="0">
                <a:solidFill>
                  <a:srgbClr val="3F3F3F"/>
                </a:solidFill>
                <a:latin typeface="Corbel" panose="020B0503020204020204" pitchFamily="34" charset="0"/>
              </a:rPr>
              <a:t>Aseguramiento de presupuesto por parte de la </a:t>
            </a:r>
          </a:p>
          <a:p>
            <a:pPr algn="ctr" defTabSz="914126"/>
            <a:r>
              <a:rPr lang="es-ES" sz="1600" b="1" dirty="0">
                <a:solidFill>
                  <a:srgbClr val="3F3F3F"/>
                </a:solidFill>
                <a:latin typeface="Corbel" panose="020B0503020204020204" pitchFamily="34" charset="0"/>
              </a:rPr>
              <a:t>Gerencia antes de iniciar el PoC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BC1377B2-3F62-42D0-8751-04F040FC93FB}"/>
              </a:ext>
            </a:extLst>
          </p:cNvPr>
          <p:cNvSpPr/>
          <p:nvPr/>
        </p:nvSpPr>
        <p:spPr bwMode="gray">
          <a:xfrm>
            <a:off x="5346301" y="2461798"/>
            <a:ext cx="3461157" cy="213754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Se establecen métricas cualitativas </a:t>
            </a: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8CDC01C2-0B10-44CF-8A94-13734FF188F2}"/>
              </a:ext>
            </a:extLst>
          </p:cNvPr>
          <p:cNvSpPr/>
          <p:nvPr/>
        </p:nvSpPr>
        <p:spPr bwMode="gray">
          <a:xfrm>
            <a:off x="10198317" y="2201101"/>
            <a:ext cx="2312097" cy="213754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Asegurar </a:t>
            </a: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9" indent="-171399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9" indent="-171399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Presupuesto </a:t>
            </a:r>
          </a:p>
          <a:p>
            <a:pPr marL="171399" indent="-171399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9" indent="-171399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9" indent="-171399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9" indent="-171399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Previsión de Fondos</a:t>
            </a:r>
          </a:p>
        </p:txBody>
      </p:sp>
      <p:sp>
        <p:nvSpPr>
          <p:cNvPr id="13" name="Google Shape;82;p14">
            <a:extLst>
              <a:ext uri="{FF2B5EF4-FFF2-40B4-BE49-F238E27FC236}">
                <a16:creationId xmlns:a16="http://schemas.microsoft.com/office/drawing/2014/main" id="{D7023877-1D5A-4F39-8E29-86C2720310C9}"/>
              </a:ext>
            </a:extLst>
          </p:cNvPr>
          <p:cNvSpPr/>
          <p:nvPr/>
        </p:nvSpPr>
        <p:spPr>
          <a:xfrm>
            <a:off x="116905" y="1567617"/>
            <a:ext cx="2018637" cy="865753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" sz="1400" b="1" dirty="0">
                <a:solidFill>
                  <a:prstClr val="white"/>
                </a:solidFill>
                <a:latin typeface="Corbel" panose="020B0503020204020204" pitchFamily="34" charset="0"/>
                <a:ea typeface="Helvetica Neue"/>
                <a:cs typeface="Helvetica Neue"/>
                <a:sym typeface="Helvetica Neue"/>
              </a:rPr>
              <a:t>Inversion</a:t>
            </a:r>
            <a:endParaRPr sz="1400" b="1" dirty="0">
              <a:solidFill>
                <a:prstClr val="white"/>
              </a:solidFill>
              <a:latin typeface="Corbel" panose="020B0503020204020204" pitchFamily="34" charset="0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EC10AD3-6716-4D7A-8DEE-743995A22707}"/>
              </a:ext>
            </a:extLst>
          </p:cNvPr>
          <p:cNvCxnSpPr>
            <a:cxnSpLocks/>
          </p:cNvCxnSpPr>
          <p:nvPr/>
        </p:nvCxnSpPr>
        <p:spPr>
          <a:xfrm>
            <a:off x="2371421" y="1823471"/>
            <a:ext cx="0" cy="39160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22">
            <a:extLst>
              <a:ext uri="{FF2B5EF4-FFF2-40B4-BE49-F238E27FC236}">
                <a16:creationId xmlns:a16="http://schemas.microsoft.com/office/drawing/2014/main" id="{85F16657-ABB2-4CCA-A36D-94BBA5E7CD7D}"/>
              </a:ext>
            </a:extLst>
          </p:cNvPr>
          <p:cNvSpPr/>
          <p:nvPr/>
        </p:nvSpPr>
        <p:spPr bwMode="gray">
          <a:xfrm>
            <a:off x="57553" y="2190616"/>
            <a:ext cx="2612235" cy="213754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algn="ctr"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Análisis para costear:</a:t>
            </a: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Ej.</a:t>
            </a:r>
          </a:p>
          <a:p>
            <a:pPr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Infraestructura</a:t>
            </a: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Equipo de Computo</a:t>
            </a: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4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4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Licenciamiento </a:t>
            </a:r>
          </a:p>
          <a:p>
            <a:pPr algn="ctr"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</p:txBody>
      </p:sp>
      <p:sp>
        <p:nvSpPr>
          <p:cNvPr id="17" name="Trapezoid 2">
            <a:extLst>
              <a:ext uri="{FF2B5EF4-FFF2-40B4-BE49-F238E27FC236}">
                <a16:creationId xmlns:a16="http://schemas.microsoft.com/office/drawing/2014/main" id="{7B585637-DC36-4CD4-9869-8DA780763837}"/>
              </a:ext>
            </a:extLst>
          </p:cNvPr>
          <p:cNvSpPr/>
          <p:nvPr/>
        </p:nvSpPr>
        <p:spPr bwMode="gray">
          <a:xfrm rot="16200000">
            <a:off x="7347109" y="3055811"/>
            <a:ext cx="3516532" cy="1595286"/>
          </a:xfrm>
          <a:custGeom>
            <a:avLst/>
            <a:gdLst>
              <a:gd name="connsiteX0" fmla="*/ 0 w 2873830"/>
              <a:gd name="connsiteY0" fmla="*/ 682217 h 682217"/>
              <a:gd name="connsiteX1" fmla="*/ 527906 w 2873830"/>
              <a:gd name="connsiteY1" fmla="*/ 0 h 682217"/>
              <a:gd name="connsiteX2" fmla="*/ 2345924 w 2873830"/>
              <a:gd name="connsiteY2" fmla="*/ 0 h 682217"/>
              <a:gd name="connsiteX3" fmla="*/ 2873830 w 2873830"/>
              <a:gd name="connsiteY3" fmla="*/ 682217 h 682217"/>
              <a:gd name="connsiteX4" fmla="*/ 0 w 2873830"/>
              <a:gd name="connsiteY4" fmla="*/ 682217 h 682217"/>
              <a:gd name="connsiteX0" fmla="*/ 0 w 2510973"/>
              <a:gd name="connsiteY0" fmla="*/ 696731 h 696731"/>
              <a:gd name="connsiteX1" fmla="*/ 165049 w 2510973"/>
              <a:gd name="connsiteY1" fmla="*/ 0 h 696731"/>
              <a:gd name="connsiteX2" fmla="*/ 1983067 w 2510973"/>
              <a:gd name="connsiteY2" fmla="*/ 0 h 696731"/>
              <a:gd name="connsiteX3" fmla="*/ 2510973 w 2510973"/>
              <a:gd name="connsiteY3" fmla="*/ 682217 h 696731"/>
              <a:gd name="connsiteX4" fmla="*/ 0 w 2510973"/>
              <a:gd name="connsiteY4" fmla="*/ 696731 h 696731"/>
              <a:gd name="connsiteX0" fmla="*/ 0 w 8316687"/>
              <a:gd name="connsiteY0" fmla="*/ 696731 h 696731"/>
              <a:gd name="connsiteX1" fmla="*/ 165049 w 8316687"/>
              <a:gd name="connsiteY1" fmla="*/ 0 h 696731"/>
              <a:gd name="connsiteX2" fmla="*/ 1983067 w 8316687"/>
              <a:gd name="connsiteY2" fmla="*/ 0 h 696731"/>
              <a:gd name="connsiteX3" fmla="*/ 8316687 w 8316687"/>
              <a:gd name="connsiteY3" fmla="*/ 667703 h 696731"/>
              <a:gd name="connsiteX4" fmla="*/ 0 w 8316687"/>
              <a:gd name="connsiteY4" fmla="*/ 696731 h 696731"/>
              <a:gd name="connsiteX0" fmla="*/ 0 w 8333940"/>
              <a:gd name="connsiteY0" fmla="*/ 685229 h 685229"/>
              <a:gd name="connsiteX1" fmla="*/ 182302 w 8333940"/>
              <a:gd name="connsiteY1" fmla="*/ 0 h 685229"/>
              <a:gd name="connsiteX2" fmla="*/ 2000320 w 8333940"/>
              <a:gd name="connsiteY2" fmla="*/ 0 h 685229"/>
              <a:gd name="connsiteX3" fmla="*/ 8333940 w 8333940"/>
              <a:gd name="connsiteY3" fmla="*/ 667703 h 685229"/>
              <a:gd name="connsiteX4" fmla="*/ 0 w 8333940"/>
              <a:gd name="connsiteY4" fmla="*/ 685229 h 685229"/>
              <a:gd name="connsiteX0" fmla="*/ 0 w 8333940"/>
              <a:gd name="connsiteY0" fmla="*/ 673727 h 673727"/>
              <a:gd name="connsiteX1" fmla="*/ 182302 w 8333940"/>
              <a:gd name="connsiteY1" fmla="*/ 0 h 673727"/>
              <a:gd name="connsiteX2" fmla="*/ 2000320 w 8333940"/>
              <a:gd name="connsiteY2" fmla="*/ 0 h 673727"/>
              <a:gd name="connsiteX3" fmla="*/ 8333940 w 8333940"/>
              <a:gd name="connsiteY3" fmla="*/ 667703 h 673727"/>
              <a:gd name="connsiteX4" fmla="*/ 0 w 8333940"/>
              <a:gd name="connsiteY4" fmla="*/ 673727 h 673727"/>
              <a:gd name="connsiteX0" fmla="*/ 0 w 8333940"/>
              <a:gd name="connsiteY0" fmla="*/ 683250 h 683250"/>
              <a:gd name="connsiteX1" fmla="*/ 182302 w 8333940"/>
              <a:gd name="connsiteY1" fmla="*/ 9523 h 683250"/>
              <a:gd name="connsiteX2" fmla="*/ 2784397 w 8333940"/>
              <a:gd name="connsiteY2" fmla="*/ 0 h 683250"/>
              <a:gd name="connsiteX3" fmla="*/ 8333940 w 8333940"/>
              <a:gd name="connsiteY3" fmla="*/ 677226 h 683250"/>
              <a:gd name="connsiteX4" fmla="*/ 0 w 8333940"/>
              <a:gd name="connsiteY4" fmla="*/ 683250 h 683250"/>
              <a:gd name="connsiteX0" fmla="*/ 0 w 8306903"/>
              <a:gd name="connsiteY0" fmla="*/ 683250 h 2029776"/>
              <a:gd name="connsiteX1" fmla="*/ 182302 w 8306903"/>
              <a:gd name="connsiteY1" fmla="*/ 9523 h 2029776"/>
              <a:gd name="connsiteX2" fmla="*/ 2784397 w 8306903"/>
              <a:gd name="connsiteY2" fmla="*/ 0 h 2029776"/>
              <a:gd name="connsiteX3" fmla="*/ 8306903 w 8306903"/>
              <a:gd name="connsiteY3" fmla="*/ 2029776 h 2029776"/>
              <a:gd name="connsiteX4" fmla="*/ 0 w 8306903"/>
              <a:gd name="connsiteY4" fmla="*/ 683250 h 2029776"/>
              <a:gd name="connsiteX0" fmla="*/ -1 w 13254743"/>
              <a:gd name="connsiteY0" fmla="*/ 2016752 h 2029776"/>
              <a:gd name="connsiteX1" fmla="*/ 5130142 w 13254743"/>
              <a:gd name="connsiteY1" fmla="*/ 9523 h 2029776"/>
              <a:gd name="connsiteX2" fmla="*/ 7732237 w 13254743"/>
              <a:gd name="connsiteY2" fmla="*/ 0 h 2029776"/>
              <a:gd name="connsiteX3" fmla="*/ 13254743 w 13254743"/>
              <a:gd name="connsiteY3" fmla="*/ 2029776 h 2029776"/>
              <a:gd name="connsiteX4" fmla="*/ -1 w 13254743"/>
              <a:gd name="connsiteY4" fmla="*/ 2016752 h 2029776"/>
              <a:gd name="connsiteX0" fmla="*/ -1 w 13254743"/>
              <a:gd name="connsiteY0" fmla="*/ 2016752 h 2029776"/>
              <a:gd name="connsiteX1" fmla="*/ 5184216 w 13254743"/>
              <a:gd name="connsiteY1" fmla="*/ 9523 h 2029776"/>
              <a:gd name="connsiteX2" fmla="*/ 7732237 w 13254743"/>
              <a:gd name="connsiteY2" fmla="*/ 0 h 2029776"/>
              <a:gd name="connsiteX3" fmla="*/ 13254743 w 13254743"/>
              <a:gd name="connsiteY3" fmla="*/ 2029776 h 2029776"/>
              <a:gd name="connsiteX4" fmla="*/ -1 w 13254743"/>
              <a:gd name="connsiteY4" fmla="*/ 2016752 h 2029776"/>
              <a:gd name="connsiteX0" fmla="*/ -1 w 13254743"/>
              <a:gd name="connsiteY0" fmla="*/ 2016754 h 2029778"/>
              <a:gd name="connsiteX1" fmla="*/ 5382200 w 13254743"/>
              <a:gd name="connsiteY1" fmla="*/ 0 h 2029778"/>
              <a:gd name="connsiteX2" fmla="*/ 7732237 w 13254743"/>
              <a:gd name="connsiteY2" fmla="*/ 2 h 2029778"/>
              <a:gd name="connsiteX3" fmla="*/ 13254743 w 13254743"/>
              <a:gd name="connsiteY3" fmla="*/ 2029778 h 2029778"/>
              <a:gd name="connsiteX4" fmla="*/ -1 w 13254743"/>
              <a:gd name="connsiteY4" fmla="*/ 2016754 h 2029778"/>
              <a:gd name="connsiteX0" fmla="*/ -1 w 13254743"/>
              <a:gd name="connsiteY0" fmla="*/ 2016754 h 2029778"/>
              <a:gd name="connsiteX1" fmla="*/ 5382193 w 13254743"/>
              <a:gd name="connsiteY1" fmla="*/ 0 h 2029778"/>
              <a:gd name="connsiteX2" fmla="*/ 7732237 w 13254743"/>
              <a:gd name="connsiteY2" fmla="*/ 2 h 2029778"/>
              <a:gd name="connsiteX3" fmla="*/ 13254743 w 13254743"/>
              <a:gd name="connsiteY3" fmla="*/ 2029778 h 2029778"/>
              <a:gd name="connsiteX4" fmla="*/ -1 w 13254743"/>
              <a:gd name="connsiteY4" fmla="*/ 2016754 h 2029778"/>
              <a:gd name="connsiteX0" fmla="*/ -1 w 13254743"/>
              <a:gd name="connsiteY0" fmla="*/ 2016754 h 2029778"/>
              <a:gd name="connsiteX1" fmla="*/ 5382193 w 13254743"/>
              <a:gd name="connsiteY1" fmla="*/ 0 h 2029778"/>
              <a:gd name="connsiteX2" fmla="*/ 7781727 w 13254743"/>
              <a:gd name="connsiteY2" fmla="*/ 4 h 2029778"/>
              <a:gd name="connsiteX3" fmla="*/ 13254743 w 13254743"/>
              <a:gd name="connsiteY3" fmla="*/ 2029778 h 2029778"/>
              <a:gd name="connsiteX4" fmla="*/ -1 w 13254743"/>
              <a:gd name="connsiteY4" fmla="*/ 2016754 h 2029778"/>
              <a:gd name="connsiteX0" fmla="*/ -1 w 13254743"/>
              <a:gd name="connsiteY0" fmla="*/ 2020039 h 2033063"/>
              <a:gd name="connsiteX1" fmla="*/ 5435639 w 13254743"/>
              <a:gd name="connsiteY1" fmla="*/ 0 h 2033063"/>
              <a:gd name="connsiteX2" fmla="*/ 7781727 w 13254743"/>
              <a:gd name="connsiteY2" fmla="*/ 3289 h 2033063"/>
              <a:gd name="connsiteX3" fmla="*/ 13254743 w 13254743"/>
              <a:gd name="connsiteY3" fmla="*/ 2033063 h 2033063"/>
              <a:gd name="connsiteX4" fmla="*/ -1 w 13254743"/>
              <a:gd name="connsiteY4" fmla="*/ 2020039 h 2033063"/>
              <a:gd name="connsiteX0" fmla="*/ -1 w 13254743"/>
              <a:gd name="connsiteY0" fmla="*/ 2016750 h 2029774"/>
              <a:gd name="connsiteX1" fmla="*/ 5417815 w 13254743"/>
              <a:gd name="connsiteY1" fmla="*/ 16420 h 2029774"/>
              <a:gd name="connsiteX2" fmla="*/ 7781727 w 13254743"/>
              <a:gd name="connsiteY2" fmla="*/ 0 h 2029774"/>
              <a:gd name="connsiteX3" fmla="*/ 13254743 w 13254743"/>
              <a:gd name="connsiteY3" fmla="*/ 2029774 h 2029774"/>
              <a:gd name="connsiteX4" fmla="*/ -1 w 13254743"/>
              <a:gd name="connsiteY4" fmla="*/ 2016750 h 2029774"/>
              <a:gd name="connsiteX0" fmla="*/ -1 w 13254743"/>
              <a:gd name="connsiteY0" fmla="*/ 2003609 h 2016633"/>
              <a:gd name="connsiteX1" fmla="*/ 5417815 w 13254743"/>
              <a:gd name="connsiteY1" fmla="*/ 3279 h 2016633"/>
              <a:gd name="connsiteX2" fmla="*/ 7826267 w 13254743"/>
              <a:gd name="connsiteY2" fmla="*/ 0 h 2016633"/>
              <a:gd name="connsiteX3" fmla="*/ 13254743 w 13254743"/>
              <a:gd name="connsiteY3" fmla="*/ 2016633 h 2016633"/>
              <a:gd name="connsiteX4" fmla="*/ -1 w 13254743"/>
              <a:gd name="connsiteY4" fmla="*/ 2003609 h 2016633"/>
              <a:gd name="connsiteX0" fmla="*/ -1 w 13254743"/>
              <a:gd name="connsiteY0" fmla="*/ 2000330 h 2013354"/>
              <a:gd name="connsiteX1" fmla="*/ 5417815 w 13254743"/>
              <a:gd name="connsiteY1" fmla="*/ 0 h 2013354"/>
              <a:gd name="connsiteX2" fmla="*/ 7835179 w 13254743"/>
              <a:gd name="connsiteY2" fmla="*/ 6 h 2013354"/>
              <a:gd name="connsiteX3" fmla="*/ 13254743 w 13254743"/>
              <a:gd name="connsiteY3" fmla="*/ 2013354 h 2013354"/>
              <a:gd name="connsiteX4" fmla="*/ -1 w 13254743"/>
              <a:gd name="connsiteY4" fmla="*/ 2000330 h 2013354"/>
              <a:gd name="connsiteX0" fmla="*/ -1 w 13254743"/>
              <a:gd name="connsiteY0" fmla="*/ 2000330 h 2013354"/>
              <a:gd name="connsiteX1" fmla="*/ 5417815 w 13254743"/>
              <a:gd name="connsiteY1" fmla="*/ 0 h 2013354"/>
              <a:gd name="connsiteX2" fmla="*/ 7913692 w 13254743"/>
              <a:gd name="connsiteY2" fmla="*/ 4876 h 2013354"/>
              <a:gd name="connsiteX3" fmla="*/ 13254743 w 13254743"/>
              <a:gd name="connsiteY3" fmla="*/ 2013354 h 2013354"/>
              <a:gd name="connsiteX4" fmla="*/ -1 w 13254743"/>
              <a:gd name="connsiteY4" fmla="*/ 2000330 h 2013354"/>
              <a:gd name="connsiteX0" fmla="*/ -1 w 13254743"/>
              <a:gd name="connsiteY0" fmla="*/ 1995454 h 2008478"/>
              <a:gd name="connsiteX1" fmla="*/ 5315735 w 13254743"/>
              <a:gd name="connsiteY1" fmla="*/ 2425 h 2008478"/>
              <a:gd name="connsiteX2" fmla="*/ 7913692 w 13254743"/>
              <a:gd name="connsiteY2" fmla="*/ 0 h 2008478"/>
              <a:gd name="connsiteX3" fmla="*/ 13254743 w 13254743"/>
              <a:gd name="connsiteY3" fmla="*/ 2008478 h 2008478"/>
              <a:gd name="connsiteX4" fmla="*/ -1 w 13254743"/>
              <a:gd name="connsiteY4" fmla="*/ 1995454 h 200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54743" h="2008478">
                <a:moveTo>
                  <a:pt x="-1" y="1995454"/>
                </a:moveTo>
                <a:lnTo>
                  <a:pt x="5315735" y="2425"/>
                </a:lnTo>
                <a:lnTo>
                  <a:pt x="7913692" y="0"/>
                </a:lnTo>
                <a:lnTo>
                  <a:pt x="13254743" y="2008478"/>
                </a:lnTo>
                <a:lnTo>
                  <a:pt x="-1" y="1995454"/>
                </a:lnTo>
                <a:close/>
              </a:path>
            </a:pathLst>
          </a:custGeom>
          <a:gradFill flip="none" rotWithShape="1">
            <a:gsLst>
              <a:gs pos="100000">
                <a:srgbClr val="8C8C8C">
                  <a:tint val="66000"/>
                  <a:satMod val="160000"/>
                  <a:alpha val="29000"/>
                </a:srgbClr>
              </a:gs>
              <a:gs pos="28000">
                <a:srgbClr val="8C8C8C">
                  <a:tint val="44500"/>
                  <a:satMod val="160000"/>
                </a:srgbClr>
              </a:gs>
              <a:gs pos="100000">
                <a:srgbClr val="8C8C8C">
                  <a:tint val="23500"/>
                  <a:satMod val="160000"/>
                </a:srgbClr>
              </a:gs>
            </a:gsLst>
            <a:lin ang="540000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vert="eaVert" wrap="square" lIns="88877" tIns="88877" rIns="88877" bIns="88877" rtlCol="0" anchor="ctr"/>
          <a:lstStyle/>
          <a:p>
            <a:pPr algn="ctr" defTabSz="914103">
              <a:spcBef>
                <a:spcPts val="400"/>
              </a:spcBef>
              <a:defRPr/>
            </a:pPr>
            <a:endParaRPr lang="en-US" sz="1200" kern="0" dirty="0">
              <a:solidFill>
                <a:prstClr val="white"/>
              </a:solidFill>
              <a:latin typeface="Verdana"/>
              <a:cs typeface="Arial"/>
              <a:sym typeface="Arial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46A091C-B46E-4B8C-8A6D-91AAD89F3A91}"/>
              </a:ext>
            </a:extLst>
          </p:cNvPr>
          <p:cNvSpPr txBox="1"/>
          <p:nvPr/>
        </p:nvSpPr>
        <p:spPr>
          <a:xfrm>
            <a:off x="6096000" y="3409249"/>
            <a:ext cx="6182620" cy="584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/>
            <a:r>
              <a:rPr lang="es-ES" sz="3199" b="1" dirty="0" err="1">
                <a:solidFill>
                  <a:srgbClr val="3F3F3F"/>
                </a:solidFill>
                <a:latin typeface="Corbel" panose="020B0503020204020204" pitchFamily="34" charset="0"/>
              </a:rPr>
              <a:t>Go</a:t>
            </a:r>
            <a:r>
              <a:rPr lang="es-ES" sz="3199" b="1" dirty="0">
                <a:solidFill>
                  <a:srgbClr val="3F3F3F"/>
                </a:solidFill>
                <a:latin typeface="Corbel" panose="020B0503020204020204" pitchFamily="34" charset="0"/>
              </a:rPr>
              <a:t> </a:t>
            </a:r>
          </a:p>
        </p:txBody>
      </p:sp>
      <p:sp>
        <p:nvSpPr>
          <p:cNvPr id="23" name="Speech Bubble: Rectangle with Corners Rounded 4">
            <a:extLst>
              <a:ext uri="{FF2B5EF4-FFF2-40B4-BE49-F238E27FC236}">
                <a16:creationId xmlns:a16="http://schemas.microsoft.com/office/drawing/2014/main" id="{864B0BD4-EE7D-46DD-9FA4-61156BDF1785}"/>
              </a:ext>
            </a:extLst>
          </p:cNvPr>
          <p:cNvSpPr/>
          <p:nvPr/>
        </p:nvSpPr>
        <p:spPr>
          <a:xfrm>
            <a:off x="8057400" y="988619"/>
            <a:ext cx="3726379" cy="970840"/>
          </a:xfrm>
          <a:prstGeom prst="wedgeRoundRectCallout">
            <a:avLst>
              <a:gd name="adj1" fmla="val 7000"/>
              <a:gd name="adj2" fmla="val 62500"/>
              <a:gd name="adj3" fmla="val 16667"/>
            </a:avLst>
          </a:prstGeom>
          <a:solidFill>
            <a:schemeClr val="accent2"/>
          </a:solidFill>
          <a:ln w="28575">
            <a:solidFill>
              <a:srgbClr val="39A4D9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/>
            <a:r>
              <a:rPr lang="es-MX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PoC exitoso sigue criterios de éxito, metodología y plan de implementación con el fin de identificar riesgos y mitigarlos </a:t>
            </a:r>
          </a:p>
        </p:txBody>
      </p:sp>
    </p:spTree>
    <p:extLst>
      <p:ext uri="{BB962C8B-B14F-4D97-AF65-F5344CB8AC3E}">
        <p14:creationId xmlns:p14="http://schemas.microsoft.com/office/powerpoint/2010/main" val="1644633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 bwMode="gray">
          <a:xfrm>
            <a:off x="1588" y="1493370"/>
            <a:ext cx="3231068" cy="33481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Alineación con la estructura organizacional</a:t>
            </a:r>
          </a:p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Apoya en selección y asignación de talento necesario para  ejecución del PoC</a:t>
            </a:r>
          </a:p>
          <a:p>
            <a:pPr defTabSz="914103">
              <a:lnSpc>
                <a:spcPct val="106000"/>
              </a:lnSpc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Propone perfiles para los equipos de trabajo colaborativos</a:t>
            </a: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Evalúa estructuras para soportar la operación</a:t>
            </a: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Seguimiento PoC </a:t>
            </a:r>
          </a:p>
          <a:p>
            <a:pPr defTabSz="914103">
              <a:lnSpc>
                <a:spcPct val="106000"/>
              </a:lnSpc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Presentación resultados PoC</a:t>
            </a:r>
          </a:p>
        </p:txBody>
      </p:sp>
      <p:sp>
        <p:nvSpPr>
          <p:cNvPr id="24" name="Rectangle 23"/>
          <p:cNvSpPr/>
          <p:nvPr/>
        </p:nvSpPr>
        <p:spPr bwMode="gray">
          <a:xfrm>
            <a:off x="3292702" y="1610019"/>
            <a:ext cx="3263648" cy="33481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Entendimiento y comunicación del PoC a personal clave de la planta</a:t>
            </a:r>
          </a:p>
          <a:p>
            <a:pPr algn="ctr" defTabSz="914103">
              <a:lnSpc>
                <a:spcPct val="106000"/>
              </a:lnSpc>
              <a:defRPr/>
            </a:pPr>
            <a:endParaRPr lang="es-MX" sz="13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Comunica y alinea a los responsables en el </a:t>
            </a:r>
            <a:r>
              <a:rPr lang="es-MX" sz="1300" dirty="0" err="1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Poc</a:t>
            </a: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Interviene en el PoC para dar cumplimiento a las expectativas</a:t>
            </a: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defTabSz="914103">
              <a:lnSpc>
                <a:spcPct val="106000"/>
              </a:lnSpc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Asegura presupuesto y facilita ejecución</a:t>
            </a: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3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Valida el PoC para llevarlo a pilotaje</a:t>
            </a: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2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gray">
          <a:xfrm>
            <a:off x="6541343" y="1610019"/>
            <a:ext cx="2858771" cy="33481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algn="ctr"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4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algn="ctr"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Alineación con la arquitectura tecnológica de la organización</a:t>
            </a:r>
          </a:p>
          <a:p>
            <a:pPr algn="ctr" defTabSz="914103">
              <a:lnSpc>
                <a:spcPct val="106000"/>
              </a:lnSpc>
              <a:defRPr/>
            </a:pPr>
            <a:endParaRPr lang="es-MX" sz="12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2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Facilita la implementación de iniciativas de </a:t>
            </a:r>
            <a:r>
              <a:rPr lang="es-MX" sz="1200" dirty="0" err="1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Transf</a:t>
            </a:r>
            <a:r>
              <a:rPr lang="es-MX" sz="12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 Digital del grupo ofreciendo soluciones integrales de negocio</a:t>
            </a: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2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2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Se asegura de mantener una visión integral de métodos y tecnologías a nivel Grupo, así como identificar sinergias del Grupo</a:t>
            </a:r>
          </a:p>
        </p:txBody>
      </p:sp>
      <p:sp>
        <p:nvSpPr>
          <p:cNvPr id="26" name="Rectangle 25"/>
          <p:cNvSpPr/>
          <p:nvPr/>
        </p:nvSpPr>
        <p:spPr bwMode="gray">
          <a:xfrm>
            <a:off x="9361500" y="1635201"/>
            <a:ext cx="2858867" cy="334811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877" tIns="88877" rIns="88877" bIns="88877" rtlCol="0" anchor="t"/>
          <a:lstStyle/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endParaRPr lang="es-MX" sz="1051" b="1" dirty="0">
              <a:solidFill>
                <a:prstClr val="white">
                  <a:lumMod val="50000"/>
                </a:prstClr>
              </a:solidFill>
              <a:latin typeface="Verdana"/>
            </a:endParaRPr>
          </a:p>
          <a:p>
            <a:pPr algn="ctr" defTabSz="914103">
              <a:lnSpc>
                <a:spcPct val="106000"/>
              </a:lnSpc>
              <a:defRPr/>
            </a:pPr>
            <a:r>
              <a:rPr lang="es-MX" sz="1400" b="1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Conocimiento técnico y muy especializado para realizar el PoC</a:t>
            </a:r>
          </a:p>
          <a:p>
            <a:pPr marL="285664" indent="-285664" algn="ctr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300" b="1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2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Provee conocimiento especializado en la funcionalidad del PoC – no hay recurso interno</a:t>
            </a: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2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2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Genera recomendaciones técnicas</a:t>
            </a:r>
          </a:p>
          <a:p>
            <a:pPr marL="171395" indent="-171395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endParaRPr lang="es-MX" sz="1200" dirty="0">
              <a:solidFill>
                <a:prstClr val="white">
                  <a:lumMod val="50000"/>
                </a:prstClr>
              </a:solidFill>
              <a:latin typeface="Corbel" panose="020B0503020204020204" pitchFamily="34" charset="0"/>
            </a:endParaRPr>
          </a:p>
          <a:p>
            <a:pPr marL="285664" indent="-285664" defTabSz="914103">
              <a:lnSpc>
                <a:spcPct val="106000"/>
              </a:lnSpc>
              <a:buFont typeface="Arial" panose="020B0604020202020204" pitchFamily="34" charset="0"/>
              <a:buChar char="•"/>
              <a:defRPr/>
            </a:pPr>
            <a:r>
              <a:rPr lang="es-MX" sz="1200" dirty="0">
                <a:solidFill>
                  <a:prstClr val="white">
                    <a:lumMod val="50000"/>
                  </a:prstClr>
                </a:solidFill>
                <a:latin typeface="Corbel" panose="020B0503020204020204" pitchFamily="34" charset="0"/>
              </a:rPr>
              <a:t>Evalúa el impacto esperado de la funcionalidad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B7F1BF4-E041-0B8A-5004-3ACD1AB4809E}"/>
              </a:ext>
            </a:extLst>
          </p:cNvPr>
          <p:cNvCxnSpPr>
            <a:cxnSpLocks/>
          </p:cNvCxnSpPr>
          <p:nvPr/>
        </p:nvCxnSpPr>
        <p:spPr>
          <a:xfrm>
            <a:off x="3209345" y="1367448"/>
            <a:ext cx="0" cy="46553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Google Shape;82;p14">
            <a:extLst>
              <a:ext uri="{FF2B5EF4-FFF2-40B4-BE49-F238E27FC236}">
                <a16:creationId xmlns:a16="http://schemas.microsoft.com/office/drawing/2014/main" id="{0D02F473-19A6-4428-A489-F1EC956984D2}"/>
              </a:ext>
            </a:extLst>
          </p:cNvPr>
          <p:cNvSpPr/>
          <p:nvPr/>
        </p:nvSpPr>
        <p:spPr>
          <a:xfrm>
            <a:off x="375621" y="1173884"/>
            <a:ext cx="2707021" cy="435567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" sz="1400" b="1" dirty="0">
                <a:solidFill>
                  <a:prstClr val="white"/>
                </a:solidFill>
                <a:latin typeface="Calibri"/>
                <a:ea typeface="Helvetica Neue"/>
                <a:cs typeface="Helvetica Neue"/>
                <a:sym typeface="Helvetica Neue"/>
              </a:rPr>
              <a:t> DS</a:t>
            </a:r>
            <a:endParaRPr sz="1400" b="1" dirty="0">
              <a:solidFill>
                <a:prstClr val="white"/>
              </a:solidFill>
              <a:latin typeface="Calibri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Google Shape;82;p14">
            <a:extLst>
              <a:ext uri="{FF2B5EF4-FFF2-40B4-BE49-F238E27FC236}">
                <a16:creationId xmlns:a16="http://schemas.microsoft.com/office/drawing/2014/main" id="{AF058C29-BCE0-4341-81A1-096D80FE5C98}"/>
              </a:ext>
            </a:extLst>
          </p:cNvPr>
          <p:cNvSpPr/>
          <p:nvPr/>
        </p:nvSpPr>
        <p:spPr>
          <a:xfrm>
            <a:off x="3428096" y="1160617"/>
            <a:ext cx="2996782" cy="448835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" sz="1400" b="1" dirty="0">
                <a:solidFill>
                  <a:prstClr val="white"/>
                </a:solidFill>
                <a:latin typeface="Calibri"/>
                <a:ea typeface="Helvetica Neue"/>
                <a:cs typeface="Helvetica Neue"/>
                <a:sym typeface="Helvetica Neue"/>
              </a:rPr>
              <a:t>Dirección / Gerencias Planta</a:t>
            </a:r>
            <a:endParaRPr sz="1400" b="1" dirty="0">
              <a:solidFill>
                <a:prstClr val="white"/>
              </a:solidFill>
              <a:latin typeface="Calibri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82;p14">
            <a:extLst>
              <a:ext uri="{FF2B5EF4-FFF2-40B4-BE49-F238E27FC236}">
                <a16:creationId xmlns:a16="http://schemas.microsoft.com/office/drawing/2014/main" id="{E7545693-E7DF-47E3-AA52-CD8E36174CC9}"/>
              </a:ext>
            </a:extLst>
          </p:cNvPr>
          <p:cNvSpPr/>
          <p:nvPr/>
        </p:nvSpPr>
        <p:spPr>
          <a:xfrm>
            <a:off x="6605415" y="1174345"/>
            <a:ext cx="2707021" cy="428838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-ES" sz="1400" b="1" dirty="0">
                <a:solidFill>
                  <a:prstClr val="white"/>
                </a:solidFill>
                <a:latin typeface="Calibri"/>
                <a:ea typeface="Helvetica Neue"/>
                <a:cs typeface="Helvetica Neue"/>
                <a:sym typeface="Helvetica Neue"/>
              </a:rPr>
              <a:t>Equipo Interno </a:t>
            </a:r>
          </a:p>
        </p:txBody>
      </p:sp>
      <p:sp>
        <p:nvSpPr>
          <p:cNvPr id="36" name="Google Shape;82;p14">
            <a:extLst>
              <a:ext uri="{FF2B5EF4-FFF2-40B4-BE49-F238E27FC236}">
                <a16:creationId xmlns:a16="http://schemas.microsoft.com/office/drawing/2014/main" id="{76E92D21-79AB-4B70-9E36-F9EA17CC2AD3}"/>
              </a:ext>
            </a:extLst>
          </p:cNvPr>
          <p:cNvSpPr/>
          <p:nvPr/>
        </p:nvSpPr>
        <p:spPr>
          <a:xfrm>
            <a:off x="9657171" y="1149165"/>
            <a:ext cx="2403964" cy="448835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" sz="1400" b="1" dirty="0">
                <a:solidFill>
                  <a:prstClr val="white"/>
                </a:solidFill>
                <a:latin typeface="Calibri"/>
                <a:ea typeface="Helvetica Neue"/>
                <a:cs typeface="Helvetica Neue"/>
                <a:sym typeface="Helvetica Neue"/>
              </a:rPr>
              <a:t>Colaboración Externa</a:t>
            </a:r>
            <a:endParaRPr sz="1400" b="1" dirty="0">
              <a:solidFill>
                <a:prstClr val="white"/>
              </a:solidFill>
              <a:latin typeface="Calibri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26E4952-FEC2-436B-83E1-D1A627676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97" y="1814645"/>
            <a:ext cx="848434" cy="8484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7F94142-D818-4414-B3CC-78DE003D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471" y="1763165"/>
            <a:ext cx="862207" cy="8622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EEDB72C-D86C-4316-992A-43C3DD016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706" y="1785807"/>
            <a:ext cx="848432" cy="8484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365D00F3-EF39-4762-9BFB-3589DD9E5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246" y="1781437"/>
            <a:ext cx="835714" cy="8571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ítulo 1">
            <a:extLst>
              <a:ext uri="{FF2B5EF4-FFF2-40B4-BE49-F238E27FC236}">
                <a16:creationId xmlns:a16="http://schemas.microsoft.com/office/drawing/2014/main" id="{04929188-6721-48B7-AEB3-CA5E8DE7FD4A}"/>
              </a:ext>
            </a:extLst>
          </p:cNvPr>
          <p:cNvSpPr txBox="1">
            <a:spLocks/>
          </p:cNvSpPr>
          <p:nvPr/>
        </p:nvSpPr>
        <p:spPr>
          <a:xfrm>
            <a:off x="187110" y="337497"/>
            <a:ext cx="11408158" cy="663377"/>
          </a:xfrm>
          <a:prstGeom prst="rect">
            <a:avLst/>
          </a:prstGeom>
        </p:spPr>
        <p:txBody>
          <a:bodyPr vert="horz" lIns="91416" tIns="45708" rIns="91416" bIns="45708" rtlCol="0" anchor="ctr">
            <a:normAutofit/>
          </a:bodyPr>
          <a:lstStyle>
            <a:lvl1pPr>
              <a:spcBef>
                <a:spcPct val="0"/>
              </a:spcBef>
              <a:buNone/>
              <a:defRPr lang="es-ES" sz="2399" b="1" dirty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defTabSz="914126"/>
            <a:r>
              <a:rPr lang="es-ES" sz="2398" dirty="0">
                <a:solidFill>
                  <a:srgbClr val="EEECE1">
                    <a:lumMod val="25000"/>
                  </a:srgbClr>
                </a:solidFill>
                <a:latin typeface="Calibri"/>
              </a:rPr>
              <a:t>Responsabilidades clave del PoC de  funciones participantes</a:t>
            </a:r>
            <a:endParaRPr lang="es-MX" sz="2398" dirty="0">
              <a:solidFill>
                <a:srgbClr val="EEECE1">
                  <a:lumMod val="25000"/>
                </a:srgbClr>
              </a:solidFill>
              <a:latin typeface="Calibri"/>
            </a:endParaRPr>
          </a:p>
        </p:txBody>
      </p:sp>
      <p:sp>
        <p:nvSpPr>
          <p:cNvPr id="29" name="Rectangle: Rounded Corners 24">
            <a:extLst>
              <a:ext uri="{FF2B5EF4-FFF2-40B4-BE49-F238E27FC236}">
                <a16:creationId xmlns:a16="http://schemas.microsoft.com/office/drawing/2014/main" id="{EB779EBE-390E-48EB-AD87-A667D8208821}"/>
              </a:ext>
            </a:extLst>
          </p:cNvPr>
          <p:cNvSpPr>
            <a:spLocks/>
          </p:cNvSpPr>
          <p:nvPr/>
        </p:nvSpPr>
        <p:spPr>
          <a:xfrm>
            <a:off x="5687785" y="6228380"/>
            <a:ext cx="6373349" cy="416599"/>
          </a:xfrm>
          <a:prstGeom prst="roundRect">
            <a:avLst>
              <a:gd name="adj" fmla="val 7000"/>
            </a:avLst>
          </a:prstGeom>
          <a:solidFill>
            <a:srgbClr val="BFBFBF"/>
          </a:solidFill>
          <a:ln w="28575">
            <a:solidFill>
              <a:srgbClr val="BFBFBF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/>
            <a:r>
              <a:rPr lang="es-MX" sz="1600" b="1" dirty="0">
                <a:solidFill>
                  <a:srgbClr val="3F3F3F"/>
                </a:solidFill>
                <a:latin typeface="Corbel" panose="020B0503020204020204" pitchFamily="34" charset="0"/>
              </a:rPr>
              <a:t>Están presentes y dan soporte en todo el PoC de la iniciativa, para asegurar la plena cooperación y entendimiento.</a:t>
            </a:r>
          </a:p>
        </p:txBody>
      </p:sp>
      <p:sp>
        <p:nvSpPr>
          <p:cNvPr id="35" name="Google Shape;82;p14">
            <a:extLst>
              <a:ext uri="{FF2B5EF4-FFF2-40B4-BE49-F238E27FC236}">
                <a16:creationId xmlns:a16="http://schemas.microsoft.com/office/drawing/2014/main" id="{1532E0B6-3C08-4108-9DC0-5278E0F22AFC}"/>
              </a:ext>
            </a:extLst>
          </p:cNvPr>
          <p:cNvSpPr/>
          <p:nvPr/>
        </p:nvSpPr>
        <p:spPr>
          <a:xfrm>
            <a:off x="3443776" y="4646753"/>
            <a:ext cx="2981102" cy="445129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121868" rIns="121868" bIns="121868" anchor="ctr" anchorCtr="0">
            <a:noAutofit/>
          </a:bodyPr>
          <a:lstStyle/>
          <a:p>
            <a:pPr algn="ctr" defTabSz="914126"/>
            <a:r>
              <a:rPr lang="es" sz="1400" b="1" dirty="0">
                <a:solidFill>
                  <a:prstClr val="white"/>
                </a:solidFill>
                <a:latin typeface="Calibri"/>
                <a:ea typeface="Helvetica Neue"/>
                <a:cs typeface="Helvetica Neue"/>
                <a:sym typeface="Helvetica Neue"/>
              </a:rPr>
              <a:t> Operaciones</a:t>
            </a:r>
            <a:endParaRPr sz="1400" b="1" dirty="0">
              <a:solidFill>
                <a:prstClr val="white"/>
              </a:solidFill>
              <a:latin typeface="Calibri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4CF5331-E81A-4590-82E4-39DD11293A89}"/>
              </a:ext>
            </a:extLst>
          </p:cNvPr>
          <p:cNvCxnSpPr>
            <a:cxnSpLocks/>
          </p:cNvCxnSpPr>
          <p:nvPr/>
        </p:nvCxnSpPr>
        <p:spPr>
          <a:xfrm>
            <a:off x="6524996" y="1476274"/>
            <a:ext cx="0" cy="46553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4F87091-59A4-4F2B-BB9D-88272BCD890B}"/>
              </a:ext>
            </a:extLst>
          </p:cNvPr>
          <p:cNvSpPr txBox="1"/>
          <p:nvPr/>
        </p:nvSpPr>
        <p:spPr>
          <a:xfrm>
            <a:off x="9312435" y="1207049"/>
            <a:ext cx="306414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s-ES" sz="1799" dirty="0" err="1">
                <a:solidFill>
                  <a:prstClr val="black"/>
                </a:solidFill>
                <a:latin typeface="Calibri"/>
              </a:rPr>
              <a:t>ó</a:t>
            </a:r>
            <a:endParaRPr lang="es-MX" sz="1799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B7A527B-FBAA-4CC7-A160-B1029F0A5D8C}"/>
              </a:ext>
            </a:extLst>
          </p:cNvPr>
          <p:cNvSpPr txBox="1"/>
          <p:nvPr/>
        </p:nvSpPr>
        <p:spPr>
          <a:xfrm>
            <a:off x="10013497" y="5546803"/>
            <a:ext cx="1770282" cy="57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s-ES" sz="1050" i="1" dirty="0">
                <a:solidFill>
                  <a:prstClr val="white">
                    <a:lumMod val="50000"/>
                  </a:prstClr>
                </a:solidFill>
                <a:latin typeface="Calibri"/>
                <a:ea typeface="Helvetica Neue"/>
                <a:cs typeface="Helvetica Neue"/>
                <a:sym typeface="Helvetica Neue"/>
              </a:rPr>
              <a:t>Centros de Investigación</a:t>
            </a:r>
          </a:p>
          <a:p>
            <a:pPr algn="ctr" defTabSz="914126">
              <a:defRPr/>
            </a:pPr>
            <a:r>
              <a:rPr lang="es-ES" sz="1050" i="1" dirty="0">
                <a:solidFill>
                  <a:prstClr val="white">
                    <a:lumMod val="50000"/>
                  </a:prstClr>
                </a:solidFill>
                <a:latin typeface="Calibri"/>
                <a:ea typeface="Helvetica Neue"/>
                <a:cs typeface="Helvetica Neue"/>
                <a:sym typeface="Helvetica Neue"/>
              </a:rPr>
              <a:t>Universidades </a:t>
            </a:r>
          </a:p>
          <a:p>
            <a:pPr algn="ctr" defTabSz="914126">
              <a:defRPr/>
            </a:pPr>
            <a:r>
              <a:rPr lang="es-ES" sz="1050" i="1" dirty="0">
                <a:solidFill>
                  <a:prstClr val="white">
                    <a:lumMod val="50000"/>
                  </a:prstClr>
                </a:solidFill>
                <a:latin typeface="Calibri"/>
                <a:ea typeface="Helvetica Neue"/>
                <a:cs typeface="Helvetica Neue"/>
                <a:sym typeface="Helvetica Neue"/>
              </a:rPr>
              <a:t>Consultoras </a:t>
            </a:r>
          </a:p>
        </p:txBody>
      </p:sp>
    </p:spTree>
    <p:extLst>
      <p:ext uri="{BB962C8B-B14F-4D97-AF65-F5344CB8AC3E}">
        <p14:creationId xmlns:p14="http://schemas.microsoft.com/office/powerpoint/2010/main" val="200316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3"/>
          <p:cNvSpPr txBox="1"/>
          <p:nvPr/>
        </p:nvSpPr>
        <p:spPr>
          <a:xfrm>
            <a:off x="7170622" y="2036385"/>
            <a:ext cx="4272787" cy="93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rgbClr val="000000"/>
              </a:buClr>
            </a:pPr>
            <a:r>
              <a:rPr lang="it-IT" sz="5500" b="1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 GRACIAS !</a:t>
            </a:r>
            <a:endParaRPr sz="5500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4094</TotalTime>
  <Words>701</Words>
  <Application>Microsoft Office PowerPoint</Application>
  <PresentationFormat>Panorámica</PresentationFormat>
  <Paragraphs>229</Paragraphs>
  <Slides>10</Slides>
  <Notes>7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3" baseType="lpstr">
      <vt:lpstr>HGGothicE</vt:lpstr>
      <vt:lpstr>Arial</vt:lpstr>
      <vt:lpstr>Arial Black</vt:lpstr>
      <vt:lpstr>Calibri</vt:lpstr>
      <vt:lpstr>Calibri Light</vt:lpstr>
      <vt:lpstr>Corbel</vt:lpstr>
      <vt:lpstr>Helvetica</vt:lpstr>
      <vt:lpstr>Noto Sans Symbols</vt:lpstr>
      <vt:lpstr>Roboto Light</vt:lpstr>
      <vt:lpstr>Verdana</vt:lpstr>
      <vt:lpstr>Tema de Office</vt:lpstr>
      <vt:lpstr>2_Tema de Office</vt:lpstr>
      <vt:lpstr>think-cell Slide</vt:lpstr>
      <vt:lpstr>Presentación de PowerPoint</vt:lpstr>
      <vt:lpstr>Presentación de PowerPoint</vt:lpstr>
      <vt:lpstr>Presentación de PowerPoint</vt:lpstr>
      <vt:lpstr>Las etapas del Ciclo de vida de un proyecto (CVP) tecnológico son…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JBGV</dc:creator>
  <cp:lastModifiedBy>Juan Baldemar Garza Villegas</cp:lastModifiedBy>
  <cp:revision>361</cp:revision>
  <cp:lastPrinted>2020-10-05T21:27:12Z</cp:lastPrinted>
  <dcterms:created xsi:type="dcterms:W3CDTF">2020-01-22T17:21:41Z</dcterms:created>
  <dcterms:modified xsi:type="dcterms:W3CDTF">2025-11-08T16:53:46Z</dcterms:modified>
</cp:coreProperties>
</file>